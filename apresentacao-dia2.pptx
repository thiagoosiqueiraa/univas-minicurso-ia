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5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7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move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slide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74C3B5B-0198-4975-8846-42A0315A07A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Divisor do Dia 2. Abra com o recap do Dia 1 (próximo slide). Pergunta central: como damos contexto e capacidades a um agente e o colocamos para trabalhar? Percurso: rules, skills, tools e MCP, memória e subagentes, specs e a prática final.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Plano sugerido do Dia 2: 10 min revisão; 30 min rules/skills; 35 min tools/MCP/memória; 30 min intervalo; 35 min SDD; 45 min prática integrada; 10 min encerramento.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Retomada antes da prática: peça que os participantes expliquem o papel da LLM, do harness e do contexto no gerenciador financeiro. Destaque que as três peças atuam no mesmo ciclo, e que o resultado de uma ação pode alimentar o próximo passo.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Início do Encontro 2. Em vez de apresentar rules, skills e MCP como tecnologias soltas, apresente a pergunta: como damos contexto e capacidade a um agente? Cada mecanismo responde a uma parte: instruções persistentes, conhecimento e procedimentos, capacidades externas, contexto de trabalhos longos (memória e subagentes) e o trabalho a realizar (spec e plano).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Referência: https://agents.md/ e https://github.com/agentsmd/agents.md. O formato aberto complementa o README com instruções operacionais. Exemplo didático: confirme os scripts no package.json antes de copiar os comandos. Peça ao agente que explique quais instruções está aplicando; confira a execução e o diff.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Fonte: https://agents.md/, seções How to use e FAQ. Demonstre uma regra local para a API e outra comum na raiz. A precedência ilustrada trata de instruções do projeto; permissões e políticas do harness continuam aplicáveis. O carregamento depende do cliente e de sua configuração. AGENTS.md orienta a execução, mas testes e revisão comprovam a entrega.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Contraste com rules. Rules estão sempre presentes. Skills mantêm apenas nome e descrição curta no contexto; quando a tarefa combina com a descrição, o harness carrega as instruções completas. Isso economiza contexto, reduz a degradação e permite ter muitos procedimentos disponíveis.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skill pode incluir pastas opcionais além de SKILL.md. references guarda documentação; resources reúne materiais; templates contém modelos; scripts contém código executável. Os nomes resources e templates são opções de organização, não campos obrigatórios do formato. A especificação recomenda scripts, references e assets; assets pode reunir templates e outros recursos. SKILL.md aponta para arquivos relativos à pasta da skill, e os apoios são consultados conforme a necessidade. Fonte: https://agentskills.io/specification. O exemplo usa templates/spec.md para orientar a criação da spec.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modelo nunca executa nada. Ele vê a descrição das tools e, quando decide usar uma, devolve um pedido estruturado. O harness executa de verdade e devolve o resultado. A qualidade da descrição influencia quando o modelo escolhe a tool. Exemplo ilustrativo e simplificado.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Sem um padrão, cada agente precisa de uma integração com cada serviço: N vezes M. Com o Model Context Protocol, cada agente fala MCP e cada serviço expõe um servidor MCP: N mais M. Em termos práticos, um servidor MCP expõe tools que qualquer agente compatível pode usar.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Lista curta para começar. Skills oficiais da Anthropic (repositório anthropics/skills): documentos (docx, pptx, xlsx, pdf), frontend-design, webapp-testing, mcp-builder e skill-creator. MCPs: GitHub oficial (use o modo somente leitura e limite os toolsets), Playwright da Microsoft (controla o navegador pela árvore de acessibilidade, bom para validar UI no QA), Context7 (documentação atual por versão) e os servidores de referência Fetch e Memory. Skills da sua equipe, como as do fluxo PRD até Review, costumam valer mais do que as genéricas. Cuidado: cada MCP adiciona ferramentas e contexto; instale só o que usa e com o menor escopo possível. No Claude Code, servidores de projeto ficam no .mcp.json versionado no repositório.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contexto de uma sessão termina com ela. Para continuar depois, o agente grava notas, decisões e progresso em um arquivo e relê no início da próxima sessão. É a técnica de externalizar contexto aplicada ao trabalho de longa duração.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agente principal delega tarefas a subagentes, cada um com sua janela de contexto. Os detalhes (arquivos lidos, tentativas) ficam no subagente; o contexto principal recebe apenas o resultado. É uma forma de gerir contexto, não de ganhar mais inteligência, e protege o contexto principal da degradação.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Fluxo de desenvolvimento com agente: especificar, planejar, implementar, testar, revisar. O humano concentra esforço nas duas pontas, definir bem o trabalho e validar o resultado; o agente executa a parte central. Isso introduz o Spec Driven Development. Quanto melhor a especificação, menos retrabalho na implementação.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Abra o bloco de Spec Driven Development retomando o pedido vago “Crie um gerenciador financeiro pessoal”. Sem spec, o agente precisa escolher telas, tipos de lançamento, regras de saldo, persistência e testes. Com a spec, a turma revisa esse comportamento antes do código.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Definição: a spec é um artefato estruturado, orientado a comportamento, que serve de fonte de verdade para humano e agente. Cuidado para não confundir com rules: as rules (AGENTS.md, CLAUDE.md) valem sempre; a spec vale para uma feature. Böckeler observa que o termo ainda é difuso e que muita gente chama de spec um prompt detalhado.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Modelo de Rodrigo Branas (Formação em IA, pasta spec-driven-development). Seis etapas, cada uma é uma skill com um template: PRD, TechSpec, Tasks, execução de task, QA e review. As três primeiras são do humano com ajuda da IA; as três últimas a IA executa e você valida. A IA faz perguntas antes de redigir o PRD e a TechSpec e espera aprovação da lista de tasks.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Fluxo de seis etapas de Rodrigo Branas, usado como exemplo; SDD não exige esta sequência universal.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Mostre a ligação entre os documentos no gerenciador financeiro. PRD: critérios CA-01 e CA-02 para valor positivo e zero. TechSpec: testes TI-01 e TI-02 para a rota de lançamentos. Tasks: contrato da API, formulário/API e testes/saldo. Os trechos são adaptados do material do Branas.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Rastreabilidade: o critério de aceitação do PRD é o fio condutor. A TechSpec associa casos de teste a cada critério, as tasks referenciam esses casos, o código traz os testes e o QA só aprova quando todo critério foi verificado, com evidências salvas na pasta evidences. É isso que torna a revisão possível: você confere critérios, não só código.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Quando usar: o GitHub aponta projeto novo, feature em sistema existente (o caso mais poderoso) e modernização de legado. O spec-driven.md acrescenta cenários com requisitos que mudam. Quando evitar: Böckeler relata que o Kiro transformou um bug em 4 histórias e 16 critérios, que ela chamou de marreta para quebrar uma noz, e que o spec-kit foi exagero para uma feature de 3 a 5 pontos. Ajuste o tamanho do processo ao tamanho do problema.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Pergunta prática do processo: devo limpar a janela de contexto entre as tasks? Na medição do Branas com 5 tasks, rodar cada uma isolada somou 650k e 16M de cache; rodar todas em sequência somou 240k e 10M de cache. Vantagens de não limpar: reuso de cache e menos releitura. Desvantagens: contexto maior, compactação, mais tempo de inferência e mistura de skills. É uma medição de um caso, não uma regra geral; o ponto é decidir com dados.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Material de apoio: esta medição é um experimento específico do autor. Não gastar tempo de aula com números de tokens se a prática estiver apertada.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Limites, segundo Böckeler: specs verbosas e repetitivas são cansativas de revisar; agentes ignoram instruções e dão falsa sensação de controle; a mesma spec pode gerar códigos diferentes. Por isso a validação continua sendo por testes e critérios de aceite, o assunto do próximo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Agentes podem afirmar com segurança algo errado e podem passar nos testes errados. O fluxo saudável é: o agente produz uma mudança, você avalia a mudança, os testes e critérios de aceite rodam, e você aceita ou devolve com feedback. A spec e os critérios de aceite do slide anterior tornam essa revisão objetiva.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Fonte primária: Robert C. Martin, entrevista “Why I Stopped Reading Code and Building Harnesses”, Aviator, 2026, https://www.aviator.co/podcast/uncle-bob-martin-ai-clean-code . Ele declara: “But most of the time, 95% of the code I never see.” Diz que ainda examina alguns módulos, usa testes unitários, métrica CRAP e testes de mutação. Também executa o sistema e mantém a responsabilidade humana sobre a entrega.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Tabela de síntese do dia, depois de specs e revisão. Rules: sempre no contexto, para o que nunca muda. Skills: sob demanda, para procedimentos reutilizáveis. Tools e MCP: quando o modelo as chama, para agir fora do modelo. Spec e plano: durante a tarefa, para dizer o que construir agora. Memória: relida no início da sessão, para continuar entre sessões. Subagentes: só o resumo volta, para isolar tarefas em contextos próprios. Em seguida vem a prática final, que usa todos eles.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Início da prática principal. Entregue o pedido propositalmente vago “Crie um gerenciador financeiro pessoal”. Pergunte se o agente tem contexto suficiente. A turma deve levantar telas, tipos de lançamento, validações, cálculo do saldo, persistência, testes e convenções. Registre as perguntas: elas alimentam a spec.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Prática 1: escreva AGENTS.md na raiz usando comandos reais do projeto. Peça ao agente que identifique o guia aplicável. Depois conecte os MCPs escolhidos, confira ferramentas e instale a skill fornecida. Evidência: guia reconhecido, checks executáveis, conexão funcionando e skill disponível. Fonte para AGENTS.md: https://agents.md/.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Segundo slide de prática. Use o projeto configurado no slide anterior e a skill pronta fornecida pelo instrutor para conduzir o fluxo proposto. PRD: definir o comportamento e critérios para receitas, despesas e saldo mensal. Spec: decidir implementação e testes. Tasks: dividir o trabalho em etapas executáveis. Revise PRD, spec e tasks antes de pedir a execução. Em seguida, o agente implementa as tasks. QA: testar os critérios e registrar evidências. Review: ler o diff, avaliar a mudança e aceitar ou devolver feedback. A implementação acontece entre Tasks e QA. Os nomes de arquivo no slide são ilustrativos; siga os templates da skill fornecida.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Feche retomando a mensagem central: o contexto orienta o modelo, o harness permite ações com ferramentas e a pessoa continua responsável por definir o trabalho e validar a entrega. Agradeça à turma.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Conteu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3D81D3C-3DB2-4653-BB8C-103D9BDD93AF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Divis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39DE4E-BE38-4642-9D89-91D227856A74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Ab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Conteudo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70E5DC9-7A21-4214-BFE2-89F2092EF10D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06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4120" cy="19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78823B-B055-47BB-9439-2964A001ED1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/>
          <p:cNvSpPr/>
          <p:nvPr/>
        </p:nvSpPr>
        <p:spPr>
          <a:xfrm>
            <a:off x="548640" y="6400800"/>
            <a:ext cx="54806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4120" cy="19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DA9B70-C3A5-450E-B818-80934B5F962A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0"/>
          <p:cNvPicPr/>
          <p:nvPr/>
        </p:nvPicPr>
        <p:blipFill>
          <a:blip r:embed="rId2"/>
          <a:stretch/>
        </p:blipFill>
        <p:spPr>
          <a:xfrm>
            <a:off x="640080" y="5806440"/>
            <a:ext cx="2312280" cy="4514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0"/>
          <p:cNvSpPr/>
          <p:nvPr/>
        </p:nvSpPr>
        <p:spPr>
          <a:xfrm>
            <a:off x="548640" y="6400800"/>
            <a:ext cx="548064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Agent</a:t>
            </a:r>
            <a:r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es de </a:t>
            </a:r>
            <a:r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4120" cy="19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sldNum" idx="3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C01418-32F6-4451-A4E1-B119F54F45FD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https://github.com/thiagoosiqueiraa/univas-minicurso-ia" TargetMode="External"/><Relationship Id="rId3" Type="http://schemas.openxmlformats.org/officeDocument/2006/relationships/slideLayout" Target="../slideLayouts/slideLayout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 segundo encontro, vamos aprender a trabalhar com agentes na prática.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Text 1"/>
          <p:cNvSpPr/>
          <p:nvPr/>
        </p:nvSpPr>
        <p:spPr>
          <a:xfrm>
            <a:off x="548640" y="2103120"/>
            <a:ext cx="3834720" cy="127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Dia 2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2"/>
          <p:cNvSpPr/>
          <p:nvPr/>
        </p:nvSpPr>
        <p:spPr>
          <a:xfrm>
            <a:off x="548640" y="3429000"/>
            <a:ext cx="3834720" cy="45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18:45 às 22:00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5120640" y="1920240"/>
            <a:ext cx="6486480" cy="65268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1   </a:t>
            </a:r>
            <a:r>
              <a:rPr lang="pt-BR" sz="22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Rules e skills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4"/>
          <p:cNvSpPr/>
          <p:nvPr/>
        </p:nvSpPr>
        <p:spPr>
          <a:xfrm>
            <a:off x="5120640" y="2761560"/>
            <a:ext cx="6486480" cy="65268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2   </a:t>
            </a:r>
            <a:r>
              <a:rPr lang="pt-BR" sz="22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Tools e MCP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5"/>
          <p:cNvSpPr/>
          <p:nvPr/>
        </p:nvSpPr>
        <p:spPr>
          <a:xfrm>
            <a:off x="5120640" y="3602880"/>
            <a:ext cx="6486480" cy="65268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3   </a:t>
            </a:r>
            <a:r>
              <a:rPr lang="pt-BR" sz="22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Memória e subagentes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"/>
          <p:cNvSpPr/>
          <p:nvPr/>
        </p:nvSpPr>
        <p:spPr>
          <a:xfrm>
            <a:off x="5120640" y="4443840"/>
            <a:ext cx="6486480" cy="65268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4   </a:t>
            </a:r>
            <a:r>
              <a:rPr lang="pt-BR" sz="22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Specs e revisão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7"/>
          <p:cNvSpPr/>
          <p:nvPr/>
        </p:nvSpPr>
        <p:spPr>
          <a:xfrm>
            <a:off x="5120640" y="5285160"/>
            <a:ext cx="6486480" cy="65268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5   Prática final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ldNum" idx="7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Revisão: quem gera, quem executa e quem orienta?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Text 1"/>
          <p:cNvSpPr/>
          <p:nvPr/>
        </p:nvSpPr>
        <p:spPr>
          <a:xfrm>
            <a:off x="548640" y="2381400"/>
            <a:ext cx="3187800" cy="167148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5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"/>
          <p:cNvSpPr/>
          <p:nvPr/>
        </p:nvSpPr>
        <p:spPr>
          <a:xfrm>
            <a:off x="548640" y="4267080"/>
            <a:ext cx="3187800" cy="94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Como a saída é gerada token por token?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4480560" y="2381400"/>
            <a:ext cx="3187800" cy="167148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5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4480560" y="4267080"/>
            <a:ext cx="3187800" cy="94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Quem chama ferramentas e aplica permissões?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714240" y="5477040"/>
            <a:ext cx="10758240" cy="5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29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Aplique as três respostas ao gerenciador financeiro.</a:t>
            </a:r>
            <a:endParaRPr lang="en-US" sz="19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6"/>
          <p:cNvSpPr/>
          <p:nvPr/>
        </p:nvSpPr>
        <p:spPr>
          <a:xfrm>
            <a:off x="8412480" y="2381400"/>
            <a:ext cx="3187800" cy="167148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5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25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7"/>
          <p:cNvSpPr/>
          <p:nvPr/>
        </p:nvSpPr>
        <p:spPr>
          <a:xfrm>
            <a:off x="8412480" y="4267080"/>
            <a:ext cx="3187800" cy="94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O que precisa entrar na janela de contexto?</a:t>
            </a:r>
            <a:endParaRPr lang="en-US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8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mecanismo ajuda o agente de uma maneira diferente.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"/>
          <p:cNvSpPr/>
          <p:nvPr/>
        </p:nvSpPr>
        <p:spPr>
          <a:xfrm>
            <a:off x="548640" y="3209400"/>
            <a:ext cx="2005920" cy="145728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Agente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3383280" y="178308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Instruções do projeto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7589520" y="178308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 · AGENTS.md · CLAUDE.md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4"/>
          <p:cNvSpPr/>
          <p:nvPr/>
        </p:nvSpPr>
        <p:spPr>
          <a:xfrm flipV="1">
            <a:off x="2651760" y="2148480"/>
            <a:ext cx="640080" cy="17924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45" name="Text 5"/>
          <p:cNvSpPr/>
          <p:nvPr/>
        </p:nvSpPr>
        <p:spPr>
          <a:xfrm>
            <a:off x="3383280" y="267912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Conhecimento e procedimentos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6"/>
          <p:cNvSpPr/>
          <p:nvPr/>
        </p:nvSpPr>
        <p:spPr>
          <a:xfrm>
            <a:off x="7589520" y="267912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Skills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7"/>
          <p:cNvSpPr/>
          <p:nvPr/>
        </p:nvSpPr>
        <p:spPr>
          <a:xfrm flipV="1">
            <a:off x="2651760" y="3044880"/>
            <a:ext cx="640080" cy="8960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48" name="Text 8"/>
          <p:cNvSpPr/>
          <p:nvPr/>
        </p:nvSpPr>
        <p:spPr>
          <a:xfrm>
            <a:off x="3383280" y="357516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Capacidades externas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9"/>
          <p:cNvSpPr/>
          <p:nvPr/>
        </p:nvSpPr>
        <p:spPr>
          <a:xfrm>
            <a:off x="7589520" y="357516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Tools · MCP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2651760" y="3940920"/>
            <a:ext cx="640080" cy="36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3383280" y="447156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de trabalhos longos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7589520" y="447156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Memória · Subagentes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3"/>
          <p:cNvSpPr/>
          <p:nvPr/>
        </p:nvSpPr>
        <p:spPr>
          <a:xfrm>
            <a:off x="2651760" y="3940920"/>
            <a:ext cx="640080" cy="8960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14"/>
          <p:cNvSpPr/>
          <p:nvPr/>
        </p:nvSpPr>
        <p:spPr>
          <a:xfrm>
            <a:off x="3383280" y="536760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a realizar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7589520" y="5367600"/>
            <a:ext cx="4017600" cy="72576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 · Plano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6"/>
          <p:cNvSpPr/>
          <p:nvPr/>
        </p:nvSpPr>
        <p:spPr>
          <a:xfrm>
            <a:off x="2651760" y="3940920"/>
            <a:ext cx="640080" cy="179208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ldNum" idx="9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AGENTS 2"/>
          <p:cNvSpPr/>
          <p:nvPr/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32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AGENTS.md reúne instruções do projeto para agentes de código.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AGENTS 10"/>
          <p:cNvSpPr/>
          <p:nvPr/>
        </p:nvSpPr>
        <p:spPr>
          <a:xfrm>
            <a:off x="548640" y="1554480"/>
            <a:ext cx="110610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README: apresenta o projeto às pessoas. AGENTS.md: orienta o trabalho do agente.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AGENTS 11"/>
          <p:cNvSpPr/>
          <p:nvPr/>
        </p:nvSpPr>
        <p:spPr>
          <a:xfrm>
            <a:off x="548640" y="2194560"/>
            <a:ext cx="6763320" cy="420552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 AGENTS.md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Projeto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React + TypeScript; API de finanças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Comandos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Dev: npm run dev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Build: npm run build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Testes: npm 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Lint: npm run lint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Convenções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TypeScript estrito; testar mudanças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Limites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Não editar /generated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AGENTS 14"/>
          <p:cNvSpPr/>
          <p:nvPr/>
        </p:nvSpPr>
        <p:spPr>
          <a:xfrm>
            <a:off x="7863840" y="3429000"/>
            <a:ext cx="37458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3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Instruções concretas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AGENTS 15"/>
          <p:cNvSpPr/>
          <p:nvPr/>
        </p:nvSpPr>
        <p:spPr>
          <a:xfrm>
            <a:off x="7863840" y="3886200"/>
            <a:ext cx="374580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Comandos, estilo e limites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que valem no projeto.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AGENTS 16"/>
          <p:cNvSpPr/>
          <p:nvPr/>
        </p:nvSpPr>
        <p:spPr>
          <a:xfrm>
            <a:off x="7863840" y="4937760"/>
            <a:ext cx="37458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3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Documento vivo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AGENTS 17"/>
          <p:cNvSpPr/>
          <p:nvPr/>
        </p:nvSpPr>
        <p:spPr>
          <a:xfrm>
            <a:off x="7863840" y="5394960"/>
            <a:ext cx="374580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Atualize junto com o código.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AGENTS 99"/>
          <p:cNvSpPr/>
          <p:nvPr/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2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AGENTS 2"/>
          <p:cNvSpPr/>
          <p:nvPr/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32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Instruções por subpasta detalham as regras da raiz.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AGENTS 10"/>
          <p:cNvSpPr/>
          <p:nvPr/>
        </p:nvSpPr>
        <p:spPr>
          <a:xfrm>
            <a:off x="548640" y="1828800"/>
            <a:ext cx="5391720" cy="33800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projeto/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├── AGENTS.md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├── api/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│   ├── AGENTS.md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│   └── lancamentos.ts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└── web/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    └── App.tsx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AGENTS 11"/>
          <p:cNvSpPr/>
          <p:nvPr/>
        </p:nvSpPr>
        <p:spPr>
          <a:xfrm>
            <a:off x="6446520" y="1828800"/>
            <a:ext cx="51174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5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Raiz → projeto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AGENTS 12"/>
          <p:cNvSpPr/>
          <p:nvPr/>
        </p:nvSpPr>
        <p:spPr>
          <a:xfrm>
            <a:off x="6446520" y="2331720"/>
            <a:ext cx="5117400" cy="59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Define comandos e convenções comuns.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AGENTS 13"/>
          <p:cNvSpPr/>
          <p:nvPr/>
        </p:nvSpPr>
        <p:spPr>
          <a:xfrm>
            <a:off x="6446520" y="3200400"/>
            <a:ext cx="51174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5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api/ → regras locais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AGENTS 14"/>
          <p:cNvSpPr/>
          <p:nvPr/>
        </p:nvSpPr>
        <p:spPr>
          <a:xfrm>
            <a:off x="6446520" y="3703320"/>
            <a:ext cx="5117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Em conflitos, prevalece o AGENTS.md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mais próximo do arquivo editado.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AGENTS 15"/>
          <p:cNvSpPr/>
          <p:nvPr/>
        </p:nvSpPr>
        <p:spPr>
          <a:xfrm>
            <a:off x="6446520" y="4800600"/>
            <a:ext cx="51174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3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Pedido explícito → orientação da tarefa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AGENTS 16"/>
          <p:cNvSpPr/>
          <p:nvPr/>
        </p:nvSpPr>
        <p:spPr>
          <a:xfrm>
            <a:off x="6446520" y="5303520"/>
            <a:ext cx="5117400" cy="77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 agente dá prioridade ao pedido do usuário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sobre as instruções do arquivo.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AGENTS 17"/>
          <p:cNvSpPr/>
          <p:nvPr/>
        </p:nvSpPr>
        <p:spPr>
          <a:xfrm>
            <a:off x="548640" y="6217920"/>
            <a:ext cx="107866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Fonte: https://agents.md/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AGENTS 99"/>
          <p:cNvSpPr/>
          <p:nvPr/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2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Skills carregam procedimentos sob demanda: só a descrição fica sempre no contexto.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 1"/>
          <p:cNvSpPr/>
          <p:nvPr/>
        </p:nvSpPr>
        <p:spPr>
          <a:xfrm>
            <a:off x="548640" y="1965960"/>
            <a:ext cx="47491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Sempre no contexto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"/>
          <p:cNvSpPr/>
          <p:nvPr/>
        </p:nvSpPr>
        <p:spPr>
          <a:xfrm>
            <a:off x="548640" y="2468880"/>
            <a:ext cx="4749120" cy="86292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revisar-pr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checa testes, estilo e riscos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3"/>
          <p:cNvSpPr/>
          <p:nvPr/>
        </p:nvSpPr>
        <p:spPr>
          <a:xfrm>
            <a:off x="548640" y="3520440"/>
            <a:ext cx="4749120" cy="86292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gerar-migracao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cria migrações de banco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4"/>
          <p:cNvSpPr/>
          <p:nvPr/>
        </p:nvSpPr>
        <p:spPr>
          <a:xfrm>
            <a:off x="548640" y="4572000"/>
            <a:ext cx="4749120" cy="86292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escrever-spec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estrutura uma especificação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5"/>
          <p:cNvSpPr/>
          <p:nvPr/>
        </p:nvSpPr>
        <p:spPr>
          <a:xfrm>
            <a:off x="5394960" y="2903040"/>
            <a:ext cx="1280160" cy="36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6"/>
          <p:cNvSpPr/>
          <p:nvPr/>
        </p:nvSpPr>
        <p:spPr>
          <a:xfrm>
            <a:off x="5303520" y="2971800"/>
            <a:ext cx="1457280" cy="54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a tarefa combina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7"/>
          <p:cNvSpPr/>
          <p:nvPr/>
        </p:nvSpPr>
        <p:spPr>
          <a:xfrm>
            <a:off x="6766560" y="1965960"/>
            <a:ext cx="484056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Carregado só quando acionada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8"/>
          <p:cNvSpPr/>
          <p:nvPr/>
        </p:nvSpPr>
        <p:spPr>
          <a:xfrm>
            <a:off x="6766560" y="2468880"/>
            <a:ext cx="4840560" cy="2966040"/>
          </a:xfrm>
          <a:prstGeom prst="roundRect">
            <a:avLst>
              <a:gd name="adj" fmla="val 2462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900" b="1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revisar-pr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1. Leia o diff completo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2. Rode os testes afetados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3. Liste riscos por severidade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ldNum" idx="10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AGENTS 2"/>
          <p:cNvSpPr/>
          <p:nvPr/>
        </p:nvSpPr>
        <p:spPr>
          <a:xfrm>
            <a:off x="548640" y="384120"/>
            <a:ext cx="11061360" cy="109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32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Uma skill combina SKILL.md com arquivos de apoio opcionais.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AGENTS 10"/>
          <p:cNvSpPr/>
          <p:nvPr/>
        </p:nvSpPr>
        <p:spPr>
          <a:xfrm>
            <a:off x="548640" y="1783080"/>
            <a:ext cx="639792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2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SKILL.md · instruções da skill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AGENTS 11"/>
          <p:cNvSpPr/>
          <p:nvPr/>
        </p:nvSpPr>
        <p:spPr>
          <a:xfrm>
            <a:off x="548640" y="2286000"/>
            <a:ext cx="6397920" cy="31071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---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name: escrever-spec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description: Use para especificar uma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  feature com critérios de aceite.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---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1. Pergunte regras e casos-limite.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2. Liste critérios verificáveis.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3. Salve em specs/financas.md.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4. Use templates/spec.md como modelo.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AGENTS 12"/>
          <p:cNvSpPr/>
          <p:nvPr/>
        </p:nvSpPr>
        <p:spPr>
          <a:xfrm>
            <a:off x="548640" y="5394960"/>
            <a:ext cx="63979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Cabeçalho: quando usar. Corpo: como fazer.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AGENTS 13"/>
          <p:cNvSpPr/>
          <p:nvPr/>
        </p:nvSpPr>
        <p:spPr>
          <a:xfrm>
            <a:off x="7315200" y="1783080"/>
            <a:ext cx="4294800" cy="3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2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Pastas de apoio · opcionais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AGENTS 14"/>
          <p:cNvSpPr/>
          <p:nvPr/>
        </p:nvSpPr>
        <p:spPr>
          <a:xfrm>
            <a:off x="7315200" y="2286000"/>
            <a:ext cx="4294800" cy="237600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escrever-spec/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├── SKILL.md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├── references/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├── resources/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├── templates/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2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└── scripts/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AGENTS 15"/>
          <p:cNvSpPr/>
          <p:nvPr/>
        </p:nvSpPr>
        <p:spPr>
          <a:xfrm>
            <a:off x="7315200" y="4663800"/>
            <a:ext cx="4294800" cy="127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references/ → documentação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resources/ → arquivos e materiais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templates/ → modelos reutilizáveis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19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scripts/ → código executável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AGENTS 16"/>
          <p:cNvSpPr/>
          <p:nvPr/>
        </p:nvSpPr>
        <p:spPr>
          <a:xfrm>
            <a:off x="548640" y="5943600"/>
            <a:ext cx="11061360" cy="34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AGENTS 17"/>
          <p:cNvSpPr/>
          <p:nvPr/>
        </p:nvSpPr>
        <p:spPr>
          <a:xfrm>
            <a:off x="548640" y="6231960"/>
            <a:ext cx="105127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Fonte: agentskills.io/specification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AGENTS 99"/>
          <p:cNvSpPr/>
          <p:nvPr/>
        </p:nvSpPr>
        <p:spPr>
          <a:xfrm>
            <a:off x="11155680" y="6400800"/>
            <a:ext cx="454320" cy="2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2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Uma tool é uma função descrita para o modelo, que o harness executa quando o modelo pede.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" name="Text 1"/>
          <p:cNvSpPr/>
          <p:nvPr/>
        </p:nvSpPr>
        <p:spPr>
          <a:xfrm>
            <a:off x="548640" y="1691640"/>
            <a:ext cx="56635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o modelo vê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548640" y="2194560"/>
            <a:ext cx="5846400" cy="383472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"name": "read_file",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"description":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  "Lê o conteúdo de um arquivo",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"parameters": {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  "path": "string"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"/>
          <p:cNvSpPr/>
          <p:nvPr/>
        </p:nvSpPr>
        <p:spPr>
          <a:xfrm>
            <a:off x="6949440" y="1691640"/>
            <a:ext cx="465768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acontece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"/>
          <p:cNvSpPr/>
          <p:nvPr/>
        </p:nvSpPr>
        <p:spPr>
          <a:xfrm>
            <a:off x="6949440" y="2194560"/>
            <a:ext cx="4657680" cy="90864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Modelo pede: read_file(“src/app.ts”)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5"/>
          <p:cNvSpPr/>
          <p:nvPr/>
        </p:nvSpPr>
        <p:spPr>
          <a:xfrm>
            <a:off x="9281160" y="3154680"/>
            <a:ext cx="360" cy="3657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6949440" y="3566160"/>
            <a:ext cx="4657680" cy="90864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 executa a leitura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7"/>
          <p:cNvSpPr/>
          <p:nvPr/>
        </p:nvSpPr>
        <p:spPr>
          <a:xfrm>
            <a:off x="9281160" y="4526280"/>
            <a:ext cx="360" cy="3657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8"/>
          <p:cNvSpPr/>
          <p:nvPr/>
        </p:nvSpPr>
        <p:spPr>
          <a:xfrm>
            <a:off x="6949440" y="4937760"/>
            <a:ext cx="4657680" cy="90864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Conteúdo volta ao contexto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11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 o MCP, um serviço integrado uma vez funciona com qualquer agente compatível.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 1"/>
          <p:cNvSpPr/>
          <p:nvPr/>
        </p:nvSpPr>
        <p:spPr>
          <a:xfrm>
            <a:off x="548640" y="1691640"/>
            <a:ext cx="511488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Sem MCP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"/>
          <p:cNvSpPr/>
          <p:nvPr/>
        </p:nvSpPr>
        <p:spPr>
          <a:xfrm>
            <a:off x="548640" y="2377440"/>
            <a:ext cx="1731600" cy="68004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Claude Code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3"/>
          <p:cNvSpPr/>
          <p:nvPr/>
        </p:nvSpPr>
        <p:spPr>
          <a:xfrm>
            <a:off x="548640" y="3429000"/>
            <a:ext cx="1731600" cy="68004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Codex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"/>
          <p:cNvSpPr/>
          <p:nvPr/>
        </p:nvSpPr>
        <p:spPr>
          <a:xfrm>
            <a:off x="548640" y="4480560"/>
            <a:ext cx="1731600" cy="68004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IDE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5"/>
          <p:cNvSpPr/>
          <p:nvPr/>
        </p:nvSpPr>
        <p:spPr>
          <a:xfrm>
            <a:off x="3931920" y="2377440"/>
            <a:ext cx="1777320" cy="6800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6"/>
          <p:cNvSpPr/>
          <p:nvPr/>
        </p:nvSpPr>
        <p:spPr>
          <a:xfrm>
            <a:off x="3931920" y="3429000"/>
            <a:ext cx="1777320" cy="6800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Banco de dados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7"/>
          <p:cNvSpPr/>
          <p:nvPr/>
        </p:nvSpPr>
        <p:spPr>
          <a:xfrm>
            <a:off x="3931920" y="4480560"/>
            <a:ext cx="1777320" cy="6800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Documentação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8"/>
          <p:cNvSpPr/>
          <p:nvPr/>
        </p:nvSpPr>
        <p:spPr>
          <a:xfrm>
            <a:off x="2331720" y="272016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15" name="Shape 9"/>
          <p:cNvSpPr/>
          <p:nvPr/>
        </p:nvSpPr>
        <p:spPr>
          <a:xfrm>
            <a:off x="2331720" y="272016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16" name="Shape 10"/>
          <p:cNvSpPr/>
          <p:nvPr/>
        </p:nvSpPr>
        <p:spPr>
          <a:xfrm>
            <a:off x="2331720" y="2720160"/>
            <a:ext cx="1554480" cy="210312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17" name="Shape 11"/>
          <p:cNvSpPr/>
          <p:nvPr/>
        </p:nvSpPr>
        <p:spPr>
          <a:xfrm flipV="1">
            <a:off x="2331720" y="272016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18" name="Shape 12"/>
          <p:cNvSpPr/>
          <p:nvPr/>
        </p:nvSpPr>
        <p:spPr>
          <a:xfrm>
            <a:off x="2331720" y="377172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19" name="Shape 13"/>
          <p:cNvSpPr/>
          <p:nvPr/>
        </p:nvSpPr>
        <p:spPr>
          <a:xfrm>
            <a:off x="2331720" y="377172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20" name="Shape 14"/>
          <p:cNvSpPr/>
          <p:nvPr/>
        </p:nvSpPr>
        <p:spPr>
          <a:xfrm flipV="1">
            <a:off x="2331720" y="2720160"/>
            <a:ext cx="1554480" cy="210312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21" name="Shape 15"/>
          <p:cNvSpPr/>
          <p:nvPr/>
        </p:nvSpPr>
        <p:spPr>
          <a:xfrm flipV="1">
            <a:off x="2331720" y="377172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22" name="Shape 16"/>
          <p:cNvSpPr/>
          <p:nvPr/>
        </p:nvSpPr>
        <p:spPr>
          <a:xfrm>
            <a:off x="2331720" y="482328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 18"/>
          <p:cNvSpPr/>
          <p:nvPr/>
        </p:nvSpPr>
        <p:spPr>
          <a:xfrm>
            <a:off x="6400800" y="1691640"/>
            <a:ext cx="520632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 MCP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9"/>
          <p:cNvSpPr/>
          <p:nvPr/>
        </p:nvSpPr>
        <p:spPr>
          <a:xfrm>
            <a:off x="6400800" y="2377440"/>
            <a:ext cx="1731600" cy="68004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Claude Code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0"/>
          <p:cNvSpPr/>
          <p:nvPr/>
        </p:nvSpPr>
        <p:spPr>
          <a:xfrm>
            <a:off x="6400800" y="3429000"/>
            <a:ext cx="1731600" cy="68004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Codex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1"/>
          <p:cNvSpPr/>
          <p:nvPr/>
        </p:nvSpPr>
        <p:spPr>
          <a:xfrm>
            <a:off x="6400800" y="4480560"/>
            <a:ext cx="1731600" cy="68004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IDE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2"/>
          <p:cNvSpPr/>
          <p:nvPr/>
        </p:nvSpPr>
        <p:spPr>
          <a:xfrm>
            <a:off x="8549640" y="2377440"/>
            <a:ext cx="862920" cy="278316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MCP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3"/>
          <p:cNvSpPr/>
          <p:nvPr/>
        </p:nvSpPr>
        <p:spPr>
          <a:xfrm>
            <a:off x="9829800" y="2377440"/>
            <a:ext cx="1777320" cy="6800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4"/>
          <p:cNvSpPr/>
          <p:nvPr/>
        </p:nvSpPr>
        <p:spPr>
          <a:xfrm>
            <a:off x="9829800" y="3429000"/>
            <a:ext cx="1777320" cy="6800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Banco de dados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5"/>
          <p:cNvSpPr/>
          <p:nvPr/>
        </p:nvSpPr>
        <p:spPr>
          <a:xfrm>
            <a:off x="9829800" y="4480560"/>
            <a:ext cx="1777320" cy="6800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Documentação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6"/>
          <p:cNvSpPr/>
          <p:nvPr/>
        </p:nvSpPr>
        <p:spPr>
          <a:xfrm>
            <a:off x="8183880" y="272016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32" name="Shape 27"/>
          <p:cNvSpPr/>
          <p:nvPr/>
        </p:nvSpPr>
        <p:spPr>
          <a:xfrm>
            <a:off x="9464040" y="272016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33" name="Shape 28"/>
          <p:cNvSpPr/>
          <p:nvPr/>
        </p:nvSpPr>
        <p:spPr>
          <a:xfrm>
            <a:off x="8183880" y="377172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29"/>
          <p:cNvSpPr/>
          <p:nvPr/>
        </p:nvSpPr>
        <p:spPr>
          <a:xfrm>
            <a:off x="9464040" y="377172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30"/>
          <p:cNvSpPr/>
          <p:nvPr/>
        </p:nvSpPr>
        <p:spPr>
          <a:xfrm>
            <a:off x="8183880" y="482328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36" name="Shape 31"/>
          <p:cNvSpPr/>
          <p:nvPr/>
        </p:nvSpPr>
        <p:spPr>
          <a:xfrm>
            <a:off x="9464040" y="482328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Num" idx="12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Escolha skills e MCPs pela necessidade concreta da tarefa.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Selo 601"/>
          <p:cNvSpPr/>
          <p:nvPr/>
        </p:nvSpPr>
        <p:spPr>
          <a:xfrm>
            <a:off x="548640" y="1783080"/>
            <a:ext cx="2188800" cy="40572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Skills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Item 602"/>
          <p:cNvSpPr/>
          <p:nvPr/>
        </p:nvSpPr>
        <p:spPr>
          <a:xfrm>
            <a:off x="548640" y="240480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docx · pptx · xlsx · pdf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Criação de arquivos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Item 603"/>
          <p:cNvSpPr/>
          <p:nvPr/>
        </p:nvSpPr>
        <p:spPr>
          <a:xfrm>
            <a:off x="548640" y="336492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frontend-design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Construção de interfaces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Item 604"/>
          <p:cNvSpPr/>
          <p:nvPr/>
        </p:nvSpPr>
        <p:spPr>
          <a:xfrm>
            <a:off x="548640" y="432504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webapp-testing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 no navegador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elo 607"/>
          <p:cNvSpPr/>
          <p:nvPr/>
        </p:nvSpPr>
        <p:spPr>
          <a:xfrm>
            <a:off x="6221880" y="1783080"/>
            <a:ext cx="2188800" cy="40572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MCPs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Item 608"/>
          <p:cNvSpPr/>
          <p:nvPr/>
        </p:nvSpPr>
        <p:spPr>
          <a:xfrm>
            <a:off x="6221880" y="240480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Issues e PRs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Item 609"/>
          <p:cNvSpPr/>
          <p:nvPr/>
        </p:nvSpPr>
        <p:spPr>
          <a:xfrm>
            <a:off x="6221880" y="336492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Playwright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Validação da interface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Item 610"/>
          <p:cNvSpPr/>
          <p:nvPr/>
        </p:nvSpPr>
        <p:spPr>
          <a:xfrm>
            <a:off x="6221880" y="432504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Context7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Docs da biblioteca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Fonte 613"/>
          <p:cNvSpPr/>
          <p:nvPr/>
        </p:nvSpPr>
        <p:spPr>
          <a:xfrm>
            <a:off x="548640" y="5600160"/>
            <a:ext cx="1105956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Escolha a integração a partir da tarefa concreta.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ldNum" idx="13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Memória externa permite que o agente continue o trabalho em outra sessão.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548640" y="2926080"/>
            <a:ext cx="2920320" cy="136584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Sessão 1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"/>
          <p:cNvSpPr/>
          <p:nvPr/>
        </p:nvSpPr>
        <p:spPr>
          <a:xfrm>
            <a:off x="4617720" y="2926080"/>
            <a:ext cx="2920320" cy="136584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Arquivo de memória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notas, decisões, progresso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3"/>
          <p:cNvSpPr/>
          <p:nvPr/>
        </p:nvSpPr>
        <p:spPr>
          <a:xfrm>
            <a:off x="8686800" y="2926080"/>
            <a:ext cx="2920320" cy="136584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Sessão 2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"/>
          <p:cNvSpPr/>
          <p:nvPr/>
        </p:nvSpPr>
        <p:spPr>
          <a:xfrm>
            <a:off x="3566160" y="3611880"/>
            <a:ext cx="9601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54" name="Shape 5"/>
          <p:cNvSpPr/>
          <p:nvPr/>
        </p:nvSpPr>
        <p:spPr>
          <a:xfrm flipH="1">
            <a:off x="7635240" y="3611880"/>
            <a:ext cx="9601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55" name="Text 6"/>
          <p:cNvSpPr/>
          <p:nvPr/>
        </p:nvSpPr>
        <p:spPr>
          <a:xfrm>
            <a:off x="3474720" y="3200400"/>
            <a:ext cx="11372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grava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7"/>
          <p:cNvSpPr/>
          <p:nvPr/>
        </p:nvSpPr>
        <p:spPr>
          <a:xfrm>
            <a:off x="7543800" y="3200400"/>
            <a:ext cx="11372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relê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8"/>
          <p:cNvSpPr/>
          <p:nvPr/>
        </p:nvSpPr>
        <p:spPr>
          <a:xfrm>
            <a:off x="548640" y="4480560"/>
            <a:ext cx="29203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contexto se perde ao fim da sessão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9"/>
          <p:cNvSpPr/>
          <p:nvPr/>
        </p:nvSpPr>
        <p:spPr>
          <a:xfrm>
            <a:off x="8686800" y="4480560"/>
            <a:ext cx="29203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começa com o contexto vazio e lê a memória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sldNum" idx="14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Subagentes isolam uma tarefa em um contexto próprio e devolvem só o resumo.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548640" y="1828800"/>
            <a:ext cx="2371680" cy="420048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Agente principal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5120640" y="1828800"/>
            <a:ext cx="3103200" cy="1274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Pesquisar no código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"/>
          <p:cNvSpPr/>
          <p:nvPr/>
        </p:nvSpPr>
        <p:spPr>
          <a:xfrm>
            <a:off x="3017520" y="219456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3017520" y="1856160"/>
            <a:ext cx="2005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5"/>
          <p:cNvSpPr/>
          <p:nvPr/>
        </p:nvSpPr>
        <p:spPr>
          <a:xfrm flipH="1">
            <a:off x="3017520" y="274320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6"/>
          <p:cNvSpPr/>
          <p:nvPr/>
        </p:nvSpPr>
        <p:spPr>
          <a:xfrm>
            <a:off x="3017520" y="2788920"/>
            <a:ext cx="20059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7"/>
          <p:cNvSpPr/>
          <p:nvPr/>
        </p:nvSpPr>
        <p:spPr>
          <a:xfrm>
            <a:off x="5120640" y="3291840"/>
            <a:ext cx="3103200" cy="1274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Escrever testes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8"/>
          <p:cNvSpPr/>
          <p:nvPr/>
        </p:nvSpPr>
        <p:spPr>
          <a:xfrm>
            <a:off x="3017520" y="365760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9"/>
          <p:cNvSpPr/>
          <p:nvPr/>
        </p:nvSpPr>
        <p:spPr>
          <a:xfrm>
            <a:off x="3017520" y="3319200"/>
            <a:ext cx="2005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10"/>
          <p:cNvSpPr/>
          <p:nvPr/>
        </p:nvSpPr>
        <p:spPr>
          <a:xfrm flipH="1">
            <a:off x="3017520" y="420624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71" name="Text 11"/>
          <p:cNvSpPr/>
          <p:nvPr/>
        </p:nvSpPr>
        <p:spPr>
          <a:xfrm>
            <a:off x="3017520" y="4251960"/>
            <a:ext cx="20059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2"/>
          <p:cNvSpPr/>
          <p:nvPr/>
        </p:nvSpPr>
        <p:spPr>
          <a:xfrm>
            <a:off x="5120640" y="4754880"/>
            <a:ext cx="3103200" cy="12744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Revisar segurança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13"/>
          <p:cNvSpPr/>
          <p:nvPr/>
        </p:nvSpPr>
        <p:spPr>
          <a:xfrm>
            <a:off x="3017520" y="512064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 14"/>
          <p:cNvSpPr/>
          <p:nvPr/>
        </p:nvSpPr>
        <p:spPr>
          <a:xfrm>
            <a:off x="3017520" y="4782240"/>
            <a:ext cx="2005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5"/>
          <p:cNvSpPr/>
          <p:nvPr/>
        </p:nvSpPr>
        <p:spPr>
          <a:xfrm flipH="1">
            <a:off x="3017520" y="566928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 16"/>
          <p:cNvSpPr/>
          <p:nvPr/>
        </p:nvSpPr>
        <p:spPr>
          <a:xfrm>
            <a:off x="3017520" y="5715000"/>
            <a:ext cx="2005920" cy="26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7"/>
          <p:cNvSpPr/>
          <p:nvPr/>
        </p:nvSpPr>
        <p:spPr>
          <a:xfrm>
            <a:off x="8778240" y="2926080"/>
            <a:ext cx="2828880" cy="20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É uma forma de gerir contexto, não de ganhar mais inteligência.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sldNum" idx="15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 agentes, o esforço humano se desloca da digitação do código para a especificação e a validação.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548640" y="2926080"/>
            <a:ext cx="2005920" cy="118296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Especificar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2"/>
          <p:cNvSpPr/>
          <p:nvPr/>
        </p:nvSpPr>
        <p:spPr>
          <a:xfrm>
            <a:off x="25966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 3"/>
          <p:cNvSpPr/>
          <p:nvPr/>
        </p:nvSpPr>
        <p:spPr>
          <a:xfrm>
            <a:off x="2811960" y="2926080"/>
            <a:ext cx="2005920" cy="118296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Planejar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4"/>
          <p:cNvSpPr/>
          <p:nvPr/>
        </p:nvSpPr>
        <p:spPr>
          <a:xfrm>
            <a:off x="486000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 5"/>
          <p:cNvSpPr/>
          <p:nvPr/>
        </p:nvSpPr>
        <p:spPr>
          <a:xfrm>
            <a:off x="5074920" y="2926080"/>
            <a:ext cx="2005920" cy="118296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Implementar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6"/>
          <p:cNvSpPr/>
          <p:nvPr/>
        </p:nvSpPr>
        <p:spPr>
          <a:xfrm>
            <a:off x="712296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 7"/>
          <p:cNvSpPr/>
          <p:nvPr/>
        </p:nvSpPr>
        <p:spPr>
          <a:xfrm>
            <a:off x="7338240" y="2926080"/>
            <a:ext cx="2005920" cy="118296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Testar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8"/>
          <p:cNvSpPr/>
          <p:nvPr/>
        </p:nvSpPr>
        <p:spPr>
          <a:xfrm>
            <a:off x="93862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9601200" y="2926080"/>
            <a:ext cx="2005920" cy="118296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Revisar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10"/>
          <p:cNvSpPr/>
          <p:nvPr/>
        </p:nvSpPr>
        <p:spPr>
          <a:xfrm>
            <a:off x="548640" y="4389120"/>
            <a:ext cx="427464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 11"/>
          <p:cNvSpPr/>
          <p:nvPr/>
        </p:nvSpPr>
        <p:spPr>
          <a:xfrm>
            <a:off x="548640" y="4498920"/>
            <a:ext cx="4269240" cy="63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humano define o trabalho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2"/>
          <p:cNvSpPr/>
          <p:nvPr/>
        </p:nvSpPr>
        <p:spPr>
          <a:xfrm>
            <a:off x="5074920" y="4389120"/>
            <a:ext cx="4274640" cy="360"/>
          </a:xfrm>
          <a:prstGeom prst="line">
            <a:avLst/>
          </a:prstGeom>
          <a:ln w="2540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 13"/>
          <p:cNvSpPr/>
          <p:nvPr/>
        </p:nvSpPr>
        <p:spPr>
          <a:xfrm>
            <a:off x="5074920" y="4498920"/>
            <a:ext cx="4269240" cy="63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O agente executa e verifica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14"/>
          <p:cNvSpPr/>
          <p:nvPr/>
        </p:nvSpPr>
        <p:spPr>
          <a:xfrm>
            <a:off x="9601200" y="4389120"/>
            <a:ext cx="201168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 15"/>
          <p:cNvSpPr/>
          <p:nvPr/>
        </p:nvSpPr>
        <p:spPr>
          <a:xfrm>
            <a:off x="9601200" y="4498920"/>
            <a:ext cx="2005920" cy="63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humano valida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ldNum" idx="16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Sem critérios claros, pedir código direto aumenta o risco de uma entrega inadequada.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Rotulo 601"/>
          <p:cNvSpPr/>
          <p:nvPr/>
        </p:nvSpPr>
        <p:spPr>
          <a:xfrm>
            <a:off x="548640" y="1783080"/>
            <a:ext cx="5295240" cy="37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Sem critérios: decisões implícitas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Caixa 602"/>
          <p:cNvSpPr/>
          <p:nvPr/>
        </p:nvSpPr>
        <p:spPr>
          <a:xfrm>
            <a:off x="548640" y="2300040"/>
            <a:ext cx="5295240" cy="75528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eta 603"/>
          <p:cNvSpPr/>
          <p:nvPr/>
        </p:nvSpPr>
        <p:spPr>
          <a:xfrm>
            <a:off x="3198600" y="308988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00" name="Caixa 604"/>
          <p:cNvSpPr/>
          <p:nvPr/>
        </p:nvSpPr>
        <p:spPr>
          <a:xfrm>
            <a:off x="548640" y="3430080"/>
            <a:ext cx="5295240" cy="895320"/>
          </a:xfrm>
          <a:prstGeom prst="roundRect">
            <a:avLst>
              <a:gd name="adj" fmla="val 3478"/>
            </a:avLst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Interface, regras, dados e testes ficam em aberto.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eta 605"/>
          <p:cNvSpPr/>
          <p:nvPr/>
        </p:nvSpPr>
        <p:spPr>
          <a:xfrm>
            <a:off x="3198600" y="435996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02" name="Caixa 606"/>
          <p:cNvSpPr/>
          <p:nvPr/>
        </p:nvSpPr>
        <p:spPr>
          <a:xfrm>
            <a:off x="548640" y="4700160"/>
            <a:ext cx="5295240" cy="89532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 solução pode parecer certa e não atender à necessidade.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Rotulo 607"/>
          <p:cNvSpPr/>
          <p:nvPr/>
        </p:nvSpPr>
        <p:spPr>
          <a:xfrm>
            <a:off x="6312960" y="1783080"/>
            <a:ext cx="5295240" cy="37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 critérios: comportamento revisado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Caixa 608"/>
          <p:cNvSpPr/>
          <p:nvPr/>
        </p:nvSpPr>
        <p:spPr>
          <a:xfrm>
            <a:off x="6312960" y="2300040"/>
            <a:ext cx="5295240" cy="75528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eta 609"/>
          <p:cNvSpPr/>
          <p:nvPr/>
        </p:nvSpPr>
        <p:spPr>
          <a:xfrm>
            <a:off x="8962560" y="308988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06" name="Caixa 610"/>
          <p:cNvSpPr/>
          <p:nvPr/>
        </p:nvSpPr>
        <p:spPr>
          <a:xfrm>
            <a:off x="6312960" y="3430080"/>
            <a:ext cx="5295240" cy="8953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define o comportamento antes da implementação.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eta 611"/>
          <p:cNvSpPr/>
          <p:nvPr/>
        </p:nvSpPr>
        <p:spPr>
          <a:xfrm>
            <a:off x="8962560" y="435996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08" name="Caixa 612"/>
          <p:cNvSpPr/>
          <p:nvPr/>
        </p:nvSpPr>
        <p:spPr>
          <a:xfrm>
            <a:off x="6312960" y="4700160"/>
            <a:ext cx="5295240" cy="8953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agente consegue conferir o resultado contra a spec.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Fonte 613"/>
          <p:cNvSpPr/>
          <p:nvPr/>
        </p:nvSpPr>
        <p:spPr>
          <a:xfrm>
            <a:off x="548640" y="5789880"/>
            <a:ext cx="110595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GitHub Blog, sobre a importância de instruções claras para agentes.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sldNum" idx="17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SDD é escrever o que o software deve fazer antes de o agente escrever o código.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2" name="Caixa 601"/>
          <p:cNvSpPr/>
          <p:nvPr/>
        </p:nvSpPr>
        <p:spPr>
          <a:xfrm>
            <a:off x="548640" y="1783080"/>
            <a:ext cx="4295160" cy="394524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ctr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Spec-driven development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Especificar o comportamento antes de pedir o código.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 spec é a fonte de verdade que guia o agente e que você revisa.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Caixa 602"/>
          <p:cNvSpPr/>
          <p:nvPr/>
        </p:nvSpPr>
        <p:spPr>
          <a:xfrm>
            <a:off x="5248800" y="1783080"/>
            <a:ext cx="6359400" cy="1845360"/>
          </a:xfrm>
          <a:prstGeom prst="roundRect">
            <a:avLst>
              <a:gd name="adj" fmla="val 3478"/>
            </a:avLst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 (AGENTS.md)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Aplicadas conforme escopo e cliente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Convenções do projeto: comandos, estilo, limites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Reutilizadas entre tarefas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Caixa 603"/>
          <p:cNvSpPr/>
          <p:nvPr/>
        </p:nvSpPr>
        <p:spPr>
          <a:xfrm>
            <a:off x="5248800" y="3882960"/>
            <a:ext cx="6359400" cy="184536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 (por feature)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Spec first: guia a implementação inicial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Spec anchored: evolui junto com o 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Spec as source: código gerado da spec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Fonte 604"/>
          <p:cNvSpPr/>
          <p:nvPr/>
        </p:nvSpPr>
        <p:spPr>
          <a:xfrm>
            <a:off x="548640" y="5850000"/>
            <a:ext cx="110595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Níveis de adoção: artigo balta.io sobre SDD (2026); classificação de Böckeler.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sldNum" idx="18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fluxo de SDD pode usar seis etapas; adapte-o ao tamanho da tarefa.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" name="Caixa 601"/>
          <p:cNvSpPr/>
          <p:nvPr/>
        </p:nvSpPr>
        <p:spPr>
          <a:xfrm>
            <a:off x="548640" y="2149920"/>
            <a:ext cx="1631160" cy="8953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1  PRD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kill 602"/>
          <p:cNvSpPr/>
          <p:nvPr/>
        </p:nvSpPr>
        <p:spPr>
          <a:xfrm>
            <a:off x="548640" y="312984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definir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Artefato 603"/>
          <p:cNvSpPr/>
          <p:nvPr/>
        </p:nvSpPr>
        <p:spPr>
          <a:xfrm>
            <a:off x="548640" y="344016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prd.md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eta 604"/>
          <p:cNvSpPr/>
          <p:nvPr/>
        </p:nvSpPr>
        <p:spPr>
          <a:xfrm>
            <a:off x="222444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22" name="Caixa 605"/>
          <p:cNvSpPr/>
          <p:nvPr/>
        </p:nvSpPr>
        <p:spPr>
          <a:xfrm>
            <a:off x="2434320" y="2149920"/>
            <a:ext cx="1631160" cy="8953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2  TechSpec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kill 606"/>
          <p:cNvSpPr/>
          <p:nvPr/>
        </p:nvSpPr>
        <p:spPr>
          <a:xfrm>
            <a:off x="2434320" y="312984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projetar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Artefato 607"/>
          <p:cNvSpPr/>
          <p:nvPr/>
        </p:nvSpPr>
        <p:spPr>
          <a:xfrm>
            <a:off x="2434320" y="344016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techspec.md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eta 608"/>
          <p:cNvSpPr/>
          <p:nvPr/>
        </p:nvSpPr>
        <p:spPr>
          <a:xfrm>
            <a:off x="411012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26" name="Caixa 609"/>
          <p:cNvSpPr/>
          <p:nvPr/>
        </p:nvSpPr>
        <p:spPr>
          <a:xfrm>
            <a:off x="4320000" y="2149920"/>
            <a:ext cx="1631160" cy="8953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3  Tasks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kill 610"/>
          <p:cNvSpPr/>
          <p:nvPr/>
        </p:nvSpPr>
        <p:spPr>
          <a:xfrm>
            <a:off x="4320000" y="312984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organizar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Artefato 611"/>
          <p:cNvSpPr/>
          <p:nvPr/>
        </p:nvSpPr>
        <p:spPr>
          <a:xfrm>
            <a:off x="4320000" y="344016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tasks.md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eta 612"/>
          <p:cNvSpPr/>
          <p:nvPr/>
        </p:nvSpPr>
        <p:spPr>
          <a:xfrm>
            <a:off x="599580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30" name="Caixa 613"/>
          <p:cNvSpPr/>
          <p:nvPr/>
        </p:nvSpPr>
        <p:spPr>
          <a:xfrm>
            <a:off x="6205680" y="2149920"/>
            <a:ext cx="1631160" cy="8953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4  Executar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kill 614"/>
          <p:cNvSpPr/>
          <p:nvPr/>
        </p:nvSpPr>
        <p:spPr>
          <a:xfrm>
            <a:off x="6205680" y="312984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implementar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Artefato 615"/>
          <p:cNvSpPr/>
          <p:nvPr/>
        </p:nvSpPr>
        <p:spPr>
          <a:xfrm>
            <a:off x="6205680" y="344016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código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eta 616"/>
          <p:cNvSpPr/>
          <p:nvPr/>
        </p:nvSpPr>
        <p:spPr>
          <a:xfrm>
            <a:off x="788148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34" name="Caixa 617"/>
          <p:cNvSpPr/>
          <p:nvPr/>
        </p:nvSpPr>
        <p:spPr>
          <a:xfrm>
            <a:off x="8091360" y="2149920"/>
            <a:ext cx="1631160" cy="8953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5  QA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Skill 618"/>
          <p:cNvSpPr/>
          <p:nvPr/>
        </p:nvSpPr>
        <p:spPr>
          <a:xfrm>
            <a:off x="8091360" y="312984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testar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Artefato 619"/>
          <p:cNvSpPr/>
          <p:nvPr/>
        </p:nvSpPr>
        <p:spPr>
          <a:xfrm>
            <a:off x="8091360" y="344016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qa.md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eta 620"/>
          <p:cNvSpPr/>
          <p:nvPr/>
        </p:nvSpPr>
        <p:spPr>
          <a:xfrm>
            <a:off x="976716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38" name="Caixa 621"/>
          <p:cNvSpPr/>
          <p:nvPr/>
        </p:nvSpPr>
        <p:spPr>
          <a:xfrm>
            <a:off x="9977040" y="2149920"/>
            <a:ext cx="1631160" cy="8953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6  Review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kill 622"/>
          <p:cNvSpPr/>
          <p:nvPr/>
        </p:nvSpPr>
        <p:spPr>
          <a:xfrm>
            <a:off x="9977040" y="312984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revisar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Artefato 623"/>
          <p:cNvSpPr/>
          <p:nvPr/>
        </p:nvSpPr>
        <p:spPr>
          <a:xfrm>
            <a:off x="9977040" y="3440160"/>
            <a:ext cx="16311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codereview.md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Linha 624"/>
          <p:cNvSpPr/>
          <p:nvPr/>
        </p:nvSpPr>
        <p:spPr>
          <a:xfrm>
            <a:off x="548640" y="3899880"/>
            <a:ext cx="5407200" cy="360"/>
          </a:xfrm>
          <a:prstGeom prst="line">
            <a:avLst/>
          </a:prstGeom>
          <a:ln w="15875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2" name="Grupo 625"/>
          <p:cNvSpPr/>
          <p:nvPr/>
        </p:nvSpPr>
        <p:spPr>
          <a:xfrm>
            <a:off x="548640" y="3949920"/>
            <a:ext cx="54025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Você define e aprova o trabalho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Linha 626"/>
          <p:cNvSpPr/>
          <p:nvPr/>
        </p:nvSpPr>
        <p:spPr>
          <a:xfrm>
            <a:off x="6205320" y="3899880"/>
            <a:ext cx="5407560" cy="360"/>
          </a:xfrm>
          <a:prstGeom prst="line">
            <a:avLst/>
          </a:prstGeom>
          <a:ln w="15875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4" name="Grupo 627"/>
          <p:cNvSpPr/>
          <p:nvPr/>
        </p:nvSpPr>
        <p:spPr>
          <a:xfrm>
            <a:off x="6205680" y="3949920"/>
            <a:ext cx="54025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O agente executa e verifica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aixa 628"/>
          <p:cNvSpPr/>
          <p:nvPr/>
        </p:nvSpPr>
        <p:spPr>
          <a:xfrm>
            <a:off x="548640" y="4550040"/>
            <a:ext cx="11059560" cy="109548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3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Você aprova PRD, TechSpec e tasks. </a:t>
            </a:r>
            <a:r>
              <a:rPr lang="pt-BR" sz="23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Depois, o agente implementa e verifica; você valida.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Fonte 629"/>
          <p:cNvSpPr/>
          <p:nvPr/>
        </p:nvSpPr>
        <p:spPr>
          <a:xfrm>
            <a:off x="548640" y="5799960"/>
            <a:ext cx="110595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Antes das features, defina uma constituição com princípios, testes e restrições (artigo balta.io, 2026).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19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PRD diz o quê, a TechSpec diz como e as tasks dizem em que ordem.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" name="Rotulo 601"/>
          <p:cNvSpPr/>
          <p:nvPr/>
        </p:nvSpPr>
        <p:spPr>
          <a:xfrm>
            <a:off x="548640" y="1783080"/>
            <a:ext cx="34952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3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PRD</a:t>
            </a: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o quê e por quê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Codigo 602"/>
          <p:cNvSpPr/>
          <p:nvPr/>
        </p:nvSpPr>
        <p:spPr>
          <a:xfrm>
            <a:off x="548640" y="2250000"/>
            <a:ext cx="3495240" cy="264528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21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Critérios de aceite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1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CA-01  valor &gt; 0 → 201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1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CA-02  valor = 0 → 400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Legenda 603"/>
          <p:cNvSpPr/>
          <p:nvPr/>
        </p:nvSpPr>
        <p:spPr>
          <a:xfrm>
            <a:off x="548640" y="5000040"/>
            <a:ext cx="3495240" cy="69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comportamento esperado.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Rotulo 604"/>
          <p:cNvSpPr/>
          <p:nvPr/>
        </p:nvSpPr>
        <p:spPr>
          <a:xfrm>
            <a:off x="4330800" y="1783080"/>
            <a:ext cx="34952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3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TechSpec</a:t>
            </a: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como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Codigo 605"/>
          <p:cNvSpPr/>
          <p:nvPr/>
        </p:nvSpPr>
        <p:spPr>
          <a:xfrm>
            <a:off x="4330800" y="2250000"/>
            <a:ext cx="3495240" cy="264528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21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Testes da rota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1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TI-01  valor &gt; 0 → 201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1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TI-02  valor = 0 → 400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Legenda 606"/>
          <p:cNvSpPr/>
          <p:nvPr/>
        </p:nvSpPr>
        <p:spPr>
          <a:xfrm>
            <a:off x="4330800" y="5000040"/>
            <a:ext cx="3495240" cy="69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desenho e os testes.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otulo 607"/>
          <p:cNvSpPr/>
          <p:nvPr/>
        </p:nvSpPr>
        <p:spPr>
          <a:xfrm>
            <a:off x="8112960" y="1783080"/>
            <a:ext cx="349524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3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Tasks</a:t>
            </a: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em que ordem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Codigo 608"/>
          <p:cNvSpPr/>
          <p:nvPr/>
        </p:nvSpPr>
        <p:spPr>
          <a:xfrm>
            <a:off x="8112960" y="2250000"/>
            <a:ext cx="3495240" cy="264528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21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Entregas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1  Contrato da API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2  Formulário e API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3  Testes e saldo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Legenda 609"/>
          <p:cNvSpPr/>
          <p:nvPr/>
        </p:nvSpPr>
        <p:spPr>
          <a:xfrm>
            <a:off x="8112960" y="5000040"/>
            <a:ext cx="3495240" cy="69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ordem de execução.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Fonte 610"/>
          <p:cNvSpPr/>
          <p:nvPr/>
        </p:nvSpPr>
        <p:spPr>
          <a:xfrm>
            <a:off x="548640" y="5850000"/>
            <a:ext cx="110595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Trechos adaptados dos templates de Rodrigo Branas, Formação em IA (spec-driven-development), para o gerenciador financeiro.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ldNum" idx="20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critério de aceitação vira teste, tarefa e evidência.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" name="Caixa 601"/>
          <p:cNvSpPr/>
          <p:nvPr/>
        </p:nvSpPr>
        <p:spPr>
          <a:xfrm>
            <a:off x="548640" y="2099880"/>
            <a:ext cx="1895400" cy="109548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CA-01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PRD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Legenda 602"/>
          <p:cNvSpPr/>
          <p:nvPr/>
        </p:nvSpPr>
        <p:spPr>
          <a:xfrm>
            <a:off x="548640" y="3300120"/>
            <a:ext cx="1895400" cy="59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Critério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eta 603"/>
          <p:cNvSpPr/>
          <p:nvPr/>
        </p:nvSpPr>
        <p:spPr>
          <a:xfrm>
            <a:off x="2498400" y="2649960"/>
            <a:ext cx="29124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64" name="Caixa 604"/>
          <p:cNvSpPr/>
          <p:nvPr/>
        </p:nvSpPr>
        <p:spPr>
          <a:xfrm>
            <a:off x="2839680" y="2099880"/>
            <a:ext cx="1895400" cy="109548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TI-01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TechSpec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Legenda 605"/>
          <p:cNvSpPr/>
          <p:nvPr/>
        </p:nvSpPr>
        <p:spPr>
          <a:xfrm>
            <a:off x="2839680" y="3300120"/>
            <a:ext cx="1895400" cy="59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eta 606"/>
          <p:cNvSpPr/>
          <p:nvPr/>
        </p:nvSpPr>
        <p:spPr>
          <a:xfrm>
            <a:off x="478944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67" name="Caixa 607"/>
          <p:cNvSpPr/>
          <p:nvPr/>
        </p:nvSpPr>
        <p:spPr>
          <a:xfrm>
            <a:off x="5130720" y="2099880"/>
            <a:ext cx="1895400" cy="109548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task_2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Tasks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Legenda 608"/>
          <p:cNvSpPr/>
          <p:nvPr/>
        </p:nvSpPr>
        <p:spPr>
          <a:xfrm>
            <a:off x="5130720" y="3300120"/>
            <a:ext cx="1895400" cy="59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Implementação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eta 609"/>
          <p:cNvSpPr/>
          <p:nvPr/>
        </p:nvSpPr>
        <p:spPr>
          <a:xfrm>
            <a:off x="708048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0" name="Caixa 610"/>
          <p:cNvSpPr/>
          <p:nvPr/>
        </p:nvSpPr>
        <p:spPr>
          <a:xfrm>
            <a:off x="7421760" y="2099880"/>
            <a:ext cx="1895400" cy="109548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Teste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Código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Legenda 611"/>
          <p:cNvSpPr/>
          <p:nvPr/>
        </p:nvSpPr>
        <p:spPr>
          <a:xfrm>
            <a:off x="7421760" y="3300120"/>
            <a:ext cx="1895400" cy="59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 no repo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eta 612"/>
          <p:cNvSpPr/>
          <p:nvPr/>
        </p:nvSpPr>
        <p:spPr>
          <a:xfrm>
            <a:off x="937152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3" name="Caixa 613"/>
          <p:cNvSpPr/>
          <p:nvPr/>
        </p:nvSpPr>
        <p:spPr>
          <a:xfrm>
            <a:off x="9712800" y="2099880"/>
            <a:ext cx="1895400" cy="109548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qa.md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QA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Legenda 614"/>
          <p:cNvSpPr/>
          <p:nvPr/>
        </p:nvSpPr>
        <p:spPr>
          <a:xfrm>
            <a:off x="9712800" y="3300120"/>
            <a:ext cx="1895400" cy="59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Evidência de QA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Caixa 615"/>
          <p:cNvSpPr/>
          <p:nvPr/>
        </p:nvSpPr>
        <p:spPr>
          <a:xfrm>
            <a:off x="548640" y="4250160"/>
            <a:ext cx="5386320" cy="134532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Antes do código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Cada critério e teste entra em uma task.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Caixa 616"/>
          <p:cNvSpPr/>
          <p:nvPr/>
        </p:nvSpPr>
        <p:spPr>
          <a:xfrm>
            <a:off x="6221880" y="4250160"/>
            <a:ext cx="5386320" cy="134532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Depois do código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QA verifica cada critério e guarda evidências.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Fonte 617"/>
          <p:cNvSpPr/>
          <p:nvPr/>
        </p:nvSpPr>
        <p:spPr>
          <a:xfrm>
            <a:off x="548640" y="5799960"/>
            <a:ext cx="110595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Modelo: Rodrigo Branas, Formação em IA (spec-driven-development).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sldNum" idx="21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Uma spec extensa tende a compensar em tarefas maiores; para bugs pequenos, simplifique.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0" name="Selo 601"/>
          <p:cNvSpPr/>
          <p:nvPr/>
        </p:nvSpPr>
        <p:spPr>
          <a:xfrm>
            <a:off x="548640" y="1783080"/>
            <a:ext cx="2188800" cy="40572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Considere quando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Lista 602"/>
          <p:cNvSpPr/>
          <p:nvPr/>
        </p:nvSpPr>
        <p:spPr>
          <a:xfrm>
            <a:off x="548640" y="2329920"/>
            <a:ext cx="5386320" cy="329544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19960" tIns="219960" rIns="219960" bIns="21996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Feature nova em sistema existente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Projeto novo com decisões em aberto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Modernização de legado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elo 603"/>
          <p:cNvSpPr/>
          <p:nvPr/>
        </p:nvSpPr>
        <p:spPr>
          <a:xfrm>
            <a:off x="6221880" y="1783080"/>
            <a:ext cx="2188800" cy="405720"/>
          </a:xfrm>
          <a:prstGeom prst="roundRect">
            <a:avLst>
              <a:gd name="adj" fmla="val 17778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Simplifique quando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Lista 604"/>
          <p:cNvSpPr/>
          <p:nvPr/>
        </p:nvSpPr>
        <p:spPr>
          <a:xfrm>
            <a:off x="6221880" y="2329920"/>
            <a:ext cx="5386320" cy="329544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19960" tIns="219960" rIns="219960" bIns="21996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Bug localizado e bem entendido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Mudança pequena com solução clara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Documentação custaria mais que a mudança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Fonte 605"/>
          <p:cNvSpPr/>
          <p:nvPr/>
        </p:nvSpPr>
        <p:spPr>
          <a:xfrm>
            <a:off x="548640" y="5799960"/>
            <a:ext cx="110595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Fontes: GitHub Blog (casos de uso); Böckeler, martinfowler.com (bug e feature pequenos); spec-driven.md (requisitos que mudam).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2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No experimento do Branas, executar as 5 tasks na mesma janela gastou 240k tokens, contra 650k.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7" name="Rotulo 601"/>
          <p:cNvSpPr/>
          <p:nvPr/>
        </p:nvSpPr>
        <p:spPr>
          <a:xfrm>
            <a:off x="548640" y="1783080"/>
            <a:ext cx="5386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Total de tokens nas 5 tasks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Legenda 602"/>
          <p:cNvSpPr/>
          <p:nvPr/>
        </p:nvSpPr>
        <p:spPr>
          <a:xfrm>
            <a:off x="548640" y="2199960"/>
            <a:ext cx="53863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limpo a cada task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Barra 603"/>
          <p:cNvSpPr/>
          <p:nvPr/>
        </p:nvSpPr>
        <p:spPr>
          <a:xfrm>
            <a:off x="548640" y="2520000"/>
            <a:ext cx="3695400" cy="39528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90" name="Valor 604"/>
          <p:cNvSpPr/>
          <p:nvPr/>
        </p:nvSpPr>
        <p:spPr>
          <a:xfrm>
            <a:off x="4348800" y="2520000"/>
            <a:ext cx="8953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650k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Legenda 605"/>
          <p:cNvSpPr/>
          <p:nvPr/>
        </p:nvSpPr>
        <p:spPr>
          <a:xfrm>
            <a:off x="548640" y="3099960"/>
            <a:ext cx="53863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Mesma janela, em sequência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Barra 606"/>
          <p:cNvSpPr/>
          <p:nvPr/>
        </p:nvSpPr>
        <p:spPr>
          <a:xfrm>
            <a:off x="548640" y="3420000"/>
            <a:ext cx="1361520" cy="395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93" name="Valor 607"/>
          <p:cNvSpPr/>
          <p:nvPr/>
        </p:nvSpPr>
        <p:spPr>
          <a:xfrm>
            <a:off x="2014920" y="3420000"/>
            <a:ext cx="8953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240k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Rotulo 608"/>
          <p:cNvSpPr/>
          <p:nvPr/>
        </p:nvSpPr>
        <p:spPr>
          <a:xfrm>
            <a:off x="6221880" y="1783080"/>
            <a:ext cx="53863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Tokens lidos do cache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Legenda 609"/>
          <p:cNvSpPr/>
          <p:nvPr/>
        </p:nvSpPr>
        <p:spPr>
          <a:xfrm>
            <a:off x="6221880" y="2199960"/>
            <a:ext cx="53863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limpo a cada task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Barra 610"/>
          <p:cNvSpPr/>
          <p:nvPr/>
        </p:nvSpPr>
        <p:spPr>
          <a:xfrm>
            <a:off x="6221880" y="2520000"/>
            <a:ext cx="3695400" cy="39528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97" name="Valor 611"/>
          <p:cNvSpPr/>
          <p:nvPr/>
        </p:nvSpPr>
        <p:spPr>
          <a:xfrm>
            <a:off x="10021680" y="2520000"/>
            <a:ext cx="8953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16M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Legenda 612"/>
          <p:cNvSpPr/>
          <p:nvPr/>
        </p:nvSpPr>
        <p:spPr>
          <a:xfrm>
            <a:off x="6221880" y="3099960"/>
            <a:ext cx="538632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Mesma janela, em sequência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Barra 613"/>
          <p:cNvSpPr/>
          <p:nvPr/>
        </p:nvSpPr>
        <p:spPr>
          <a:xfrm>
            <a:off x="6221880" y="3420000"/>
            <a:ext cx="2307960" cy="3952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00" name="Valor 614"/>
          <p:cNvSpPr/>
          <p:nvPr/>
        </p:nvSpPr>
        <p:spPr>
          <a:xfrm>
            <a:off x="8634240" y="3420000"/>
            <a:ext cx="8953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6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10M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otulo 615"/>
          <p:cNvSpPr/>
          <p:nvPr/>
        </p:nvSpPr>
        <p:spPr>
          <a:xfrm>
            <a:off x="548640" y="4150080"/>
            <a:ext cx="53863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Benefício da mesma janela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Lista 616"/>
          <p:cNvSpPr/>
          <p:nvPr/>
        </p:nvSpPr>
        <p:spPr>
          <a:xfrm>
            <a:off x="548640" y="4600080"/>
            <a:ext cx="538632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Reusa cache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otulo 617"/>
          <p:cNvSpPr/>
          <p:nvPr/>
        </p:nvSpPr>
        <p:spPr>
          <a:xfrm>
            <a:off x="6221880" y="4150080"/>
            <a:ext cx="53863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Custo da mesma janela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Lista 618"/>
          <p:cNvSpPr/>
          <p:nvPr/>
        </p:nvSpPr>
        <p:spPr>
          <a:xfrm>
            <a:off x="6221880" y="4600080"/>
            <a:ext cx="538632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Exige mais contexto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Fonte 619"/>
          <p:cNvSpPr/>
          <p:nvPr/>
        </p:nvSpPr>
        <p:spPr>
          <a:xfrm>
            <a:off x="548640" y="5850000"/>
            <a:ext cx="110595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data.md, Rodrigo Branas, Formação em IA (medição do autor com 5 tasks do painel de clima).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sldNum" idx="23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SDD tem limites: specs verbosas, agentes que ignoram instruções e geração que varia.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8" name="Risco 601"/>
          <p:cNvSpPr/>
          <p:nvPr/>
        </p:nvSpPr>
        <p:spPr>
          <a:xfrm>
            <a:off x="548640" y="1783080"/>
            <a:ext cx="3495240" cy="384516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4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Specs verbosas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Muitos arquivos repetem informação.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Use um template enxuto por feature.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isco 602"/>
          <p:cNvSpPr/>
          <p:nvPr/>
        </p:nvSpPr>
        <p:spPr>
          <a:xfrm>
            <a:off x="4330800" y="1783080"/>
            <a:ext cx="3495240" cy="384516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4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Regras ignoradas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pode interpretar mal instruções.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Confira critérios com testes.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isco 603"/>
          <p:cNvSpPr/>
          <p:nvPr/>
        </p:nvSpPr>
        <p:spPr>
          <a:xfrm>
            <a:off x="8112960" y="1783080"/>
            <a:ext cx="3495240" cy="384516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4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Resultados variam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mesma spec pode gerar código diferente.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Divida tasks e automatize testes.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Fonte 604"/>
          <p:cNvSpPr/>
          <p:nvPr/>
        </p:nvSpPr>
        <p:spPr>
          <a:xfrm>
            <a:off x="548640" y="5799960"/>
            <a:ext cx="1105956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Böckeler, martinfowler.com, Understanding Spec-Driven-Development.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sldNum" idx="24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propõe, mas você continua responsável por revisar o que ele entrega.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4" name="Text 1"/>
          <p:cNvSpPr/>
          <p:nvPr/>
        </p:nvSpPr>
        <p:spPr>
          <a:xfrm>
            <a:off x="548640" y="2194560"/>
            <a:ext cx="2508840" cy="12744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agente produz a mudança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2"/>
          <p:cNvSpPr/>
          <p:nvPr/>
        </p:nvSpPr>
        <p:spPr>
          <a:xfrm>
            <a:off x="310896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3"/>
          <p:cNvSpPr/>
          <p:nvPr/>
        </p:nvSpPr>
        <p:spPr>
          <a:xfrm>
            <a:off x="3429000" y="2194560"/>
            <a:ext cx="2508840" cy="127440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verifica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4"/>
          <p:cNvSpPr/>
          <p:nvPr/>
        </p:nvSpPr>
        <p:spPr>
          <a:xfrm>
            <a:off x="598932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18" name="Text 5"/>
          <p:cNvSpPr/>
          <p:nvPr/>
        </p:nvSpPr>
        <p:spPr>
          <a:xfrm>
            <a:off x="6309360" y="2194560"/>
            <a:ext cx="2508840" cy="127440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Testes e critérios rodam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6"/>
          <p:cNvSpPr/>
          <p:nvPr/>
        </p:nvSpPr>
        <p:spPr>
          <a:xfrm>
            <a:off x="886968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7"/>
          <p:cNvSpPr/>
          <p:nvPr/>
        </p:nvSpPr>
        <p:spPr>
          <a:xfrm>
            <a:off x="9189720" y="2194560"/>
            <a:ext cx="2508840" cy="127440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1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aceita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8"/>
          <p:cNvSpPr/>
          <p:nvPr/>
        </p:nvSpPr>
        <p:spPr>
          <a:xfrm>
            <a:off x="4686120" y="3520440"/>
            <a:ext cx="360" cy="457200"/>
          </a:xfrm>
          <a:prstGeom prst="line">
            <a:avLst/>
          </a:prstGeom>
          <a:ln w="19050">
            <a:solidFill>
              <a:srgbClr val="6666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22" name="Shape 9"/>
          <p:cNvSpPr/>
          <p:nvPr/>
        </p:nvSpPr>
        <p:spPr>
          <a:xfrm flipH="1">
            <a:off x="1805760" y="3977640"/>
            <a:ext cx="2880360" cy="360"/>
          </a:xfrm>
          <a:prstGeom prst="line">
            <a:avLst/>
          </a:prstGeom>
          <a:ln w="19050">
            <a:solidFill>
              <a:srgbClr val="6666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23" name="Shape 10"/>
          <p:cNvSpPr/>
          <p:nvPr/>
        </p:nvSpPr>
        <p:spPr>
          <a:xfrm flipV="1">
            <a:off x="1805760" y="3547800"/>
            <a:ext cx="360" cy="42984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 11"/>
          <p:cNvSpPr/>
          <p:nvPr/>
        </p:nvSpPr>
        <p:spPr>
          <a:xfrm>
            <a:off x="1806120" y="4050720"/>
            <a:ext cx="2874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ou devolve com feedback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2"/>
          <p:cNvSpPr/>
          <p:nvPr/>
        </p:nvSpPr>
        <p:spPr>
          <a:xfrm>
            <a:off x="548640" y="5120640"/>
            <a:ext cx="11058480" cy="54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O agente pode afirmar com segurança algo errado.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5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Uncle Bob diz que não vê 95% do código feito por seus agentes.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Selo 601"/>
          <p:cNvSpPr/>
          <p:nvPr/>
        </p:nvSpPr>
        <p:spPr>
          <a:xfrm>
            <a:off x="548640" y="1783080"/>
            <a:ext cx="2188800" cy="40572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relato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Item 602"/>
          <p:cNvSpPr/>
          <p:nvPr/>
        </p:nvSpPr>
        <p:spPr>
          <a:xfrm>
            <a:off x="548640" y="240480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Citação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“95% of the code I never see.”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Item 603"/>
          <p:cNvSpPr/>
          <p:nvPr/>
        </p:nvSpPr>
        <p:spPr>
          <a:xfrm>
            <a:off x="548640" y="336492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Ainda vê código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Examina alguns módulos quando precisa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Item 604"/>
          <p:cNvSpPr/>
          <p:nvPr/>
        </p:nvSpPr>
        <p:spPr>
          <a:xfrm>
            <a:off x="548640" y="432504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Decisão humana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Experimenta o sistema antes de aceitar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elo 607"/>
          <p:cNvSpPr/>
          <p:nvPr/>
        </p:nvSpPr>
        <p:spPr>
          <a:xfrm>
            <a:off x="6221880" y="1783080"/>
            <a:ext cx="2188800" cy="40572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Como verifica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Item 608"/>
          <p:cNvSpPr/>
          <p:nvPr/>
        </p:nvSpPr>
        <p:spPr>
          <a:xfrm>
            <a:off x="6221880" y="240480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Testes unitários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Ajudam a conter erros dos agentes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Item 609"/>
          <p:cNvSpPr/>
          <p:nvPr/>
        </p:nvSpPr>
        <p:spPr>
          <a:xfrm>
            <a:off x="6221880" y="336492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Métrica CRAP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Combina complexidade e cobertura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Item 610"/>
          <p:cNvSpPr/>
          <p:nvPr/>
        </p:nvSpPr>
        <p:spPr>
          <a:xfrm>
            <a:off x="6221880" y="4325040"/>
            <a:ext cx="5386320" cy="7452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Testes de mutação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Checam se os testes detectam mudanças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Fonte 613"/>
          <p:cNvSpPr/>
          <p:nvPr/>
        </p:nvSpPr>
        <p:spPr>
          <a:xfrm>
            <a:off x="548640" y="5600160"/>
            <a:ext cx="11059560" cy="4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Robert C. Martin, entrevista à Aviator (2026).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sldNum" idx="26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mecanismo resolve um problema diferente de informação.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39" name="Table 0"/>
          <p:cNvGraphicFramePr/>
          <p:nvPr/>
        </p:nvGraphicFramePr>
        <p:xfrm>
          <a:off x="548640" y="1828800"/>
          <a:ext cx="11063880" cy="40950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663440"/>
              </a:tblGrid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Mecanismo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entra no contexto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Problema que resolve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Rules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conforme escopo e cliente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convenções do projeto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Skills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sob demanda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procedimentos reutilizáveis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Tools e MCP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o modelo as chama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agir fora do modelo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Spec e plano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durante a tarefa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 que construir agora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Memória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é relida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continuar entre sessões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Subagentes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só o resumo volta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isolar tarefas em contextos próprios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40" name="PlaceHolder 2"/>
          <p:cNvSpPr>
            <a:spLocks noGrp="1"/>
          </p:cNvSpPr>
          <p:nvPr>
            <p:ph type="sldNum" idx="27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58480" cy="1091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2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pedido vago deixa o agente adivinhar tudo o que importa.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 1"/>
          <p:cNvSpPr/>
          <p:nvPr/>
        </p:nvSpPr>
        <p:spPr>
          <a:xfrm>
            <a:off x="4251960" y="3017520"/>
            <a:ext cx="3651840" cy="136584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548640" y="1828800"/>
            <a:ext cx="3148920" cy="7257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Qual linguagem e framework?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8458200" y="1828800"/>
            <a:ext cx="3148920" cy="7257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Que testes provam que funciona?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4"/>
          <p:cNvSpPr/>
          <p:nvPr/>
        </p:nvSpPr>
        <p:spPr>
          <a:xfrm>
            <a:off x="3749040" y="219456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46" name="Shape 5"/>
          <p:cNvSpPr/>
          <p:nvPr/>
        </p:nvSpPr>
        <p:spPr>
          <a:xfrm flipH="1">
            <a:off x="7955280" y="219456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548640" y="3337560"/>
            <a:ext cx="3148920" cy="7257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Quais lançamentos registrar?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8458200" y="3337560"/>
            <a:ext cx="3148920" cy="7257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Quais convenções do projeto?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8"/>
          <p:cNvSpPr/>
          <p:nvPr/>
        </p:nvSpPr>
        <p:spPr>
          <a:xfrm>
            <a:off x="3749040" y="3703320"/>
            <a:ext cx="45720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50" name="Shape 9"/>
          <p:cNvSpPr/>
          <p:nvPr/>
        </p:nvSpPr>
        <p:spPr>
          <a:xfrm flipH="1">
            <a:off x="7955280" y="3703320"/>
            <a:ext cx="45720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51" name="Text 10"/>
          <p:cNvSpPr/>
          <p:nvPr/>
        </p:nvSpPr>
        <p:spPr>
          <a:xfrm>
            <a:off x="548640" y="4846320"/>
            <a:ext cx="3148920" cy="7257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Onde os dados ficam?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1"/>
          <p:cNvSpPr/>
          <p:nvPr/>
        </p:nvSpPr>
        <p:spPr>
          <a:xfrm>
            <a:off x="8458200" y="4846320"/>
            <a:ext cx="3148920" cy="72576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Como calcular o saldo mensal?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2"/>
          <p:cNvSpPr/>
          <p:nvPr/>
        </p:nvSpPr>
        <p:spPr>
          <a:xfrm flipV="1">
            <a:off x="3749040" y="370332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54" name="Shape 13"/>
          <p:cNvSpPr/>
          <p:nvPr/>
        </p:nvSpPr>
        <p:spPr>
          <a:xfrm flipH="1" flipV="1">
            <a:off x="7955280" y="370332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 14"/>
          <p:cNvSpPr/>
          <p:nvPr/>
        </p:nvSpPr>
        <p:spPr>
          <a:xfrm>
            <a:off x="548640" y="5760720"/>
            <a:ext cx="1105848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tem contexto suficiente?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 type="sldNum" idx="28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548640" y="628560"/>
            <a:ext cx="110584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3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GitHub do projeto</a:t>
            </a:r>
            <a:endParaRPr lang="pt-BR" sz="3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sldNum" idx="29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59" name="Picture 606"/>
          <p:cNvPicPr/>
          <p:nvPr/>
        </p:nvPicPr>
        <p:blipFill>
          <a:blip r:embed="rId1"/>
          <a:stretch/>
        </p:blipFill>
        <p:spPr>
          <a:xfrm>
            <a:off x="9831960" y="6437520"/>
            <a:ext cx="1010160" cy="19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Feedback subtitle"/>
          <p:cNvSpPr/>
          <p:nvPr/>
        </p:nvSpPr>
        <p:spPr>
          <a:xfrm>
            <a:off x="548640" y="2450160"/>
            <a:ext cx="11058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Repositório do minicurso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QR scan instruction"/>
          <p:cNvSpPr/>
          <p:nvPr/>
        </p:nvSpPr>
        <p:spPr>
          <a:xfrm>
            <a:off x="548640" y="3099960"/>
            <a:ext cx="11058480" cy="79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3600" b="0" u="sng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  <a:hlinkClick r:id="rId2"/>
              </a:rPr>
              <a:t>https://github.com/thiagoosiqueiraa/univas-minicurso-ia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Elemento 2"/>
          <p:cNvSpPr/>
          <p:nvPr/>
        </p:nvSpPr>
        <p:spPr>
          <a:xfrm>
            <a:off x="548640" y="384120"/>
            <a:ext cx="1106064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32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Vamos preparar o projeto com rules, MCPs e a skill fornecida.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Elemento 10"/>
          <p:cNvSpPr/>
          <p:nvPr/>
        </p:nvSpPr>
        <p:spPr>
          <a:xfrm>
            <a:off x="548640" y="1783080"/>
            <a:ext cx="11060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1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PRÁTICA · PREPARAR O GERENCIADOR FINANCEIRO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Elemento 11"/>
          <p:cNvSpPr/>
          <p:nvPr/>
        </p:nvSpPr>
        <p:spPr>
          <a:xfrm>
            <a:off x="548640" y="2514600"/>
            <a:ext cx="3425400" cy="246528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AGENTS.md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Criar na raiz: comandos,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convenções e limites;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Elemento 12"/>
          <p:cNvSpPr/>
          <p:nvPr/>
        </p:nvSpPr>
        <p:spPr>
          <a:xfrm>
            <a:off x="4370760" y="2514600"/>
            <a:ext cx="3425400" cy="246528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MCPs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Conectar os serviços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 verificar as ferramentas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disponíveis ao agente.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Elemento 13"/>
          <p:cNvSpPr/>
          <p:nvPr/>
        </p:nvSpPr>
        <p:spPr>
          <a:xfrm>
            <a:off x="8183880" y="2514600"/>
            <a:ext cx="3425400" cy="2465280"/>
          </a:xfrm>
          <a:prstGeom prst="rect">
            <a:avLst/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Skills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Instalar a skill pronta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 acioná-la no projeto.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Elemento 14"/>
          <p:cNvSpPr/>
          <p:nvPr/>
        </p:nvSpPr>
        <p:spPr>
          <a:xfrm>
            <a:off x="548640" y="5440680"/>
            <a:ext cx="110606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6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Resultado: agente configurado para trabalhar no projeto.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Elemento 99"/>
          <p:cNvSpPr/>
          <p:nvPr/>
        </p:nvSpPr>
        <p:spPr>
          <a:xfrm>
            <a:off x="11155680" y="6400800"/>
            <a:ext cx="453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2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27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Elemento 2"/>
          <p:cNvSpPr/>
          <p:nvPr/>
        </p:nvSpPr>
        <p:spPr>
          <a:xfrm>
            <a:off x="548640" y="384120"/>
            <a:ext cx="1106064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32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Vamos aplicar PRD → Spec → Tasks → QA → Review ao gerenciador.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Elemento 10"/>
          <p:cNvSpPr/>
          <p:nvPr/>
        </p:nvSpPr>
        <p:spPr>
          <a:xfrm>
            <a:off x="548640" y="1783080"/>
            <a:ext cx="11060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1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PRÁTICA · APLICAR O FLUXO NO MESMO PROJETO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Elemento 20"/>
          <p:cNvSpPr/>
          <p:nvPr/>
        </p:nvSpPr>
        <p:spPr>
          <a:xfrm>
            <a:off x="548640" y="2560320"/>
            <a:ext cx="1916640" cy="68220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Elemento 21"/>
          <p:cNvSpPr/>
          <p:nvPr/>
        </p:nvSpPr>
        <p:spPr>
          <a:xfrm>
            <a:off x="548640" y="3474720"/>
            <a:ext cx="1916640" cy="10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 que entregar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por quê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Elemento 22"/>
          <p:cNvSpPr/>
          <p:nvPr/>
        </p:nvSpPr>
        <p:spPr>
          <a:xfrm>
            <a:off x="548640" y="4663440"/>
            <a:ext cx="1916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prd.md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Elemento 40"/>
          <p:cNvSpPr/>
          <p:nvPr/>
        </p:nvSpPr>
        <p:spPr>
          <a:xfrm>
            <a:off x="2496240" y="2679120"/>
            <a:ext cx="3164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7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Elemento 23"/>
          <p:cNvSpPr/>
          <p:nvPr/>
        </p:nvSpPr>
        <p:spPr>
          <a:xfrm>
            <a:off x="2834640" y="2560320"/>
            <a:ext cx="1916640" cy="68220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Spec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Elemento 24"/>
          <p:cNvSpPr/>
          <p:nvPr/>
        </p:nvSpPr>
        <p:spPr>
          <a:xfrm>
            <a:off x="2834640" y="3474720"/>
            <a:ext cx="1916640" cy="10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Como construir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testar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Elemento 25"/>
          <p:cNvSpPr/>
          <p:nvPr/>
        </p:nvSpPr>
        <p:spPr>
          <a:xfrm>
            <a:off x="2834640" y="4663440"/>
            <a:ext cx="1916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spec.md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Elemento 41"/>
          <p:cNvSpPr/>
          <p:nvPr/>
        </p:nvSpPr>
        <p:spPr>
          <a:xfrm>
            <a:off x="4782240" y="2679120"/>
            <a:ext cx="3164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7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Elemento 26"/>
          <p:cNvSpPr/>
          <p:nvPr/>
        </p:nvSpPr>
        <p:spPr>
          <a:xfrm>
            <a:off x="5120640" y="2560320"/>
            <a:ext cx="1916640" cy="68220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Tasks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Elemento 27"/>
          <p:cNvSpPr/>
          <p:nvPr/>
        </p:nvSpPr>
        <p:spPr>
          <a:xfrm>
            <a:off x="5120640" y="3474720"/>
            <a:ext cx="1916640" cy="10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Organizar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execução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Elemento 28"/>
          <p:cNvSpPr/>
          <p:nvPr/>
        </p:nvSpPr>
        <p:spPr>
          <a:xfrm>
            <a:off x="5120640" y="4663440"/>
            <a:ext cx="1916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tasks.md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Elemento 42"/>
          <p:cNvSpPr/>
          <p:nvPr/>
        </p:nvSpPr>
        <p:spPr>
          <a:xfrm>
            <a:off x="7068240" y="2679120"/>
            <a:ext cx="3164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7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Elemento 29"/>
          <p:cNvSpPr/>
          <p:nvPr/>
        </p:nvSpPr>
        <p:spPr>
          <a:xfrm>
            <a:off x="7406640" y="2560320"/>
            <a:ext cx="1916640" cy="68220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QA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Elemento 30"/>
          <p:cNvSpPr/>
          <p:nvPr/>
        </p:nvSpPr>
        <p:spPr>
          <a:xfrm>
            <a:off x="7406640" y="3474720"/>
            <a:ext cx="1916640" cy="10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Verificar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os critérios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Elemento 31"/>
          <p:cNvSpPr/>
          <p:nvPr/>
        </p:nvSpPr>
        <p:spPr>
          <a:xfrm>
            <a:off x="7406640" y="4663440"/>
            <a:ext cx="1916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qa.md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Elemento 43"/>
          <p:cNvSpPr/>
          <p:nvPr/>
        </p:nvSpPr>
        <p:spPr>
          <a:xfrm>
            <a:off x="9354240" y="2679120"/>
            <a:ext cx="3164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7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Elemento 32"/>
          <p:cNvSpPr/>
          <p:nvPr/>
        </p:nvSpPr>
        <p:spPr>
          <a:xfrm>
            <a:off x="9692640" y="2560320"/>
            <a:ext cx="1916640" cy="682200"/>
          </a:xfrm>
          <a:prstGeom prst="rect">
            <a:avLst/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Elemento 33"/>
          <p:cNvSpPr/>
          <p:nvPr/>
        </p:nvSpPr>
        <p:spPr>
          <a:xfrm>
            <a:off x="9692640" y="3474720"/>
            <a:ext cx="1916640" cy="10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Revisar código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</a:pPr>
            <a:r>
              <a:rPr lang="pt-BR" sz="24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aceitar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Elemento 34"/>
          <p:cNvSpPr/>
          <p:nvPr/>
        </p:nvSpPr>
        <p:spPr>
          <a:xfrm>
            <a:off x="9692640" y="4663440"/>
            <a:ext cx="1916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review.md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Elemento 50"/>
          <p:cNvSpPr/>
          <p:nvPr/>
        </p:nvSpPr>
        <p:spPr>
          <a:xfrm>
            <a:off x="548640" y="5394960"/>
            <a:ext cx="110606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3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Após planejar as tasks, o agente implementa; QA e Review verificam a entrega.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Elemento 51"/>
          <p:cNvSpPr/>
          <p:nvPr/>
        </p:nvSpPr>
        <p:spPr>
          <a:xfrm>
            <a:off x="548640" y="5943600"/>
            <a:ext cx="110606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20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Entrega: lançamentos persistidos, saldo correto e critérios comprovados.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Elemento 99"/>
          <p:cNvSpPr/>
          <p:nvPr/>
        </p:nvSpPr>
        <p:spPr>
          <a:xfrm>
            <a:off x="11155680" y="6400800"/>
            <a:ext cx="453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0000"/>
              </a:lnSpc>
            </a:pPr>
            <a:r>
              <a:rPr lang="pt-BR" sz="12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28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548640" y="628560"/>
            <a:ext cx="11058480" cy="947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3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Obrigado pela participação! </a:t>
            </a:r>
            <a:endParaRPr lang="pt-BR" sz="3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 type="sldNum" idx="30"/>
          </p:nvPr>
        </p:nvSpPr>
        <p:spPr>
          <a:xfrm>
            <a:off x="11155680" y="6400800"/>
            <a:ext cx="451440" cy="26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5" name="Picture 606"/>
          <p:cNvPicPr/>
          <p:nvPr/>
        </p:nvPicPr>
        <p:blipFill>
          <a:blip r:embed="rId1"/>
          <a:stretch/>
        </p:blipFill>
        <p:spPr>
          <a:xfrm>
            <a:off x="9831960" y="6437520"/>
            <a:ext cx="1010160" cy="19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6" name="Feedback subtitle"/>
          <p:cNvSpPr/>
          <p:nvPr/>
        </p:nvSpPr>
        <p:spPr>
          <a:xfrm>
            <a:off x="548640" y="1458000"/>
            <a:ext cx="1105848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Sua opinião ajuda a melhorar os próximos minicursos.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QR scan instruction"/>
          <p:cNvSpPr/>
          <p:nvPr/>
        </p:nvSpPr>
        <p:spPr>
          <a:xfrm>
            <a:off x="1371600" y="4741200"/>
            <a:ext cx="9599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Aponte a câmera e responda em menos de 2 minutos.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Closing footer"/>
          <p:cNvSpPr/>
          <p:nvPr/>
        </p:nvSpPr>
        <p:spPr>
          <a:xfrm>
            <a:off x="1371600" y="5699880"/>
            <a:ext cx="95997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Obrigado por fazer parte dessa experiência!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9" name="Forms QR Code" descr="QR code para responder ao formulário de avaliação"/>
          <p:cNvPicPr/>
          <p:nvPr/>
        </p:nvPicPr>
        <p:blipFill>
          <a:blip r:embed="rId2"/>
          <a:stretch/>
        </p:blipFill>
        <p:spPr>
          <a:xfrm>
            <a:off x="4754880" y="1905120"/>
            <a:ext cx="2741760" cy="2741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</TotalTime>
  <Application>LibreOffice/26.2.6.3$Linux_X86_64 LibreOffice_project/620$Build-3</Application>
  <AppVersion>15.0000</AppVersion>
  <Words>10527</Words>
  <Paragraphs>1037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2026-10-09T12:51:20Z</dcterms:created>
  <dc:creator>Walnut Exporter</dc:creator>
  <dc:description/>
  <dc:language>en-US</dc:language>
  <cp:lastModifiedBy/>
  <dcterms:modified xsi:type="dcterms:W3CDTF">2026-10-15T18:29:08Z</dcterms:modified>
  <cp:revision>31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68</vt:i4>
  </property>
  <property fmtid="{D5CDD505-2E9C-101B-9397-08002B2CF9AE}" pid="3" name="PresentationFormat">
    <vt:lpwstr>Widescreen</vt:lpwstr>
  </property>
  <property fmtid="{D5CDD505-2E9C-101B-9397-08002B2CF9AE}" pid="4" name="Slides">
    <vt:i4>68</vt:i4>
  </property>
</Properties>
</file>