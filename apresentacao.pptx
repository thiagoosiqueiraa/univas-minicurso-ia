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0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48.xml" ContentType="application/vnd.openxmlformats-officedocument.presentationml.slide+xml"/>
  <Override PartName="/ppt/slides/slide62.xml" ContentType="application/vnd.openxmlformats-officedocument.presentationml.slide+xml"/>
  <Override PartName="/ppt/slides/slide31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65.xml" ContentType="application/vnd.openxmlformats-officedocument.presentationml.slide+xml"/>
  <Override PartName="/ppt/slides/slide10.xml" ContentType="application/vnd.openxmlformats-officedocument.presentationml.slide+xml"/>
  <Override PartName="/ppt/slides/slide63.xml" ContentType="application/vnd.openxmlformats-officedocument.presentationml.slide+xml"/>
  <Override PartName="/ppt/slides/slide6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6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en-US"/>
  <c:roundedCorners val="0"/>
  <c:style val="2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GPT-5.4</c:v>
                </c:pt>
              </c:strCache>
            </c:strRef>
          </c:tx>
          <c:spPr>
            <a:solidFill>
              <a:srgbClr val="2C658C"/>
            </a:solidFill>
            <a:ln w="38160">
              <a:solidFill>
                <a:srgbClr val="2C658C"/>
              </a:solidFill>
              <a:round/>
            </a:ln>
          </c:spPr>
          <c:marker>
            <c:symbol val="circle"/>
            <c:size val="8"/>
            <c:spPr>
              <a:solidFill>
                <a:srgbClr val="2C658C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4K–8K</c:v>
                </c:pt>
                <c:pt idx="1">
                  <c:v>8K–16K</c:v>
                </c:pt>
                <c:pt idx="2">
                  <c:v>16K–32K</c:v>
                </c:pt>
                <c:pt idx="3">
                  <c:v>32K–64K</c:v>
                </c:pt>
                <c:pt idx="4">
                  <c:v>64K–128K</c:v>
                </c:pt>
                <c:pt idx="5">
                  <c:v>128K–256K</c:v>
                </c:pt>
                <c:pt idx="6">
                  <c:v>256K–512K</c:v>
                </c:pt>
                <c:pt idx="7">
                  <c:v>512K–1M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97.3</c:v>
                </c:pt>
                <c:pt idx="1">
                  <c:v>91.4</c:v>
                </c:pt>
                <c:pt idx="2">
                  <c:v>97.2</c:v>
                </c:pt>
                <c:pt idx="3">
                  <c:v>90.5</c:v>
                </c:pt>
                <c:pt idx="4">
                  <c:v>86</c:v>
                </c:pt>
                <c:pt idx="5">
                  <c:v>79.3</c:v>
                </c:pt>
                <c:pt idx="6">
                  <c:v>57.5</c:v>
                </c:pt>
                <c:pt idx="7">
                  <c:v>36.6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GPT-5.5</c:v>
                </c:pt>
              </c:strCache>
            </c:strRef>
          </c:tx>
          <c:spPr>
            <a:solidFill>
              <a:srgbClr val="1B8457"/>
            </a:solidFill>
            <a:ln w="38160">
              <a:solidFill>
                <a:srgbClr val="1B8457"/>
              </a:solidFill>
              <a:round/>
            </a:ln>
          </c:spPr>
          <c:marker>
            <c:symbol val="circle"/>
            <c:size val="8"/>
            <c:spPr>
              <a:solidFill>
                <a:srgbClr val="1B8457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4K–8K</c:v>
                </c:pt>
                <c:pt idx="1">
                  <c:v>8K–16K</c:v>
                </c:pt>
                <c:pt idx="2">
                  <c:v>16K–32K</c:v>
                </c:pt>
                <c:pt idx="3">
                  <c:v>32K–64K</c:v>
                </c:pt>
                <c:pt idx="4">
                  <c:v>64K–128K</c:v>
                </c:pt>
                <c:pt idx="5">
                  <c:v>128K–256K</c:v>
                </c:pt>
                <c:pt idx="6">
                  <c:v>256K–512K</c:v>
                </c:pt>
                <c:pt idx="7">
                  <c:v>512K–1M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8"/>
                <c:pt idx="0">
                  <c:v>98.1</c:v>
                </c:pt>
                <c:pt idx="1">
                  <c:v>93</c:v>
                </c:pt>
                <c:pt idx="2">
                  <c:v>96.5</c:v>
                </c:pt>
                <c:pt idx="3">
                  <c:v>90</c:v>
                </c:pt>
                <c:pt idx="4">
                  <c:v>83.1</c:v>
                </c:pt>
                <c:pt idx="5">
                  <c:v>87.5</c:v>
                </c:pt>
                <c:pt idx="6">
                  <c:v>81.5</c:v>
                </c:pt>
                <c:pt idx="7">
                  <c:v>74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3061663"/>
        <c:axId val="21663592"/>
      </c:lineChart>
      <c:catAx>
        <c:axId val="7306166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lang="pt-BR" sz="1200" b="1" u="none" strike="noStrike">
                    <a:solidFill>
                      <a:srgbClr val="666666"/>
                    </a:solidFill>
                    <a:uFillTx/>
                    <a:latin typeface="Calibri"/>
                    <a:ea typeface="Calibri"/>
                  </a:rPr>
                  <a:t>Tamanho do contexto (tokens)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low"/>
        <c:spPr>
          <a:ln w="12600">
            <a:solidFill>
              <a:srgbClr val="C3C3C3"/>
            </a:solidFill>
            <a:round/>
          </a:ln>
        </c:spPr>
        <c:txPr>
          <a:bodyPr/>
          <a:lstStyle/>
          <a:p>
            <a:pPr>
              <a:defRPr sz="1100" b="0" u="none" strike="noStrike">
                <a:solidFill>
                  <a:srgbClr val="666666"/>
                </a:solidFill>
                <a:uFillTx/>
                <a:latin typeface="Calibri"/>
                <a:ea typeface="Calibri"/>
              </a:defRPr>
            </a:pPr>
          </a:p>
        </c:txPr>
        <c:crossAx val="21663592"/>
        <c:crosses val="autoZero"/>
        <c:auto val="1"/>
        <c:lblAlgn val="ctr"/>
        <c:lblOffset val="100"/>
        <c:noMultiLvlLbl val="0"/>
      </c:catAx>
      <c:valAx>
        <c:axId val="21663592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lang="pt-BR" sz="1200" b="1" u="none" strike="noStrike">
                    <a:solidFill>
                      <a:srgbClr val="666666"/>
                    </a:solidFill>
                    <a:uFillTx/>
                    <a:latin typeface="Calibri"/>
                    <a:ea typeface="Calibri"/>
                  </a:rPr>
                  <a:t>Acerto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\%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Calibri"/>
                <a:ea typeface="Calibri"/>
              </a:defRPr>
            </a:pPr>
          </a:p>
        </c:txPr>
        <c:crossAx val="73061663"/>
        <c:crosses val="autoZero"/>
        <c:crossBetween val="between"/>
        <c:majorUnit val="20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sz="1400" b="0" u="none" strike="noStrike">
              <a:solidFill>
                <a:srgbClr val="333333"/>
              </a:solidFill>
              <a:uFillTx/>
              <a:latin typeface="Calibri"/>
              <a:ea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5B50FDA-D81C-4981-9C45-2267AACE511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Abertura. A imagem-chave é o loop do agente: observa, decide, age e verifica o resultado. É o fio condutor dos dois encontros. Substitua nome, departamento, instituição e data. Pergunta de partida: o que faz uma IA deixar de ser apenas um chatbot e passar a agir como um agente?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6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Apresente o percurso. Encontro 1: fundamentos (LLM, harness, contexto). Encontro 2: ferramentas práticas (rules, skills, MCP, specs). Fechamos juntos com uma prática que usa tudo. Cada encontro tem 3h15 com 30 min de intervalo.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6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objetivo não é decorar nomes de ferramentas. É sair com um raciocínio: o agente só é tão bom quanto o contexto que recebe, e rules, skills, MCP e specs são mecanismos para entregar esse contexto. Esse objetivo orienta toda a estrutura.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7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Abertura: a IA que você usa no dia a dia (ChatGPT, Claude Code, Cursor) é só a ponta do iceberg. Abaixo da linha d’água estão os modelos, o harness e o contexto (rules, skills, MCP, memória, subagentes, ferramentas) e, no fundo, os fundamentos (transformers, tokenização, matemática). Hoje o foco é o meio: do modelo ao harness, onde mais se influencia o resultado.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7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Escala ilustrativa baseada na referência enviada. L0 (Hater, 0%): não usa IA no fluxo; pessoas planejam, codificam, testam e revisam. L1 (Copy/Paste, 5%): copia respostas do ChatGPT e usa autocomplete ocasionalmente; o trabalho continua majoritariamente manual. L2 (Babá, 30%): usa modo agente, mas aprova cada etapa e acompanha a execução. L3 (Gerente, 80%): humanos especificam, planejam e fazem a revisão final; a IA executa o plano. L4 (Fábrica, 100%): pipelines autônomos cuidam de correções, QA, protótipos e fluxos repetitivos; a equipe atua no harness. Os percentuais são ilustrações da imagem, não medições de produtividade ou um padrão universal. [Sources] Captura de tela 2026-10-08 200353.png, referência fornecida pelo usuário.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Exemplo didático, não uma escala científica de maturidade. Os níveis ilustram modos de delegar trabalho; os traços substituem percentuais sem base de medição.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7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Divisor do Dia 1. Pergunta central: como saímos de uma LLM que gera texto para um sistema capaz de agir? Percurso: como a LLM funciona o suficiente, o que é um agente, o harness e o context engineering, fechando com uma pequena prática.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7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Stack Exchange Inc. (2026), AI tool usage, Stack Overflow Developer Survey 2026, seção 2.1 AI usage. https://survey.stackoverflow.co/2026/ai/data#ai-usage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Pergunta: Do you currently use AI tools or AI agents in your role at work? n=17.464. 17,2% responderam que não usam IA; portanto, 82,8% (aproximadamente 83%) usam ao menos uma ferramenta. 65,9% selecionaram AI coding assistants or coding agents (aproximadamente 66%). Respostas de múltipla seleção. ODbL 1.0.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7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Slide de vocabulário. A pergunta “O que é saldo mensal?” entra como texto; a LLM gera uma explicação em texto. A resposta no slide é ilustrativa e plausível, não a saída garantida de uma execução. O modelo não consultou contas nem construiu um gerenciador financeiro.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Use o tema financeiro como fio condutor. Mais adiante, mostre que uma aplicação precisa de interface, dados e ferramentas para registrar lançamentos e calcular um saldo real.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7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Tokens são pedaços de texto, não necessariamente palavras. Contexto, custo e limites são medidos em tokens. A divisão mostrada é ilustrativa: cada modelo tem seu tokenizador. Leitura sugerida: OpenAI, &amp;apos;Como entender e contar tokens&amp;apos;.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7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ponte do bloco 2 para o harness. A LLM gera a próxima saída. Ao somar contexto e instruções, ferramentas e um loop de execução, obtemos um agente: observa, decide, age e observa de novo. O nome do que reúne tudo isso é harness. Se quiser formalizar: um agente pode ser descrito por cinco elementos (objetivo, estado, contexto, ferramentas e ações); o contexto é o que acompanhamos nos dois encontros.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Explique a analogia com autocomplete. Os percentuais são inventados apenas para esta aula; não representam a saída de um modelo. O token escolhido entra no contexto da próxima previsão. Pergunta de recuperação: se o modelo gera um token por vez, como consegue escrever um programa inteiro?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PlaceHolder 3"/>
          <p:cNvSpPr>
            <a:spLocks noGrp="1"/>
          </p:cNvSpPr>
          <p:nvPr>
            <p:ph type="sldNum" idx="7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Raciocinar, para uma LLM, é gerar tokens intermediários antes da resposta, ou seja, o mesmo mecanismo token a token do slide anterior. Quem raciocina é o modelo, e essa capacidade vem do treinamento. O nível de esforço (baixo, médio, alto) é um parâmetro enviado na chamada: o harness ou o usuário o escolhe, e o modelo pensa mais ou menos. Esses tokens ocupam a janela de contexto e custam como os demais, então esforço alto é uma decisão de custo e de contexto. Mais adiante, no harness, distinguimos esse raciocínio interno do raciocínio agentivo (o loop de várias etapas). O nível de esforço é o assunto do próximo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sldNum" idx="7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Os provedores expõem o esforço como um parâmetro com poucos níveis. Em geral: low, medium, high, xhigh e max; a OpenAI também documenta none e minimal em alguns modelos. Os valores aceitos e o padrão dependem do modelo: por exemplo, a documentação da Anthropic indica high como padrão na maioria dos modelos e medium em alguns, e a da OpenAI cita medium como padrão em vários modelos. Na Anthropic, o esforço afeta todos os tokens da resposta (texto, chamadas de ferramenta e pensamento) e é uma orientação, não uma garantia de quantidade de tokens. Recomendação da própria OpenAI: use xhigh só quando seus testes mostrarem benefício que justifique custo e latência. Regra prática para a turma: comece em medium e suba se a tarefa for difícil. Fontes: documentação de reasoning da OpenAI (developers.openai.com/api/docs/guides/reasoning) e documentação de effort da Anthropic (platform.claude.com/docs/en/build-with-claude/effort). Confirme os valores atuais antes da aula, pois mudam entre modelos.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 type="sldNum" idx="7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Tabela de modelos para codificação verificada em 8 de outubro de 2026. Preços em dólares por 1 milhão de tokens de entrada e saída na tarifa padrão paga da API; não incluem cache, batch, modo rápido, ferramentas ou impostos. Contexto arredondado: OpenAI 1.050.000 tokens; Anthropic 1.000.000; Google 1.048.576. A OpenAI cobra mais quando o prompt supera 272 mil tokens. O preço do Gemini 3.8 Flash é introdutório até 31 de dezembro de 2026. A tabela não representa ranking de desempenho entre fornecedores. [Sources] https://developers.openai.com/api/docs/models/gpt-6-astra ; https://developers.openai.com/api/docs/models/gpt-6.1-sol ; https://developers.openai.com/api/docs/models/gpt-6-luna ; https://platform.claude.com/docs/en/models/opus-5-5/overview ; https://platform.claude.com/docs/en/models/sonnet-5-5/overview ; https://ai.google.dev/gemini-api/docs/models/gemini-3.8-flash ; https://ai.google.dev/gemini-api/docs/pricing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PlaceHolder 3"/>
          <p:cNvSpPr>
            <a:spLocks noGrp="1"/>
          </p:cNvSpPr>
          <p:nvPr>
            <p:ph type="sldNum" idx="8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janela de contexto é tudo o que o modelo enxerga em uma chamada. O que ficou de fora, como o resto do repositório ou conversas antigas, não existe para ele. Aqui nasce o problema que vamos tratar em context engineering. Leitura sugerida: Anthropic, &amp;apos;Effective context engineering for AI agents&amp;apos;.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sldNum" idx="8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Dinâmica ao vivo: no terminal, faça uma chamada direta à API do OpenRouter (POST /api/v1/chat/completions) com um único message: “Meu nome é Thiago.”. Em seguida, faça uma NOVA chamada, em requisição separada, só com “Qual é o meu nome?”. O modelo não sabe: nada foi guardado entre as chamadas. Depois repita a segunda chamada reenviando o array messages completo (pergunta 1, resposta 1, pergunta 2): agora ele responde. Conclusão: o “histórico” é reenviado pelo cliente (o harness) a cada chamada; o modelo não guarda estado.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Analogia de API stateless: duas chamadas independentes não compartilham automaticamente a informação “Meu nome é Ana”. A aplicação pode armazenar e reenviar o histórico. Pergunta de recuperação: por que um chatbot parece lembrar a conversa?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PlaceHolder 3"/>
          <p:cNvSpPr>
            <a:spLocks noGrp="1"/>
          </p:cNvSpPr>
          <p:nvPr>
            <p:ph type="sldNum" idx="8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Degradação de contexto com dados reais. Fonte: tabela de avaliação publicada pela OpenAI no lançamento do GPT-5.5 (abril de 2026), benchmark OpenAI MRCR v2 8-needle: o modelo precisa recuperar uma de oito &amp;apos;agulhas&amp;apos; quase idênticas escondidas em conversas de tamanhos diferentes. Leitura: no GPT-5.4, o acerto vai de 97,3% (4K a 8K tokens) para 36,6% (512K a 1M). O GPT-5.5 melhorou, mas também cai: 98,1% para 74,0%. Ressalvas honestas: o benchmark mede uma habilidade específica (distinguir itens parecidos em contexto longo), não a qualidade geral; a queda não é perfeitamente monótona (no GPT-5.5, 128K a 256K supera 64K a 128K); os modelos melhoram a cada versão. A tese continua: contexto maior não é automaticamente contexto melhor. Os números foram transcritos de reproduções da tabela e conferidos entre fontes; abra a página oficial para confirmar antes da aula. Fonte oficial: openai.com/index/introducing-gpt-5-5/. Leitura complementar: Anthropic, &amp;apos;Effective context engineering for AI agents&amp;apos;.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 type="sldNum" idx="8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Aqui está o porquê de o modelo sozinho não ser um agente. Ele recebe texto e devolve texto. Não acessa o disco, o terminal, a internet. Também não guarda memória entre chamadas: cada chamada começa do zero, com o que for enviado no contexto. Isso cria a necessidade do harness.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sldNum" idx="8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Rode main_5.ts com OPENROUTER_API_KEY e OPENROUTER_MODEL configurados. O script cria um arquivo temporário codigo.txt com um código aleatório. Na primeira chamada ao OpenRouter, envia o caminho, a definição da função ler_arquivo e tool_choice para forçar essa função. Mostre tool_calls: o modelo solicita ler_arquivo(caminho), mas ainda não acessou o arquivo. O programa valida o caminho e executa readFile. Em seguida, adiciona uma mensagem role: tool com o conteúdo lido e faz a segunda chamada com tool_choice: none. Mostre a resposta final e a comparação com o código real.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 à turma: quem leu o arquivo? O código local, não a LLM. Nesta demonstração a tool é definida pela aplicação (type: function); o OpenRouter transmite o pedido e a resposta. Fonte do roteiro: main_5.ts, neste projeto.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PlaceHolder 3"/>
          <p:cNvSpPr>
            <a:spLocks noGrp="1"/>
          </p:cNvSpPr>
          <p:nvPr>
            <p:ph type="sldNum" idx="8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Compare as três colunas. LLM e chatbot geram texto e conversam. O que separa o agente são as três últimas linhas: usa ferramentas, age em várias etapas e persegue um objetivo. Obs: 'chatbot' aqui significa a interface conversacional simples, sem autonomia.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tabela é uma comparação didática, não uma fronteira técnica rígida. “Pode” indica que um chatbot pode incorporar ferramentas, etapas e objetivo. O mesmo produto pode combinar interface de chat e comportamento agêntico.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PlaceHolder 3"/>
          <p:cNvSpPr>
            <a:spLocks noGrp="1"/>
          </p:cNvSpPr>
          <p:nvPr>
            <p:ph type="sldNum" idx="8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Este é o loop agentivo. O modelo decide a próxima ação a partir do que observa; a ação é executada por uma ferramenta; o resultado volta ao contexto e o ciclo recomeça, até o objetivo ser cumprido. Não é uma única resposta, são várias iterações.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PlaceHolder 3"/>
          <p:cNvSpPr>
            <a:spLocks noGrp="1"/>
          </p:cNvSpPr>
          <p:nvPr>
            <p:ph type="sldNum" idx="8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Demonstração ao vivo: faça a mesma pergunta (&amp;apos;por que meus testes estão falhando?&amp;apos;) primeiro em um chat simples e depois em um agente com acesso ao projeto. Os textos do slide são ilustrativos do que a turma deve observar; adapte ao exemplo real que você rodar.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PlaceHolder 3"/>
          <p:cNvSpPr>
            <a:spLocks noGrp="1"/>
          </p:cNvSpPr>
          <p:nvPr>
            <p:ph type="sldNum" idx="8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Defina harness como tudo o que cerca o modelo: prompt de sistema, ferramentas, memória e contexto, permissões e execução, tudo ligado pelo loop agentivo. Claude Code e Codex são exemplos. O modelo só gera texto; o harness faz o resto acontecer.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Compare o harness com um runtime ou orquestrador: ele oferece ferramentas, permissões e estado, além de organizar interações sucessivas com o modelo.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PlaceHolder 3"/>
          <p:cNvSpPr>
            <a:spLocks noGrp="1"/>
          </p:cNvSpPr>
          <p:nvPr>
            <p:ph type="sldNum" idx="8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Percorra a sequência de cima para baixo. O harness envia contexto e ferramentas ao modelo; o modelo pede uma ação; o harness verifica permissões, executa no mundo real (arquivos, terminal) e devolve o resultado, que vira contexto na próxima chamada.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PlaceHolder 3"/>
          <p:cNvSpPr>
            <a:spLocks noGrp="1"/>
          </p:cNvSpPr>
          <p:nvPr>
            <p:ph type="sldNum" idx="9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o Excalidraw e construa o fluxo com a turma: usuário envia um pedido; o harness monta o contexto; o modelo responde ou solicita uma ferramenta; o harness verifica permissões e executa; o resultado volta ao contexto para o próximo passo. Pergunte ao longo do desenho quem decide, quem executa e o que retorna ao modelo.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PlaceHolder 3"/>
          <p:cNvSpPr>
            <a:spLocks noGrp="1"/>
          </p:cNvSpPr>
          <p:nvPr>
            <p:ph type="sldNum" idx="9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Só o modelo (ou só o harness) quase nunca basta. Sem a técnica certa e sem contexto adequado à tarefa, vem retrabalho, frustração e perda de produtividade. À esquerda, o que o modelo faz bem sozinho: ele conhece as linguagens e os frameworks. À direita, o que só existe na sua organização: um processo, uma regra de negócio, a estratégia de como você quer implementar. Se isso não estiver no contexto, o modelo escolhe. Pode dar certo, pode não dar. Esse é o ponto de partida para falar de context engineering.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3"/>
          <p:cNvSpPr>
            <a:spLocks noGrp="1"/>
          </p:cNvSpPr>
          <p:nvPr>
            <p:ph type="sldNum" idx="92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23E984-002B-4CBC-BD11-133DFA55318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Antes, algo como 20 a 30% do tempo ia para o problema e 70 a 80% para a codificação (estimativa de quem apresenta). Como vou entregar o que preciso? Essa parte do 'como' já foi delegada à IA. Por isso o profissional de software tem mais valor na entrega: ele sabe o que é necessário para entregar com responsabilidade, com qualidade e com comportamento adequado em produção. Atuamos como mistura de analista de negócio e líder técnico. A barra de 'Hoje' é ilustrativa, sem escala: o ponto é a inversão da ênfase. Antes de chegar no problema, existe a estrutura: context engineering.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arquitetura, a escolha da solução e a revisão continuam sendo responsabilidades do desenvolvedor. Delegar implementação não elimina essas decisões.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PlaceHolder 3"/>
          <p:cNvSpPr>
            <a:spLocks noGrp="1"/>
          </p:cNvSpPr>
          <p:nvPr>
            <p:ph type="sldNum" idx="93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51BB9F-4A52-4D9D-AF9B-E2E708F000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MELHORADO (substitui o slide 25 do v2). Context engineering e harness engineering são termos muito próximos. A ideia é guiar a LLM na direção desejada. Várias fontes competem pela janela: instruções, histórico, arquivos, resultados de ferramentas, documentação. Alguém precisa decidir o que entra, na quantidade e no momento adequados. Quantidade e momento importam porque a janela é limitada e, mesmo quando é grande, ocupar tudo tem custo: tempo de inferência e atenção (próximo slide).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PlaceHolder 3"/>
          <p:cNvSpPr>
            <a:spLocks noGrp="1"/>
          </p:cNvSpPr>
          <p:nvPr>
            <p:ph type="sldNum" idx="94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216917-73A8-4161-8BD6-5A9522816D6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MELHORADO (substitui o slide 26 do v2, que só mostrava o crescimento). Tudo o que está no contexto precisa ser processado: tokenizar, calcular embeddings e calcular a atenção de cada token em relação aos outros. Isso é físico, e tem custo de tempo. Quando há muita coisa irrelevante, o resultado degrada: o modelo dá atenção a aspectos errados ou mistura informações. A analogia: duas ou três pessoas falando com você ao mesmo tempo, e você responde errado a cada uma. Escala de referência: um milhão de tokens é muita informação, da ordem de uma coleção de livros. Se precisar citar, prefira 'aproximadamente 750 mil palavras'.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PlaceHolder 3"/>
          <p:cNvSpPr>
            <a:spLocks noGrp="1"/>
          </p:cNvSpPr>
          <p:nvPr>
            <p:ph type="sldNum" idx="95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807366-3F67-4087-907D-ACFAB0F4F5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Três técnicas gerais, independentes de ferramenta. Selecionar: só entra o que a tarefa exige. Comprimir: histórico longo vira resumo. Externalizar: estado e notas ficam em arquivos e são relidos quando necessário. Esses princípios reaparecem no Encontro 2 em rules, skills e specs. As três técnicas respondem à degradação de contexto vista no bloco de LLM.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PlaceHolder 3"/>
          <p:cNvSpPr>
            <a:spLocks noGrp="1"/>
          </p:cNvSpPr>
          <p:nvPr>
            <p:ph type="sldNum" idx="9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Context e harness engineering, acima de tudo, são a criação de guias e sensores. Guias são feed forward: informação que damos para dar direção antes de o agente agir. Sensores são feedback: algo que criamos para que a saída seja devidamente avaliada. A ideia é antecipar a saída indesejada e prevenir o problema. O laço de baixo é o ponto central: com sensores, o agente se autocorrige sem que você precise detectar o erro e instruí-lo.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PlaceHolder 3"/>
          <p:cNvSpPr>
            <a:spLocks noGrp="1"/>
          </p:cNvSpPr>
          <p:nvPr>
            <p:ph type="sldNum" idx="97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6FD5A6-510A-4A7B-A024-ABFD174E8DA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 (complementa o slide de rules do Encontro 2). Guias são informações básicas: comandos, portas, dependências. É o AGENTS.md ou o CLAUDE.md. Se você não diz que o projeto roda na porta 3001, o agente tenta a 3000, falha, tenta a 3001, e é forçado a ler vários arquivos, trazendo para o contexto coisas desnecessárias: package.json, arquivos de variáveis de ambiente que nem deveriam ser lidos o tempo todo. Se o projeto usa Yarn e a IA usa npm, é o mesmo problema. Os system prompts dos harnesses já orientam, mas dar essa informação em 100, 200 ou 300 tokens resolve e evita a leitura de um arquivo muito maior.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98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0EDC34-5B57-460F-97E4-9CF3AD6B5D7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Padrões de código são relevantes porque não é o quê, é o como. A LLM escreve em qualquer linguagem e usa qualquer framework, mas existe a sua maneira de usar. Sem padrões, começam a aparecer coisas que destoam. Estrutura de pastas importa porque a LLM tenta inferir onde colocar arquivos. Estratégias de design, camadas, interações síncronas e assíncronas, como se escreve SQL, testes, boas práticas e antipatterns. Dizer o que você NÃO quer é fundamental. Exemplo: migrações de banco. Peça para não rodar automaticamente, pois podem destruir o dump de desenvolvimento. Você revisa e roda. Não dá para ler tudo: com PRs de 5.000 linhas e vários por dia, a confiança vem dos guias. Mas a responsabilidade pelo código continua sendo sua.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3"/>
          <p:cNvSpPr>
            <a:spLocks noGrp="1"/>
          </p:cNvSpPr>
          <p:nvPr>
            <p:ph type="sldNum" idx="99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C96991-4629-44AE-B0DA-341319F58F9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Tudo depende da criticidade do software. No checkout de um grande e-commerce ou num módulo de frenagem de carro, um problema causa perda de milhões ou risco à vida. Software médico, hospitalar, financeiro e de cálculo de impostos demanda muita atenção. Em gestão de projetos ou troca de mensagens, a margem para corrigir depois é maior. Regra prática: ajuste o rigor dos guias, dos sensores e da revisão à criticidade do que está sendo entregue.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PlaceHolder 3"/>
          <p:cNvSpPr>
            <a:spLocks noGrp="1"/>
          </p:cNvSpPr>
          <p:nvPr>
            <p:ph type="sldNum" idx="100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D3A93E-D363-42C8-9328-370EA7F834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Sensores são tudo o que ajuda a LLM a entender se os tokens que ela produziu fazem sentido. A LLM só gera tokens e edita arquivos: não tem compilador embarcado e não executa o seu código. Nós podemos navegar no browser, olhar o banco e os logs. Pense no sensor do carro que avisa que a porta ficou aberta. Para a LLM, é o indicador de problema (ou de que tudo vai bem) para que ela se autocorrija. Cada vez que a LLM escreve algumas linhas, elas podem estar erradas e se acumular. Sem um mecanismo mínimo de detecção, nós somos o gargalo. Não faz sentido eu dizer 'tentei rodar e não funcionou', ou que a query falhou porque a coluna estava errada, a chave estrangeira não era aquela, faltava índice. Não é mais o nosso papel.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PlaceHolder 3"/>
          <p:cNvSpPr>
            <a:spLocks noGrp="1"/>
          </p:cNvSpPr>
          <p:nvPr>
            <p:ph type="sldNum" idx="101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CC0EF0-1E88-431F-A1C9-6B5247C7F49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O básico é a capacidade de executar testes automatizados: eles evitam regressão e validam se o que foi implementado funciona, retroalimentando a LLM de forma autônoma no processo agêntico. Compiladores e transpiladores, e linters, pegam erros de sintaxe e regras. O navegador (headless, ou Playwright/WebDriver via CLI) permite testar a aplicação web. Logs: monitorar a saída padrão do servidor dá feedback imediato de erros. Banco de dados: executar queries, validar planos de execução e entender tabelas grandes. Quanto mais sensores existirem, melhor: alguns são ao mesmo tempo guia e sensor (o teste, por exemplo). Os nomes das ferramentas são exemplos.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PlaceHolder 3"/>
          <p:cNvSpPr>
            <a:spLocks noGrp="1"/>
          </p:cNvSpPr>
          <p:nvPr>
            <p:ph type="sldNum" idx="102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33FC81-6BEF-4B72-B3FF-E648AFBA959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 (pode substituir ou complementar o slide de resumo do Encontro 1). O guia e o sensor juntos proporcionam o menor índice de retrabalho e a maior capacidade de paralelismo, alavancando a produtividade. Guias informam antes de o agente agir. Sensores avaliam depois. A criticidade do software define quanto rigor aplicar a cada um. Retome: o objetivo é o agente trabalhar sem supervisão. Sem guia e sem sensor, você fica no meio do caminho e perde o ganho.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3"/>
          <p:cNvSpPr>
            <a:spLocks noGrp="1"/>
          </p:cNvSpPr>
          <p:nvPr>
            <p:ph type="sldNum" idx="103"/>
          </p:nvPr>
        </p:nvSpPr>
        <p:spPr>
          <a:xfrm>
            <a:off x="4278960" y="10157400"/>
            <a:ext cx="3278880" cy="53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4C148D-8F77-42C7-8D17-386225C1F9C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sldImg"/>
          </p:nvPr>
        </p:nvSpPr>
        <p:spPr>
          <a:xfrm>
            <a:off x="-720" y="-7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um quadro em branco no Excalidraw e desenhe com a turma a estrutura do exemplo do user harness. Comece pelo pedido do usuário e pelo harness; acrescente as instruções, os arquivos selecionados e os resultados de ferramentas que entram no contexto antes de cada chamada ao modelo. Pergunte em cada etapa o que entra, quando entra e quem decide. Termine relacionando o desenho aos guias e sensores apresentados nos slides anteriores.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3"/>
          <p:cNvSpPr>
            <a:spLocks noGrp="1"/>
          </p:cNvSpPr>
          <p:nvPr>
            <p:ph type="sldNum" idx="10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Atividade de 10 minutos. Comece com “Crie um gerenciador financeiro pessoal”. Peça à turma que enumere decisões ausentes: telas, tipos de lançamento, cálculo do saldo, persistência, validações, stack e testes. Depois mostre o pedido com contexto como um recorte de implementação. Quem tiver agente testa localmente; os demais comparam a execução projetada.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Esta é a primeira iteração do pedido. A prática final retoma o mesmo produto e acrescenta spec, regras, ferramentas e revisão.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3"/>
          <p:cNvSpPr>
            <a:spLocks noGrp="1"/>
          </p:cNvSpPr>
          <p:nvPr>
            <p:ph type="sldNum" idx="10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Fechamento do primeiro encontro: a LLM gera a próxima saída em texto; o harness oferece ferramentas, verifica permissões e executa ações; context engineering seleciona as informações que chegam ao modelo. O agente usa resultados de ferramentas no próximo passo e repete o ciclo.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PlaceHolder 3"/>
          <p:cNvSpPr>
            <a:spLocks noGrp="1"/>
          </p:cNvSpPr>
          <p:nvPr>
            <p:ph type="sldNum" idx="10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Divisor do Dia 2. Abra com o recap do Dia 1 (próximo slide). Pergunta central: como damos contexto e capacidades a um agente e o colocamos para trabalhar? Percurso: rules, skills, tools e MCP, memória e subagentes, specs e a prática final.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Plano sugerido do Dia 2: 10 min revisão; 30 min rules/skills; 35 min tools/MCP/memória; 30 min intervalo; 35 min SDD; 45 min prática integrada; 10 min encerramento.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PlaceHolder 3"/>
          <p:cNvSpPr>
            <a:spLocks noGrp="1"/>
          </p:cNvSpPr>
          <p:nvPr>
            <p:ph type="sldNum" idx="10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Retomada antes da prática: peça que os participantes expliquem o papel da LLM, do harness e do contexto no gerenciador financeiro. Destaque que as três peças atuam no mesmo ciclo, e que o resultado de uma ação pode alimentar o próximo passo.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PlaceHolder 3"/>
          <p:cNvSpPr>
            <a:spLocks noGrp="1"/>
          </p:cNvSpPr>
          <p:nvPr>
            <p:ph type="sldNum" idx="10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do Encontro 2. Em vez de apresentar rules, skills e MCP como tecnologias soltas, apresente a pergunta: como damos contexto e capacidade a um agente? Cada mecanismo responde a uma parte: instruções persistentes, conhecimento e procedimentos, capacidades externas, contexto de trabalhos longos (memória e subagentes) e o trabalho a realizar (spec e plano).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PlaceHolder 3"/>
          <p:cNvSpPr>
            <a:spLocks noGrp="1"/>
          </p:cNvSpPr>
          <p:nvPr>
            <p:ph type="sldNum" idx="10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Referência: https://agents.md/ e https://github.com/agentsmd/agents.md. O formato aberto complementa o README com instruções operacionais. Exemplo didático: confirme os scripts no package.json antes de copiar os comandos. Peça ao agente que explique quais instruções está aplicando; confira a execução e o diff.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PlaceHolder 3"/>
          <p:cNvSpPr>
            <a:spLocks noGrp="1"/>
          </p:cNvSpPr>
          <p:nvPr>
            <p:ph type="sldNum" idx="1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Fonte: https://agents.md/, seções How to use e FAQ. Demonstre uma regra local para a API e outra comum na raiz. A precedência ilustrada trata de instruções do projeto; permissões e políticas do harness continuam aplicáveis. O carregamento depende do cliente e de sua configuração. AGENTS.md orienta a execução, mas testes e revisão comprovam a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1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Contraste com rules. Rules estão sempre presentes. Skills mantêm apenas nome e descrição curta no contexto; quando a tarefa combina com a descrição, o harness carrega as instruções completas. Isso economiza contexto, reduz a degradação e permite ter muitos procedimentos disponíveis.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PlaceHolder 3"/>
          <p:cNvSpPr>
            <a:spLocks noGrp="1"/>
          </p:cNvSpPr>
          <p:nvPr>
            <p:ph type="sldNum" idx="1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skill pode incluir pastas opcionais além de SKILL.md. references guarda documentação; resources reúne materiais; templates contém modelos; scripts contém código executável. Os nomes resources e templates são opções de organização, não campos obrigatórios do formato. A especificação recomenda scripts, references e assets; assets pode reunir templates e outros recursos. SKILL.md aponta para arquivos relativos à pasta da skill, e os apoios são consultados conforme a necessidade. Fonte: https://agentskills.io/specification. O exemplo usa templates/spec.md para orientar a criação da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PlaceHolder 3"/>
          <p:cNvSpPr>
            <a:spLocks noGrp="1"/>
          </p:cNvSpPr>
          <p:nvPr>
            <p:ph type="sldNum" idx="1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modelo nunca executa nada. Ele vê a descrição das tools e, quando decide usar uma, devolve um pedido estruturado. O harness executa de verdade e devolve o resultado. A qualidade da descrição influencia quando o modelo escolhe a tool. Exemplo ilustrativo e simplificado.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PlaceHolder 3"/>
          <p:cNvSpPr>
            <a:spLocks noGrp="1"/>
          </p:cNvSpPr>
          <p:nvPr>
            <p:ph type="sldNum" idx="1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Sem um padrão, cada agente precisa de uma integração com cada serviço: N vezes M. Com o Model Context Protocol, cada agente fala MCP e cada serviço expõe um servidor MCP: N mais M. Em termos práticos, um servidor MCP expõe tools que qualquer agente compatível pode usar.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PlaceHolder 3"/>
          <p:cNvSpPr>
            <a:spLocks noGrp="1"/>
          </p:cNvSpPr>
          <p:nvPr>
            <p:ph type="sldNum" idx="1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Lista curta para começar. Skills oficiais da Anthropic (repositório anthropics/skills): documentos (docx, pptx, xlsx, pdf), frontend-design, webapp-testing, mcp-builder e skill-creator. MCPs: GitHub oficial (use o modo somente leitura e limite os toolsets), Playwright da Microsoft (controla o navegador pela árvore de acessibilidade, bom para validar UI no QA), Context7 (documentação atual por versão) e os servidores de referência Fetch e Memory. Skills da sua equipe, como as do fluxo PRD até Review, costumam valer mais do que as genéricas. Cuidado: cada MCP adiciona ferramentas e contexto; instale só o que usa e com o menor escopo possível. No Claude Code, servidores de projeto ficam no .mcp.json versionado no repositório.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3"/>
          <p:cNvSpPr>
            <a:spLocks noGrp="1"/>
          </p:cNvSpPr>
          <p:nvPr>
            <p:ph type="sldNum" idx="1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contexto de uma sessão termina com ela. Para continuar depois, o agente grava notas, decisões e progresso em um arquivo e relê no início da próxima sessão. É a técnica de externalizar contexto aplicada ao trabalho de longa duração.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PlaceHolder 3"/>
          <p:cNvSpPr>
            <a:spLocks noGrp="1"/>
          </p:cNvSpPr>
          <p:nvPr>
            <p:ph type="sldNum" idx="1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agente principal delega tarefas a subagentes, cada um com sua janela de contexto. Os detalhes (arquivos lidos, tentativas) ficam no subagente; o contexto principal recebe apenas o resultado. É uma forma de gerir contexto, não de ganhar mais inteligência, e protege o contexto principal da degradação.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PlaceHolder 3"/>
          <p:cNvSpPr>
            <a:spLocks noGrp="1"/>
          </p:cNvSpPr>
          <p:nvPr>
            <p:ph type="sldNum" idx="1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desenvolvimento com agente: especificar, planejar, implementar, testar, revisar. O humano concentra esforço nas duas pontas, definir bem o trabalho e validar o resultado; o agente executa a parte central. Isso introduz o Spec Driven Development. Quanto melhor a especificação, menos retrabalho na implementação.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PlaceHolder 3"/>
          <p:cNvSpPr>
            <a:spLocks noGrp="1"/>
          </p:cNvSpPr>
          <p:nvPr>
            <p:ph type="sldNum" idx="1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o bloco de Spec Driven Development retomando o pedido vago “Crie um gerenciador financeiro pessoal”. Sem spec, o agente precisa escolher telas, tipos de lançamento, regras de saldo, persistência e testes. Com a spec, a turma revisa esse comportamento antes do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PlaceHolder 3"/>
          <p:cNvSpPr>
            <a:spLocks noGrp="1"/>
          </p:cNvSpPr>
          <p:nvPr>
            <p:ph type="sldNum" idx="1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Definição: a spec é um artefato estruturado, orientado a comportamento, que serve de fonte de verdade para humano e agente. Cuidado para não confundir com rules: as rules (AGENTS.md, CLAUDE.md) valem sempre; a spec vale para uma feature. Böckeler observa que o termo ainda é difuso e que muita gente chama de spec um prompt detalhado.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PlaceHolder 3"/>
          <p:cNvSpPr>
            <a:spLocks noGrp="1"/>
          </p:cNvSpPr>
          <p:nvPr>
            <p:ph type="sldNum" idx="1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Modelo de Rodrigo Branas (Formação em IA, pasta spec-driven-development). Seis etapas, cada uma é uma skill com um template: PRD, TechSpec, Tasks, execução de task, QA e review. As três primeiras são do humano com ajuda da IA; as três últimas a IA executa e você valida. A IA faz perguntas antes de redigir o PRD e a TechSpec e espera aprovação da lista de tasks.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seis etapas de Rodrigo Branas, usado como exemplo; SDD não exige esta sequência universal.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PlaceHolder 3"/>
          <p:cNvSpPr>
            <a:spLocks noGrp="1"/>
          </p:cNvSpPr>
          <p:nvPr>
            <p:ph type="sldNum" idx="1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Mostre a ligação entre os documentos no gerenciador financeiro. PRD: critérios CA-01 e CA-02 para valor positivo e zero. TechSpec: testes TI-01 e TI-02 para a rota de lançamentos. Tasks: contrato da API, formulário/API e testes/saldo. Os trechos são adaptados do material do Branas.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PlaceHolder 3"/>
          <p:cNvSpPr>
            <a:spLocks noGrp="1"/>
          </p:cNvSpPr>
          <p:nvPr>
            <p:ph type="sldNum" idx="1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Rastreabilidade: o critério de aceitação do PRD é o fio condutor. A TechSpec associa casos de teste a cada critério, as tasks referenciam esses casos, o código traz os testes e o QA só aprova quando todo critério foi verificado, com evidências salvas na pasta evidences. É isso que torna a revisão possível: você confere critérios, não só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PlaceHolder 3"/>
          <p:cNvSpPr>
            <a:spLocks noGrp="1"/>
          </p:cNvSpPr>
          <p:nvPr>
            <p:ph type="sldNum" idx="1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Quando usar: o GitHub aponta projeto novo, feature em sistema existente (o caso mais poderoso) e modernização de legado. O spec-driven.md acrescenta cenários com requisitos que mudam. Quando evitar: Böckeler relata que o Kiro transformou um bug em 4 histórias e 16 critérios, que ela chamou de marreta para quebrar uma noz, e que o spec-kit foi exagero para uma feature de 3 a 5 pontos. Ajuste o tamanho do processo ao tamanho do problema.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PlaceHolder 3"/>
          <p:cNvSpPr>
            <a:spLocks noGrp="1"/>
          </p:cNvSpPr>
          <p:nvPr>
            <p:ph type="sldNum" idx="1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 prática do processo: devo limpar a janela de contexto entre as tasks? Na medição do Branas com 5 tasks, rodar cada uma isolada somou 650k e 16M de cache; rodar todas em sequência somou 240k e 10M de cache. Vantagens de não limpar: reuso de cache e menos releitura. Desvantagens: contexto maior, compactação, mais tempo de inferência e mistura de skills. É uma medição de um caso, não uma regra geral; o ponto é decidir com dados.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Material de apoio: esta medição é um experimento específico do autor. Não gastar tempo de aula com números de tokens se a prática estiver apertada.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PlaceHolder 3"/>
          <p:cNvSpPr>
            <a:spLocks noGrp="1"/>
          </p:cNvSpPr>
          <p:nvPr>
            <p:ph type="sldNum" idx="1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Limites, segundo Böckeler: specs verbosas e repetitivas são cansativas de revisar; agentes ignoram instruções e dão falsa sensação de controle; a mesma spec pode gerar códigos diferentes. Por isso a validação continua sendo por testes e critérios de aceite, o assunto do próximo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PlaceHolder 3"/>
          <p:cNvSpPr>
            <a:spLocks noGrp="1"/>
          </p:cNvSpPr>
          <p:nvPr>
            <p:ph type="sldNum" idx="1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Agentes podem afirmar com segurança algo errado e podem passar nos testes errados. O fluxo saudável é: o agente produz uma mudança, você lê o diff, os testes e critérios de aceite rodam, e você aceita ou devolve com feedback. A spec e os critérios de aceite do slide anterior tornam essa revisão objetiva.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PlaceHolder 3"/>
          <p:cNvSpPr>
            <a:spLocks noGrp="1"/>
          </p:cNvSpPr>
          <p:nvPr>
            <p:ph type="sldNum" idx="1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Tabela de síntese do dia, depois de specs e revisão. Rules: sempre no contexto, para o que nunca muda. Skills: sob demanda, para procedimentos reutilizáveis. Tools e MCP: quando o modelo as chama, para agir fora do modelo. Spec e plano: durante a tarefa, para dizer o que construir agora. Memória: relida no início da sessão, para continuar entre sessões. Subagentes: só o resumo volta, para isolar tarefas em contextos próprios. Em seguida vem a prática final, que usa todos eles.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PlaceHolder 3"/>
          <p:cNvSpPr>
            <a:spLocks noGrp="1"/>
          </p:cNvSpPr>
          <p:nvPr>
            <p:ph type="sldNum" idx="1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da prática principal. Entregue o pedido propositalmente vago “Crie um gerenciador financeiro pessoal”. Pergunte se o agente tem contexto suficiente. A turma deve levantar telas, tipos de lançamento, validações, cálculo do saldo, persistência, testes e convenções. Registre as perguntas: elas alimentam 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3"/>
          <p:cNvSpPr>
            <a:spLocks noGrp="1"/>
          </p:cNvSpPr>
          <p:nvPr>
            <p:ph type="sldNum" idx="1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Prática 1: escreva AGENTS.md na raiz usando comandos reais do projeto. Peça ao agente que identifique o guia aplicável. Depois conecte os MCPs escolhidos, confira ferramentas e instale a skill fornecida. Evidência: guia reconhecido, checks executáveis, conexão funcionando e skill disponível. Fonte para AGENTS.md: https://agents.md/.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PlaceHolder 3"/>
          <p:cNvSpPr>
            <a:spLocks noGrp="1"/>
          </p:cNvSpPr>
          <p:nvPr>
            <p:ph type="sldNum" idx="1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Segundo slide de prática. Use o projeto configurado no slide anterior e a skill pronta fornecida pelo instrutor para conduzir o fluxo proposto. PRD: definir o comportamento e critérios para receitas, despesas e saldo mensal. Spec: decidir implementação e testes. Tasks: dividir o trabalho em etapas executáveis. Revise PRD, spec e tasks antes de pedir a execução. Em seguida, o agente implementa as tasks. QA: testar os critérios e registrar evidências. Review: ler o diff, avaliar a mudança e aceitar ou devolver feedback. A implementação acontece entre Tasks e QA. Os nomes de arquivo no slide são ilustrativos; siga os templates da skill fornecida.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PlaceHolder 3"/>
          <p:cNvSpPr>
            <a:spLocks noGrp="1"/>
          </p:cNvSpPr>
          <p:nvPr>
            <p:ph type="sldNum" idx="1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Feche retomando a mensagem central: o contexto orienta o modelo, o harness permite ações com ferramentas e a pessoa continua responsável por definir o trabalho e validar a entrega. Agradeça à turma.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PlaceHolder 3"/>
          <p:cNvSpPr>
            <a:spLocks noGrp="1"/>
          </p:cNvSpPr>
          <p:nvPr>
            <p:ph type="sldNum" idx="1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DB56484-D9B7-449A-95C7-09C5BCDDE6D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Divis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EF7232-28CB-4137-8A05-CDC4AD75B68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Ab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970292-9BD3-4749-ABF8-0DE578BA3E7F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3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7000" cy="19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8CBCC1-738A-4FFB-BFF7-501DF529896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548640" y="6400800"/>
            <a:ext cx="5483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7000" cy="19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C5AA93-995C-4647-86BF-B4CB11C010D8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/>
          <p:cNvPicPr/>
          <p:nvPr/>
        </p:nvPicPr>
        <p:blipFill>
          <a:blip r:embed="rId2"/>
          <a:stretch/>
        </p:blipFill>
        <p:spPr>
          <a:xfrm>
            <a:off x="640080" y="5806440"/>
            <a:ext cx="2315160" cy="45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6400800"/>
            <a:ext cx="5483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7000" cy="19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sldNum" idx="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A16C-41EF-44F2-A919-103A1EE348EC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40080" y="1097280"/>
            <a:ext cx="5483520" cy="255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Agentes de IA:  fundamentos, arquitetura e prática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40080" y="4114800"/>
            <a:ext cx="548352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Thiago Siqueira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dois encontros, vamos sair de como um agente funciona para como trabalhar com ele.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548640" y="2148840"/>
            <a:ext cx="3380400" cy="31975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2"/>
          <p:cNvSpPr/>
          <p:nvPr/>
        </p:nvSpPr>
        <p:spPr>
          <a:xfrm>
            <a:off x="822960" y="2423160"/>
            <a:ext cx="28317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Encontro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822960" y="2880360"/>
            <a:ext cx="283176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  →  Harness  →  Contexto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822960" y="4069080"/>
            <a:ext cx="28317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Como agentes funcionam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822960" y="4754880"/>
            <a:ext cx="28317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Modelo, harness e context engineering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4005000" y="3337560"/>
            <a:ext cx="31068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7"/>
          <p:cNvSpPr/>
          <p:nvPr/>
        </p:nvSpPr>
        <p:spPr>
          <a:xfrm>
            <a:off x="4389120" y="2148840"/>
            <a:ext cx="3380400" cy="31975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8"/>
          <p:cNvSpPr/>
          <p:nvPr/>
        </p:nvSpPr>
        <p:spPr>
          <a:xfrm>
            <a:off x="4663440" y="2423160"/>
            <a:ext cx="28317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Encontro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4663440" y="2880360"/>
            <a:ext cx="283176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· Skills · MCP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0"/>
          <p:cNvSpPr/>
          <p:nvPr/>
        </p:nvSpPr>
        <p:spPr>
          <a:xfrm>
            <a:off x="4663440" y="4069080"/>
            <a:ext cx="28317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Como trabalhar com agentes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4663440" y="4754880"/>
            <a:ext cx="28317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Instruções, conhecimento, ferramentas e specs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7845480" y="3337560"/>
            <a:ext cx="31068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8229600" y="2148840"/>
            <a:ext cx="3380400" cy="31975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8503920" y="2423160"/>
            <a:ext cx="28317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Prática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8503920" y="2880360"/>
            <a:ext cx="2831760" cy="91152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Pedido vago → processo estruturado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8503920" y="4069080"/>
            <a:ext cx="28317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 ideia à entrega verificável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8503920" y="4754880"/>
            <a:ext cx="28317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Contexto, critérios, plano, execução e revisão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66909B-026D-4E96-B539-AA79ECB68B0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Ao final, você vai entender por que o contexto define a qualidade do agente e como entregá-lo.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48640" y="2103120"/>
            <a:ext cx="4934880" cy="228312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Entender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Por que o mesmo agente dá respostas melhores quando recebe as informações certas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675120" y="2103120"/>
            <a:ext cx="4934880" cy="228312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Saber usar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Rules, skills, MCP e specs para dar contexto e capacidade ao agente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5623560" y="324612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4"/>
          <p:cNvSpPr/>
          <p:nvPr/>
        </p:nvSpPr>
        <p:spPr>
          <a:xfrm>
            <a:off x="548640" y="4846320"/>
            <a:ext cx="110613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razão vem antes da ferramenta: quem entende o porquê escolhe melhor o como.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8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3A4410-84D0-44CD-97C8-151B1FC0F87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ceberg IA" descr="Iceberg com quatro camadas: ferramentas acima da linha d’água; modelos, harness e contexto (foco do curso) e fundamentos abaixo"/>
          <p:cNvPicPr/>
          <p:nvPr/>
        </p:nvPicPr>
        <p:blipFill>
          <a:blip r:embed="rId1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4897800" cy="1697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Ferramentas são só a ponta do iceberg.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9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8673B6-2605-4053-B830-AADF9331D24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Cinco modos de usar IA ilustram diferentes níveis de delegação.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Text 1"/>
          <p:cNvSpPr/>
          <p:nvPr/>
        </p:nvSpPr>
        <p:spPr>
          <a:xfrm>
            <a:off x="54864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L0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Manual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25966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3"/>
          <p:cNvSpPr/>
          <p:nvPr/>
        </p:nvSpPr>
        <p:spPr>
          <a:xfrm>
            <a:off x="281196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Copiar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4"/>
          <p:cNvSpPr/>
          <p:nvPr/>
        </p:nvSpPr>
        <p:spPr>
          <a:xfrm>
            <a:off x="486000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5"/>
          <p:cNvSpPr/>
          <p:nvPr/>
        </p:nvSpPr>
        <p:spPr>
          <a:xfrm>
            <a:off x="507492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Assistir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6"/>
          <p:cNvSpPr/>
          <p:nvPr/>
        </p:nvSpPr>
        <p:spPr>
          <a:xfrm>
            <a:off x="712296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7"/>
          <p:cNvSpPr/>
          <p:nvPr/>
        </p:nvSpPr>
        <p:spPr>
          <a:xfrm>
            <a:off x="733824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Delegar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8"/>
          <p:cNvSpPr/>
          <p:nvPr/>
        </p:nvSpPr>
        <p:spPr>
          <a:xfrm>
            <a:off x="93862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 9"/>
          <p:cNvSpPr/>
          <p:nvPr/>
        </p:nvSpPr>
        <p:spPr>
          <a:xfrm>
            <a:off x="960120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Automatizar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0"/>
          <p:cNvSpPr/>
          <p:nvPr/>
        </p:nvSpPr>
        <p:spPr>
          <a:xfrm>
            <a:off x="548640" y="4389120"/>
            <a:ext cx="427464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548640" y="4498920"/>
            <a:ext cx="42721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Execução humana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5074920" y="4389120"/>
            <a:ext cx="4274640" cy="360"/>
          </a:xfrm>
          <a:prstGeom prst="line">
            <a:avLst/>
          </a:prstGeom>
          <a:ln w="254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13"/>
          <p:cNvSpPr/>
          <p:nvPr/>
        </p:nvSpPr>
        <p:spPr>
          <a:xfrm>
            <a:off x="5074920" y="4498920"/>
            <a:ext cx="42721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IA executa com direção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4"/>
          <p:cNvSpPr/>
          <p:nvPr/>
        </p:nvSpPr>
        <p:spPr>
          <a:xfrm>
            <a:off x="9601200" y="4389120"/>
            <a:ext cx="201168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9601200" y="4498920"/>
            <a:ext cx="20088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Fluxo autônomo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ldNum" idx="10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79ABE5-8152-41F1-98CD-1554E5C2712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 primeiro encontro, vamos entender como uma LLM se transforma em um agente.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48640" y="2103120"/>
            <a:ext cx="3837600" cy="12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Dia 1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548640" y="3429000"/>
            <a:ext cx="38376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18:45 às 22:00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5120640" y="234072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LLM e agente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120640" y="318204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5120640" y="402336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Context 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5120640" y="486468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 Prática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1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130532-4534-44B9-BF7B-B20B9E6A393B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83% usam ao menos uma ferramenta de IA no trabalho.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1"/>
          <p:cNvSpPr/>
          <p:nvPr/>
        </p:nvSpPr>
        <p:spPr>
          <a:xfrm>
            <a:off x="548640" y="2103120"/>
            <a:ext cx="4934880" cy="228312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83%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usam ao menos uma ferramenta de IA em seu trabalho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6675120" y="2103120"/>
            <a:ext cx="4934880" cy="228312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66%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usam assistentes ou agentes de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623560" y="324612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48640" y="4846320"/>
            <a:ext cx="110613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Stack Overflow Developer Survey 2026 · n = 17.464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1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2E2865-C1DA-4F04-B009-EF5E63048C6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LLM é um modelo que gera texto a partir do texto que recebe.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1"/>
          <p:cNvSpPr/>
          <p:nvPr/>
        </p:nvSpPr>
        <p:spPr>
          <a:xfrm>
            <a:off x="548640" y="2286000"/>
            <a:ext cx="3654720" cy="16430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é saldo mensal?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029200" y="2286000"/>
            <a:ext cx="2008800" cy="16430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7863840" y="2286000"/>
            <a:ext cx="3746160" cy="16430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É a diferença entre receitas e despesas do mês.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4297680" y="3108960"/>
            <a:ext cx="6400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7132320" y="3108960"/>
            <a:ext cx="6400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6"/>
          <p:cNvSpPr/>
          <p:nvPr/>
        </p:nvSpPr>
        <p:spPr>
          <a:xfrm>
            <a:off x="548640" y="4069080"/>
            <a:ext cx="3654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texto entra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7863840" y="4069080"/>
            <a:ext cx="3746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texto sai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548640" y="5029200"/>
            <a:ext cx="110613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1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7C6FFC-ACA7-460D-A564-3C2C6C8A509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não lê palavras: ele recebe uma sequência de tokens.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548640" y="1691640"/>
            <a:ext cx="54835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você vê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548640" y="2148840"/>
            <a:ext cx="1734480" cy="7286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Agentes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2468880" y="2148840"/>
            <a:ext cx="820080" cy="7286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3474720" y="2148840"/>
            <a:ext cx="820080" cy="7286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4480560" y="2148840"/>
            <a:ext cx="1917360" cy="7286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executam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6583680" y="2148840"/>
            <a:ext cx="1643040" cy="7286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tarefas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7"/>
          <p:cNvSpPr/>
          <p:nvPr/>
        </p:nvSpPr>
        <p:spPr>
          <a:xfrm>
            <a:off x="4114800" y="3063240"/>
            <a:ext cx="360" cy="64008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4297680" y="3154680"/>
            <a:ext cx="27403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tokenização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48640" y="3703320"/>
            <a:ext cx="54835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o modelo recebe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48640" y="4160520"/>
            <a:ext cx="728640" cy="7286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353240" y="4160520"/>
            <a:ext cx="1094400" cy="7286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entes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2523600" y="4160520"/>
            <a:ext cx="728640" cy="7286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3328560" y="4160520"/>
            <a:ext cx="728640" cy="7286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4133160" y="4160520"/>
            <a:ext cx="1002960" cy="7286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exec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212080" y="4160520"/>
            <a:ext cx="1094400" cy="7286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utam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6382440" y="4160520"/>
            <a:ext cx="1460160" cy="7286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tarefas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7918560" y="4160520"/>
            <a:ext cx="545760" cy="72864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548640" y="5257800"/>
            <a:ext cx="11061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Custo, limites e janela de contexto são medidos em tokens.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548640" y="5760720"/>
            <a:ext cx="11061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Divisão ilustrativa: cada modelo usa seu próprio tokenizador.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1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A19142-9CF0-4457-8E8F-3D0E6B4F04E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LLM gera um token de cada vez e repete a previsão.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48640" y="2606040"/>
            <a:ext cx="1825920" cy="16430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548640" y="4389120"/>
            <a:ext cx="1825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capital da França 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2377440" y="2606040"/>
            <a:ext cx="47736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2857680" y="2606040"/>
            <a:ext cx="1825920" cy="16430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Próximo token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2857680" y="4389120"/>
            <a:ext cx="1825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Paris 91% · demais 9%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4686480" y="2606040"/>
            <a:ext cx="47736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5166360" y="2606040"/>
            <a:ext cx="1825920" cy="16430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Escolha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5166360" y="4389120"/>
            <a:ext cx="1825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Paris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6995160" y="2606040"/>
            <a:ext cx="47736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7475400" y="2606040"/>
            <a:ext cx="1825920" cy="16430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Novo 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1"/>
          <p:cNvSpPr/>
          <p:nvPr/>
        </p:nvSpPr>
        <p:spPr>
          <a:xfrm>
            <a:off x="7475400" y="4389120"/>
            <a:ext cx="1825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capital da França é Paris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9304200" y="2606040"/>
            <a:ext cx="47736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9784080" y="2606040"/>
            <a:ext cx="1825920" cy="16430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Repete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9784080" y="4389120"/>
            <a:ext cx="18259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até concluir a resposta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ldNum" idx="15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665E76-F250-4B50-B04E-BD2D818B6AD0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10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modelo de raciocínio gera tokens de pensamento antes de dar a resposta final.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548640" y="192024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 raciocínio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548640" y="2377440"/>
            <a:ext cx="210024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Pergunta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3200400" y="2377440"/>
            <a:ext cx="1551600" cy="91152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9509760" y="2377440"/>
            <a:ext cx="210024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2743200" y="283464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4846320" y="2834640"/>
            <a:ext cx="45720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548640" y="3657600"/>
            <a:ext cx="45691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Com raciocínio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548640" y="4114800"/>
            <a:ext cx="210024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Pergunta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200400" y="4114800"/>
            <a:ext cx="1551600" cy="91152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9509760" y="4114800"/>
            <a:ext cx="210024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274320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5303520" y="4114800"/>
            <a:ext cx="3654720" cy="911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tokens de raciocínio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484632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905256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548640" y="5394960"/>
            <a:ext cx="110613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tratamento e a cobrança desses tokens variam conforme o modelo e a API.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16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6FDEEE-DCEF-4157-AB05-AA518DAC8600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níveis de esforço, de low a max, trocam qualidade de raciocínio por custo e latência.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548640" y="1920240"/>
            <a:ext cx="2063520" cy="114012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548640" y="3200400"/>
            <a:ext cx="20635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tarefas rápidas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2797920" y="1920240"/>
            <a:ext cx="2063520" cy="114012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medium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2797920" y="3200400"/>
            <a:ext cx="20635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uso geral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5047560" y="1920240"/>
            <a:ext cx="2063520" cy="1140120"/>
          </a:xfrm>
          <a:prstGeom prst="roundRect">
            <a:avLst>
              <a:gd name="adj" fmla="val 64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high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6"/>
          <p:cNvSpPr/>
          <p:nvPr/>
        </p:nvSpPr>
        <p:spPr>
          <a:xfrm>
            <a:off x="5047560" y="3200400"/>
            <a:ext cx="20635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problemas difíceis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7296840" y="1920240"/>
            <a:ext cx="2063520" cy="114012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xhigh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7296840" y="3200400"/>
            <a:ext cx="20635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tarefas longas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9546480" y="1920240"/>
            <a:ext cx="2063520" cy="114012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max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0"/>
          <p:cNvSpPr/>
          <p:nvPr/>
        </p:nvSpPr>
        <p:spPr>
          <a:xfrm>
            <a:off x="9546480" y="3200400"/>
            <a:ext cx="20635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maior gasto de tokens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548640" y="4160520"/>
            <a:ext cx="1106424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548640" y="4297680"/>
            <a:ext cx="11061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mais raciocínio, mais custo e mais latência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548640" y="5074920"/>
            <a:ext cx="11061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níveis disponíveis variam por modelo e provedor.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548640" y="5852160"/>
            <a:ext cx="11061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Fontes: documentação de reasoning da OpenAI; documentação de effort da Anthropic.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1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6FF1EC-86A6-4ED7-B6D7-80225780563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Modelos atuais para codificação combinam contexto amplo com preços muito diferentes.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68" name="Table 0"/>
          <p:cNvGraphicFramePr/>
          <p:nvPr/>
        </p:nvGraphicFramePr>
        <p:xfrm>
          <a:off x="548640" y="1828800"/>
          <a:ext cx="11063880" cy="4095000"/>
        </p:xfrm>
        <a:graphic>
          <a:graphicData uri="http://schemas.openxmlformats.org/drawingml/2006/table">
            <a:tbl>
              <a:tblPr/>
              <a:tblGrid>
                <a:gridCol w="3063240"/>
                <a:gridCol w="2240280"/>
                <a:gridCol w="1371600"/>
                <a:gridCol w="2194560"/>
                <a:gridCol w="2194560"/>
              </a:tblGrid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FABRICANTE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CONTEXTO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ENTRADA / 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SAÍDA / 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Claude Opus 5.5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Anthropic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US$ 4,00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Claude Sonnet 5.5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Anthropic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 Astra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US$ 50,00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GPT-6.1 Sol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 Luna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US$ 0,50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Gemini 3.8 Flash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US$ 0,75*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US$ 3,75*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9" name="PlaceHolder 2"/>
          <p:cNvSpPr>
            <a:spLocks noGrp="1"/>
          </p:cNvSpPr>
          <p:nvPr>
            <p:ph type="sldNum" idx="18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FFA266-993A-4987-A898-833407080212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reço e data"/>
          <p:cNvSpPr/>
          <p:nvPr/>
        </p:nvSpPr>
        <p:spPr>
          <a:xfrm>
            <a:off x="548640" y="5989320"/>
            <a:ext cx="11061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Preços padrão por 1M tokens · consulta em outubro de 2026 · Gemini: valor introdutório.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só trabalha com o que está na janela de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Shape 1"/>
          <p:cNvSpPr/>
          <p:nvPr/>
        </p:nvSpPr>
        <p:spPr>
          <a:xfrm>
            <a:off x="548640" y="1783080"/>
            <a:ext cx="6215040" cy="4340520"/>
          </a:xfrm>
          <a:prstGeom prst="roundRect">
            <a:avLst>
              <a:gd name="adj" fmla="val 1684"/>
            </a:avLst>
          </a:prstGeom>
          <a:solidFill>
            <a:schemeClr val="bg1"/>
          </a:solidFill>
          <a:ln w="317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822960" y="1920240"/>
            <a:ext cx="54835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Janela de contexto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822960" y="2468880"/>
            <a:ext cx="5666400" cy="682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Instruções do sistema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822960" y="3355920"/>
            <a:ext cx="5666400" cy="682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Histórico da conversa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822960" y="4242960"/>
            <a:ext cx="5666400" cy="682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Arquivos que foram lidos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822960" y="5129640"/>
            <a:ext cx="5666400" cy="682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Pedido atual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7406640" y="1920240"/>
            <a:ext cx="4203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modelo não vê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7406640" y="2468880"/>
            <a:ext cx="4203360" cy="682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Resto do repositório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7406640" y="3355920"/>
            <a:ext cx="4203360" cy="682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Conversas antigas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7406640" y="4242960"/>
            <a:ext cx="4203360" cy="682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Documentação não carregada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1"/>
          <p:cNvSpPr/>
          <p:nvPr/>
        </p:nvSpPr>
        <p:spPr>
          <a:xfrm>
            <a:off x="7406640" y="5129640"/>
            <a:ext cx="420336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está fora da janela não existe para o modelo.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ldNum" idx="19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CC5282-FB42-46D9-A6FC-5584D2115C8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14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cada chamada, o modelo recebe apenas o contexto enviado pela aplicação.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548640" y="1783080"/>
            <a:ext cx="264960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Chamada 1 label"/>
          <p:cNvSpPr/>
          <p:nvPr/>
        </p:nvSpPr>
        <p:spPr>
          <a:xfrm>
            <a:off x="548640" y="2331720"/>
            <a:ext cx="4597920" cy="41796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Chamada 1 pedido"/>
          <p:cNvSpPr/>
          <p:nvPr/>
        </p:nvSpPr>
        <p:spPr>
          <a:xfrm>
            <a:off x="548640" y="2788920"/>
            <a:ext cx="4597920" cy="8208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“Meu nome é Thiago.”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Chamada 1 seta"/>
          <p:cNvCxnSpPr/>
          <p:nvPr/>
        </p:nvCxnSpPr>
        <p:spPr>
          <a:xfrm>
            <a:off x="2848320" y="3680280"/>
            <a:ext cx="2160" cy="32220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189" name="Chamada 2 label"/>
          <p:cNvSpPr/>
          <p:nvPr/>
        </p:nvSpPr>
        <p:spPr>
          <a:xfrm>
            <a:off x="7012080" y="2331720"/>
            <a:ext cx="4597920" cy="41796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hamada 2 pedido"/>
          <p:cNvSpPr/>
          <p:nvPr/>
        </p:nvSpPr>
        <p:spPr>
          <a:xfrm>
            <a:off x="7012080" y="2788920"/>
            <a:ext cx="4597920" cy="8208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“Qual é o meu nome?”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91" name="Chamada 2 seta"/>
          <p:cNvCxnSpPr/>
          <p:nvPr/>
        </p:nvCxnSpPr>
        <p:spPr>
          <a:xfrm>
            <a:off x="9312120" y="3680280"/>
            <a:ext cx="2160" cy="32220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192" name="Resposta 1"/>
          <p:cNvSpPr/>
          <p:nvPr/>
        </p:nvSpPr>
        <p:spPr>
          <a:xfrm>
            <a:off x="548640" y="4069080"/>
            <a:ext cx="4597920" cy="729360"/>
          </a:xfrm>
          <a:prstGeom prst="roundRect">
            <a:avLst>
              <a:gd name="adj" fmla="val 6667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 do modelo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sposta 2"/>
          <p:cNvSpPr/>
          <p:nvPr/>
        </p:nvSpPr>
        <p:spPr>
          <a:xfrm>
            <a:off x="7012080" y="4069080"/>
            <a:ext cx="4597920" cy="72936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Resposta do modelo: 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Divisor"/>
          <p:cNvCxnSpPr/>
          <p:nvPr/>
        </p:nvCxnSpPr>
        <p:spPr>
          <a:xfrm>
            <a:off x="6095880" y="2331720"/>
            <a:ext cx="2160" cy="2471040"/>
          </a:xfrm>
          <a:prstGeom prst="straightConnector1">
            <a:avLst/>
          </a:prstGeom>
          <a:ln w="19050">
            <a:solidFill>
              <a:srgbClr val="666666"/>
            </a:solidFill>
            <a:prstDash val="dash"/>
            <a:round/>
          </a:ln>
        </p:spPr>
      </p:cxnSp>
      <p:sp>
        <p:nvSpPr>
          <p:cNvPr id="195" name="Divisor label"/>
          <p:cNvSpPr/>
          <p:nvPr/>
        </p:nvSpPr>
        <p:spPr>
          <a:xfrm>
            <a:off x="5226120" y="3200400"/>
            <a:ext cx="1737720" cy="7178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nada é guardado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entre as chamadas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548640" y="5120640"/>
            <a:ext cx="110613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guarda o histórico: o modelo ou quem chama a API?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sldNum" idx="20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D3EA27-C503-47FB-8C9A-5F77B0C0D0D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Mesmo nos modelos recentes, achar a informação certa fica mais difícil quanto maior o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9" name="Chart 0"/>
          <p:cNvGraphicFramePr/>
          <p:nvPr/>
        </p:nvGraphicFramePr>
        <p:xfrm>
          <a:off x="457200" y="1645920"/>
          <a:ext cx="8135280" cy="420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0" name="Text 1"/>
          <p:cNvSpPr/>
          <p:nvPr/>
        </p:nvSpPr>
        <p:spPr>
          <a:xfrm>
            <a:off x="8961120" y="2377440"/>
            <a:ext cx="26488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GPT-5.4 cai de 97,3% para 36,6%.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"/>
          <p:cNvSpPr/>
          <p:nvPr/>
        </p:nvSpPr>
        <p:spPr>
          <a:xfrm>
            <a:off x="8961120" y="3657600"/>
            <a:ext cx="26488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GPT-5.5 cai de 98,1% para 74,0%.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548640" y="5943600"/>
            <a:ext cx="11061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OpenAI, “Introducing GPT-5.5” (abril de 2026), OpenAI MRCR v2 8-needle.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21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722B0D-909D-48A7-9DA0-2B79C73918FC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16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Sozinha, a LLM só troca texto: não acessa arquivos, terminal nem internet.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548640" y="3337560"/>
            <a:ext cx="2374560" cy="10944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Texto entra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3017520" y="388620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4023360" y="2971800"/>
            <a:ext cx="2557440" cy="182592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gera texto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4"/>
          <p:cNvSpPr/>
          <p:nvPr/>
        </p:nvSpPr>
        <p:spPr>
          <a:xfrm>
            <a:off x="8229600" y="1965960"/>
            <a:ext cx="3380400" cy="77436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Arquivos do projeto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8229600" y="2788920"/>
            <a:ext cx="33804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6"/>
          <p:cNvSpPr/>
          <p:nvPr/>
        </p:nvSpPr>
        <p:spPr>
          <a:xfrm flipV="1">
            <a:off x="6675120" y="2354400"/>
            <a:ext cx="1463040" cy="153180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7"/>
          <p:cNvSpPr/>
          <p:nvPr/>
        </p:nvSpPr>
        <p:spPr>
          <a:xfrm>
            <a:off x="8229600" y="3429000"/>
            <a:ext cx="3380400" cy="77436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Terminal e testes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8229600" y="4251960"/>
            <a:ext cx="33804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9"/>
          <p:cNvSpPr/>
          <p:nvPr/>
        </p:nvSpPr>
        <p:spPr>
          <a:xfrm flipV="1">
            <a:off x="6675120" y="3817440"/>
            <a:ext cx="1463040" cy="6876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3760" rIns="90000" bIns="2376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 10"/>
          <p:cNvSpPr/>
          <p:nvPr/>
        </p:nvSpPr>
        <p:spPr>
          <a:xfrm>
            <a:off x="8229600" y="4892040"/>
            <a:ext cx="3380400" cy="77436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APIs e internet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8229600" y="5715000"/>
            <a:ext cx="33804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2"/>
          <p:cNvSpPr/>
          <p:nvPr/>
        </p:nvSpPr>
        <p:spPr>
          <a:xfrm>
            <a:off x="6675120" y="3886200"/>
            <a:ext cx="1463040" cy="139428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2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60CD7E-DEA0-48E1-986A-E105E903780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pede ler_arquivo; o programa lê o arquivo e devolve o conteúdo.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548640" y="1783080"/>
            <a:ext cx="264960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Chamada 1 label"/>
          <p:cNvSpPr/>
          <p:nvPr/>
        </p:nvSpPr>
        <p:spPr>
          <a:xfrm>
            <a:off x="548640" y="2331720"/>
            <a:ext cx="4597920" cy="41796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1 · OpenRouter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Chamada 1 pedido"/>
          <p:cNvSpPr/>
          <p:nvPr/>
        </p:nvSpPr>
        <p:spPr>
          <a:xfrm>
            <a:off x="548640" y="2788920"/>
            <a:ext cx="4597920" cy="8208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“Leia codigo.txt com ler_arquivo.”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22" name="Chamada 1 seta"/>
          <p:cNvCxnSpPr/>
          <p:nvPr/>
        </p:nvCxnSpPr>
        <p:spPr>
          <a:xfrm>
            <a:off x="2848320" y="3680280"/>
            <a:ext cx="2160" cy="32220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223" name="Chamada 2 label"/>
          <p:cNvSpPr/>
          <p:nvPr/>
        </p:nvSpPr>
        <p:spPr>
          <a:xfrm>
            <a:off x="7012080" y="2331720"/>
            <a:ext cx="4597920" cy="41796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2 · OpenRouter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hamada 2 pedido"/>
          <p:cNvSpPr/>
          <p:nvPr/>
        </p:nvSpPr>
        <p:spPr>
          <a:xfrm>
            <a:off x="7012080" y="2788920"/>
            <a:ext cx="4597920" cy="8208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tool: código lido do arquivo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25" name="Chamada 2 seta"/>
          <p:cNvCxnSpPr/>
          <p:nvPr/>
        </p:nvCxnSpPr>
        <p:spPr>
          <a:xfrm>
            <a:off x="9312120" y="3680280"/>
            <a:ext cx="2160" cy="32220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226" name="Resposta 1"/>
          <p:cNvSpPr/>
          <p:nvPr/>
        </p:nvSpPr>
        <p:spPr>
          <a:xfrm>
            <a:off x="548640" y="4069080"/>
            <a:ext cx="4597920" cy="729360"/>
          </a:xfrm>
          <a:prstGeom prst="roundRect">
            <a:avLst>
              <a:gd name="adj" fmla="val 6667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Modelo pede ler_arquivo(caminho)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sposta 2"/>
          <p:cNvSpPr/>
          <p:nvPr/>
        </p:nvSpPr>
        <p:spPr>
          <a:xfrm>
            <a:off x="7012080" y="4069080"/>
            <a:ext cx="4597920" cy="72936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Modelo responde com o 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8" name="Divisor"/>
          <p:cNvCxnSpPr/>
          <p:nvPr/>
        </p:nvCxnSpPr>
        <p:spPr>
          <a:xfrm>
            <a:off x="6095880" y="2331720"/>
            <a:ext cx="2160" cy="2471040"/>
          </a:xfrm>
          <a:prstGeom prst="straightConnector1">
            <a:avLst/>
          </a:prstGeom>
          <a:ln w="19050">
            <a:solidFill>
              <a:srgbClr val="666666"/>
            </a:solidFill>
            <a:prstDash val="dash"/>
            <a:round/>
          </a:ln>
        </p:spPr>
      </p:cxnSp>
      <p:sp>
        <p:nvSpPr>
          <p:cNvPr id="229" name="Divisor label"/>
          <p:cNvSpPr/>
          <p:nvPr/>
        </p:nvSpPr>
        <p:spPr>
          <a:xfrm>
            <a:off x="5226120" y="3200400"/>
            <a:ext cx="1737720" cy="7178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programa executa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readFile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548640" y="5120640"/>
            <a:ext cx="110613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leu o arquivo: o modelo ou o programa?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2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82B080-FA94-4797-8923-03E501698092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Chatbot prioriza a conversa; agente organiza ações para atingir um objetivo.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548640" y="2103120"/>
          <a:ext cx="7863480" cy="362016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603360">
                <a:tc>
                  <a:txBody>
                    <a:bodyPr lIns="137160" rIns="13716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LLM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Chatbot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Agente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Gera texto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Mantém uma conversa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Usa ferramentas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Age em várias etapas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Persegue um objetivo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234" name="Text 1"/>
          <p:cNvSpPr/>
          <p:nvPr/>
        </p:nvSpPr>
        <p:spPr>
          <a:xfrm>
            <a:off x="8869680" y="3291840"/>
            <a:ext cx="2740320" cy="18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Um chatbot também pode usar ferramentas e agir como agente.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ldNum" idx="2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D8D5A9-6101-4E36-9404-E9D6B1C8DD2E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agente funciona em um ciclo: observa, decide, age e verifica o resultado.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1005840" y="1828800"/>
            <a:ext cx="420336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Observa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lê o contexto e os resultados anteriores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"/>
          <p:cNvSpPr/>
          <p:nvPr/>
        </p:nvSpPr>
        <p:spPr>
          <a:xfrm>
            <a:off x="6949440" y="1828800"/>
            <a:ext cx="4203360" cy="136872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Decide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modelo escolhe a próxima ação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6949440" y="4434840"/>
            <a:ext cx="420336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chama uma ferramenta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1005840" y="4434840"/>
            <a:ext cx="420336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Verifica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resultado volta ao contexto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5"/>
          <p:cNvSpPr/>
          <p:nvPr/>
        </p:nvSpPr>
        <p:spPr>
          <a:xfrm>
            <a:off x="5303520" y="2514600"/>
            <a:ext cx="15544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2" name="Shape 6"/>
          <p:cNvSpPr/>
          <p:nvPr/>
        </p:nvSpPr>
        <p:spPr>
          <a:xfrm>
            <a:off x="9052560" y="3291840"/>
            <a:ext cx="360" cy="10515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3" name="Shape 7"/>
          <p:cNvSpPr/>
          <p:nvPr/>
        </p:nvSpPr>
        <p:spPr>
          <a:xfrm flipH="1">
            <a:off x="5303520" y="5120640"/>
            <a:ext cx="15544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4" name="Shape 8"/>
          <p:cNvSpPr/>
          <p:nvPr/>
        </p:nvSpPr>
        <p:spPr>
          <a:xfrm flipV="1">
            <a:off x="3108960" y="3291840"/>
            <a:ext cx="360" cy="10515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4251960" y="3611880"/>
            <a:ext cx="36547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até cumprir o objetivo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25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0918F4-4119-42EB-9AC7-5DBF565C795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20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ferramentas, o agente investiga e corrige o erro em vez de só listar hipóteses.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548640" y="169164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Só a LLM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"/>
          <p:cNvSpPr/>
          <p:nvPr/>
        </p:nvSpPr>
        <p:spPr>
          <a:xfrm>
            <a:off x="548640" y="2194560"/>
            <a:ext cx="5209200" cy="34718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Você: Por que meus testes estão falhando?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LLM: Pode ser um problema de configuração, de dependências ou de lógica. Verifique as mensagens de erro…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309360" y="1691640"/>
            <a:ext cx="53006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Agente com ferramentas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"/>
          <p:cNvSpPr/>
          <p:nvPr/>
        </p:nvSpPr>
        <p:spPr>
          <a:xfrm>
            <a:off x="6309360" y="2194560"/>
            <a:ext cx="5300640" cy="58248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Lê o package.json e os testes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309360" y="2917080"/>
            <a:ext cx="5300640" cy="58248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Roda os testes no terminal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6309360" y="3639240"/>
            <a:ext cx="5300640" cy="58248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Localiza o erro na saída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6309360" y="4361760"/>
            <a:ext cx="5300640" cy="58248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Corrige o arquivo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8"/>
          <p:cNvSpPr/>
          <p:nvPr/>
        </p:nvSpPr>
        <p:spPr>
          <a:xfrm>
            <a:off x="6309360" y="5083920"/>
            <a:ext cx="5300640" cy="58248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Roda os testes de novo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9"/>
          <p:cNvSpPr/>
          <p:nvPr/>
        </p:nvSpPr>
        <p:spPr>
          <a:xfrm>
            <a:off x="548640" y="5897880"/>
            <a:ext cx="110613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Exemplo ilustrativo; a demonstração real acontece ao vivo.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26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EA5582-AC95-4075-A15E-99392304B92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só gera texto; o harness é o sistema ao redor que faz o resto acontecer.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Shape 1"/>
          <p:cNvSpPr/>
          <p:nvPr/>
        </p:nvSpPr>
        <p:spPr>
          <a:xfrm>
            <a:off x="548640" y="1783080"/>
            <a:ext cx="7586640" cy="4294800"/>
          </a:xfrm>
          <a:prstGeom prst="roundRect">
            <a:avLst>
              <a:gd name="adj" fmla="val 1702"/>
            </a:avLst>
          </a:prstGeom>
          <a:solidFill>
            <a:schemeClr val="bg1"/>
          </a:solidFill>
          <a:ln w="3175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868680" y="1920240"/>
            <a:ext cx="36547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868680" y="251460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Prompt de sistema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(System Prompt)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3246120" y="251460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Ferramentas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5623560" y="251460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Memória e contexto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868680" y="393192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Permissões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7"/>
          <p:cNvSpPr/>
          <p:nvPr/>
        </p:nvSpPr>
        <p:spPr>
          <a:xfrm>
            <a:off x="3246120" y="393192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8"/>
          <p:cNvSpPr/>
          <p:nvPr/>
        </p:nvSpPr>
        <p:spPr>
          <a:xfrm>
            <a:off x="5623560" y="3931920"/>
            <a:ext cx="2191680" cy="11858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9"/>
          <p:cNvSpPr/>
          <p:nvPr/>
        </p:nvSpPr>
        <p:spPr>
          <a:xfrm>
            <a:off x="868680" y="5440680"/>
            <a:ext cx="69465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loop agentivo conecta todas as peças.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0"/>
          <p:cNvSpPr/>
          <p:nvPr/>
        </p:nvSpPr>
        <p:spPr>
          <a:xfrm>
            <a:off x="8686800" y="2926080"/>
            <a:ext cx="292320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Claude Code e Codex são exemplos de harness.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ldNum" idx="2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4907AD-2CEB-4755-8AEB-FBEB1B75A709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propõe uma ação e o harness decide se e como executá-la.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594360" y="1783080"/>
            <a:ext cx="3106080" cy="59148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Modelo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"/>
          <p:cNvSpPr/>
          <p:nvPr/>
        </p:nvSpPr>
        <p:spPr>
          <a:xfrm>
            <a:off x="214884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4544640" y="1783080"/>
            <a:ext cx="3106080" cy="59148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09876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8485560" y="1783080"/>
            <a:ext cx="3106080" cy="59148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Mundo: arquivos e terminal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6"/>
          <p:cNvSpPr/>
          <p:nvPr/>
        </p:nvSpPr>
        <p:spPr>
          <a:xfrm>
            <a:off x="1004004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7" name="Shape 7"/>
          <p:cNvSpPr/>
          <p:nvPr/>
        </p:nvSpPr>
        <p:spPr>
          <a:xfrm flipH="1">
            <a:off x="2148480" y="2926080"/>
            <a:ext cx="3950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 8"/>
          <p:cNvSpPr/>
          <p:nvPr/>
        </p:nvSpPr>
        <p:spPr>
          <a:xfrm>
            <a:off x="2148840" y="2560320"/>
            <a:ext cx="394740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+ ferramentas disponíveis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9"/>
          <p:cNvSpPr/>
          <p:nvPr/>
        </p:nvSpPr>
        <p:spPr>
          <a:xfrm>
            <a:off x="2148840" y="3566160"/>
            <a:ext cx="39499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 10"/>
          <p:cNvSpPr/>
          <p:nvPr/>
        </p:nvSpPr>
        <p:spPr>
          <a:xfrm>
            <a:off x="2148840" y="3200400"/>
            <a:ext cx="394740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pede: read_file(app.ts)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1"/>
          <p:cNvSpPr/>
          <p:nvPr/>
        </p:nvSpPr>
        <p:spPr>
          <a:xfrm>
            <a:off x="5001840" y="3794760"/>
            <a:ext cx="2191680" cy="45432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verifica permissão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2"/>
          <p:cNvSpPr/>
          <p:nvPr/>
        </p:nvSpPr>
        <p:spPr>
          <a:xfrm>
            <a:off x="6098760" y="4709160"/>
            <a:ext cx="3941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 13"/>
          <p:cNvSpPr/>
          <p:nvPr/>
        </p:nvSpPr>
        <p:spPr>
          <a:xfrm>
            <a:off x="6099120" y="4343400"/>
            <a:ext cx="39380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executa a 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4"/>
          <p:cNvSpPr/>
          <p:nvPr/>
        </p:nvSpPr>
        <p:spPr>
          <a:xfrm flipH="1">
            <a:off x="6098760" y="5303520"/>
            <a:ext cx="3941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 15"/>
          <p:cNvSpPr/>
          <p:nvPr/>
        </p:nvSpPr>
        <p:spPr>
          <a:xfrm>
            <a:off x="6099120" y="4937760"/>
            <a:ext cx="393804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devolve o resultado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6"/>
          <p:cNvSpPr/>
          <p:nvPr/>
        </p:nvSpPr>
        <p:spPr>
          <a:xfrm flipH="1">
            <a:off x="2148480" y="5897880"/>
            <a:ext cx="3950280" cy="360"/>
          </a:xfrm>
          <a:prstGeom prst="line">
            <a:avLst/>
          </a:prstGeom>
          <a:ln w="22225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 17"/>
          <p:cNvSpPr/>
          <p:nvPr/>
        </p:nvSpPr>
        <p:spPr>
          <a:xfrm>
            <a:off x="2148840" y="5532120"/>
            <a:ext cx="394740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resultado vira contexto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8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6F824C-046E-479D-A040-5AFF2A38AB7E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Vamos desenhar o funcionamento do harness ao vivo.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 27"/>
          <p:cNvSpPr/>
          <p:nvPr/>
        </p:nvSpPr>
        <p:spPr>
          <a:xfrm>
            <a:off x="548640" y="1783080"/>
            <a:ext cx="264960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Canvas 2"/>
          <p:cNvSpPr/>
          <p:nvPr/>
        </p:nvSpPr>
        <p:spPr>
          <a:xfrm>
            <a:off x="548640" y="2331720"/>
            <a:ext cx="11061360" cy="24667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92" name="Canvas texto 2"/>
          <p:cNvSpPr/>
          <p:nvPr/>
        </p:nvSpPr>
        <p:spPr>
          <a:xfrm>
            <a:off x="822960" y="2788920"/>
            <a:ext cx="1051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Quadro em branco no Excalidraw: vamos desenhar o fluxo juntos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anvas dica 2"/>
          <p:cNvSpPr/>
          <p:nvPr/>
        </p:nvSpPr>
        <p:spPr>
          <a:xfrm>
            <a:off x="822960" y="3703320"/>
            <a:ext cx="10513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usuário  ·  harness  ·  modelo  ·  ferramenta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8"/>
          <p:cNvSpPr/>
          <p:nvPr/>
        </p:nvSpPr>
        <p:spPr>
          <a:xfrm>
            <a:off x="548640" y="5120640"/>
            <a:ext cx="110613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decide, quem executa e o que retorna ao modelo?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29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2332B1-6756-4862-AD58-564C343CCA2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24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 regras do gerenciador financeiro, o agente precisa adivinhar decisões do projeto.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548640" y="1737360"/>
            <a:ext cx="511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O modelo decide bem sozinho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"/>
          <p:cNvSpPr/>
          <p:nvPr/>
        </p:nvSpPr>
        <p:spPr>
          <a:xfrm>
            <a:off x="6492240" y="1737360"/>
            <a:ext cx="511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Só você sabe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548640" y="224028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Sintaxe de qualquer linguagem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548640" y="320040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Uso comum de frameworks conhecidos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548640" y="416052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Padrões gerais de código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6492240" y="224028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Regras de negócio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6492240" y="320040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Processos da organização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8"/>
          <p:cNvSpPr/>
          <p:nvPr/>
        </p:nvSpPr>
        <p:spPr>
          <a:xfrm>
            <a:off x="6492240" y="4160520"/>
            <a:ext cx="5118840" cy="7754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Como você quer implementar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5669280" y="2926080"/>
            <a:ext cx="82116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?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548640" y="5349240"/>
            <a:ext cx="1106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Sem essa informação no contexto, o resultado vira aposta.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sldNum" idx="30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9F9CB8-777E-4FA6-A326-E5F12D6B87D0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 agentes, o desenvolvedor dedica mais atenção ao problema, às decisões e à validação.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2103120"/>
            <a:ext cx="14612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"/>
          <p:cNvSpPr/>
          <p:nvPr/>
        </p:nvSpPr>
        <p:spPr>
          <a:xfrm>
            <a:off x="2194560" y="2103120"/>
            <a:ext cx="2352960" cy="100404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problema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4549320" y="2103120"/>
            <a:ext cx="7062120" cy="100404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codificação: o como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4"/>
          <p:cNvSpPr/>
          <p:nvPr/>
        </p:nvSpPr>
        <p:spPr>
          <a:xfrm>
            <a:off x="548640" y="3657600"/>
            <a:ext cx="14612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Hoje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2194560" y="3657600"/>
            <a:ext cx="6779520" cy="100404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Problema e decisões técnicas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8975880" y="3657600"/>
            <a:ext cx="2635200" cy="100404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Implementação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8975880" y="4709160"/>
            <a:ext cx="2635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parcialmente delegada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548640" y="5212080"/>
            <a:ext cx="1106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Você define arquitetura e critérios, delega etapas e valida o código entregue.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548640" y="5943600"/>
            <a:ext cx="11062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sldNum" idx="31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636397-77B2-431F-BC54-83D6F03EC6F7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26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 engineering entrega ao modelo a informação certa, na quantidade certa e no momento certo.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548640" y="1828800"/>
            <a:ext cx="3107160" cy="6840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Instruções (rules)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"/>
          <p:cNvSpPr/>
          <p:nvPr/>
        </p:nvSpPr>
        <p:spPr>
          <a:xfrm>
            <a:off x="3749040" y="217152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548640" y="2697480"/>
            <a:ext cx="3107160" cy="6840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Histórico da conversa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4"/>
          <p:cNvSpPr/>
          <p:nvPr/>
        </p:nvSpPr>
        <p:spPr>
          <a:xfrm>
            <a:off x="3749040" y="304020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 5"/>
          <p:cNvSpPr/>
          <p:nvPr/>
        </p:nvSpPr>
        <p:spPr>
          <a:xfrm>
            <a:off x="548640" y="3566160"/>
            <a:ext cx="3107160" cy="6840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Arquivos do projeto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6"/>
          <p:cNvSpPr/>
          <p:nvPr/>
        </p:nvSpPr>
        <p:spPr>
          <a:xfrm>
            <a:off x="3749040" y="390888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 7"/>
          <p:cNvSpPr/>
          <p:nvPr/>
        </p:nvSpPr>
        <p:spPr>
          <a:xfrm>
            <a:off x="548640" y="4434840"/>
            <a:ext cx="3107160" cy="6840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Resultados de ferramentas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8"/>
          <p:cNvSpPr/>
          <p:nvPr/>
        </p:nvSpPr>
        <p:spPr>
          <a:xfrm>
            <a:off x="3749040" y="477756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 9"/>
          <p:cNvSpPr/>
          <p:nvPr/>
        </p:nvSpPr>
        <p:spPr>
          <a:xfrm>
            <a:off x="548640" y="5303520"/>
            <a:ext cx="3107160" cy="6840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Documentação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"/>
          <p:cNvSpPr/>
          <p:nvPr/>
        </p:nvSpPr>
        <p:spPr>
          <a:xfrm>
            <a:off x="3749040" y="564624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11"/>
          <p:cNvSpPr/>
          <p:nvPr/>
        </p:nvSpPr>
        <p:spPr>
          <a:xfrm>
            <a:off x="4617720" y="1828800"/>
            <a:ext cx="3107160" cy="4158720"/>
          </a:xfrm>
          <a:prstGeom prst="roundRect">
            <a:avLst>
              <a:gd name="adj" fmla="val 235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Context engineering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informação certa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quantidade certa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momento certo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2"/>
          <p:cNvSpPr/>
          <p:nvPr/>
        </p:nvSpPr>
        <p:spPr>
          <a:xfrm>
            <a:off x="7818120" y="3908880"/>
            <a:ext cx="7315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 13"/>
          <p:cNvSpPr/>
          <p:nvPr/>
        </p:nvSpPr>
        <p:spPr>
          <a:xfrm>
            <a:off x="8641080" y="2743200"/>
            <a:ext cx="2970000" cy="23299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Janela de contexto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↓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LLM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sldNum" idx="32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E1C35C-BC3E-4619-B00E-19F4021B0E7B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Contexto irrelevante aumenta custo e pode dificultar o foco do modelo.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Shape 1"/>
          <p:cNvSpPr/>
          <p:nvPr/>
        </p:nvSpPr>
        <p:spPr>
          <a:xfrm>
            <a:off x="822960" y="4937760"/>
            <a:ext cx="729720" cy="5468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731520" y="5559480"/>
            <a:ext cx="912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1920240" y="4937760"/>
            <a:ext cx="729720" cy="5468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1920240" y="4206240"/>
            <a:ext cx="729720" cy="7297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1828800" y="5559480"/>
            <a:ext cx="912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3017520" y="4937760"/>
            <a:ext cx="729720" cy="5468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Shape 7"/>
          <p:cNvSpPr/>
          <p:nvPr/>
        </p:nvSpPr>
        <p:spPr>
          <a:xfrm>
            <a:off x="3017520" y="3474720"/>
            <a:ext cx="729720" cy="14612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8"/>
          <p:cNvSpPr/>
          <p:nvPr/>
        </p:nvSpPr>
        <p:spPr>
          <a:xfrm>
            <a:off x="2926080" y="5559480"/>
            <a:ext cx="912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9"/>
          <p:cNvSpPr/>
          <p:nvPr/>
        </p:nvSpPr>
        <p:spPr>
          <a:xfrm>
            <a:off x="4114800" y="4937760"/>
            <a:ext cx="729720" cy="5468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Shape 10"/>
          <p:cNvSpPr/>
          <p:nvPr/>
        </p:nvSpPr>
        <p:spPr>
          <a:xfrm>
            <a:off x="4114800" y="2743200"/>
            <a:ext cx="729720" cy="21927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 11"/>
          <p:cNvSpPr/>
          <p:nvPr/>
        </p:nvSpPr>
        <p:spPr>
          <a:xfrm>
            <a:off x="4023360" y="5559480"/>
            <a:ext cx="912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2"/>
          <p:cNvSpPr/>
          <p:nvPr/>
        </p:nvSpPr>
        <p:spPr>
          <a:xfrm>
            <a:off x="5212080" y="4937760"/>
            <a:ext cx="729720" cy="5468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7" name="Shape 13"/>
          <p:cNvSpPr/>
          <p:nvPr/>
        </p:nvSpPr>
        <p:spPr>
          <a:xfrm>
            <a:off x="5212080" y="1965960"/>
            <a:ext cx="729720" cy="297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 14"/>
          <p:cNvSpPr/>
          <p:nvPr/>
        </p:nvSpPr>
        <p:spPr>
          <a:xfrm>
            <a:off x="5120640" y="5559480"/>
            <a:ext cx="912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5"/>
          <p:cNvSpPr/>
          <p:nvPr/>
        </p:nvSpPr>
        <p:spPr>
          <a:xfrm>
            <a:off x="640080" y="1965960"/>
            <a:ext cx="5212080" cy="360"/>
          </a:xfrm>
          <a:prstGeom prst="line">
            <a:avLst/>
          </a:prstGeom>
          <a:ln w="25400">
            <a:solidFill>
              <a:srgbClr val="B91C1C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16"/>
          <p:cNvSpPr/>
          <p:nvPr/>
        </p:nvSpPr>
        <p:spPr>
          <a:xfrm>
            <a:off x="3931920" y="1581840"/>
            <a:ext cx="191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Limite da janela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7"/>
          <p:cNvSpPr/>
          <p:nvPr/>
        </p:nvSpPr>
        <p:spPr>
          <a:xfrm>
            <a:off x="822960" y="5989320"/>
            <a:ext cx="181080" cy="1810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18"/>
          <p:cNvSpPr/>
          <p:nvPr/>
        </p:nvSpPr>
        <p:spPr>
          <a:xfrm>
            <a:off x="1097280" y="5943600"/>
            <a:ext cx="2101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Instruções e pedido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9"/>
          <p:cNvSpPr/>
          <p:nvPr/>
        </p:nvSpPr>
        <p:spPr>
          <a:xfrm>
            <a:off x="3200400" y="5989320"/>
            <a:ext cx="181080" cy="1810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4" name="Text 20"/>
          <p:cNvSpPr/>
          <p:nvPr/>
        </p:nvSpPr>
        <p:spPr>
          <a:xfrm>
            <a:off x="3474720" y="594360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Histórico e resultados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1"/>
          <p:cNvSpPr/>
          <p:nvPr/>
        </p:nvSpPr>
        <p:spPr>
          <a:xfrm>
            <a:off x="6583680" y="1965960"/>
            <a:ext cx="5027400" cy="16898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lento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cada token novo precisa ser processado e relacionado aos demais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2"/>
          <p:cNvSpPr/>
          <p:nvPr/>
        </p:nvSpPr>
        <p:spPr>
          <a:xfrm>
            <a:off x="6583680" y="3886200"/>
            <a:ext cx="5027400" cy="16898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Atenção diluída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modelo pode misturar informações ou priorizar o que é irrelevante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3"/>
          <p:cNvSpPr/>
          <p:nvPr/>
        </p:nvSpPr>
        <p:spPr>
          <a:xfrm>
            <a:off x="6583680" y="5669280"/>
            <a:ext cx="5027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Mais contexto nem sempre é melhor.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ldNum" idx="33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7846F2-F303-4341-BA4D-CDF88D0BB797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Gerir contexto é selecionar, comprimir e externalizar informação.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548640" y="1783080"/>
            <a:ext cx="3471840" cy="42948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822960" y="2057400"/>
            <a:ext cx="29232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Selecionar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822960" y="4937760"/>
            <a:ext cx="29232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Só entra o que a tarefa exige.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343400" y="1783080"/>
            <a:ext cx="3471840" cy="42948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4617720" y="2057400"/>
            <a:ext cx="29232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Comprimir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4617720" y="4937760"/>
            <a:ext cx="29232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histórico longo vira um resumo.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7"/>
          <p:cNvSpPr/>
          <p:nvPr/>
        </p:nvSpPr>
        <p:spPr>
          <a:xfrm>
            <a:off x="8138160" y="1783080"/>
            <a:ext cx="3471840" cy="42948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8412480" y="2057400"/>
            <a:ext cx="29232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Externalizar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8412480" y="4937760"/>
            <a:ext cx="29232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estado fica em arquivos e é relido quando preciso.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0"/>
          <p:cNvSpPr/>
          <p:nvPr/>
        </p:nvSpPr>
        <p:spPr>
          <a:xfrm>
            <a:off x="822960" y="3108960"/>
            <a:ext cx="326160" cy="32616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0" name="Shape 11"/>
          <p:cNvSpPr/>
          <p:nvPr/>
        </p:nvSpPr>
        <p:spPr>
          <a:xfrm>
            <a:off x="1243440" y="3108960"/>
            <a:ext cx="326160" cy="326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12"/>
          <p:cNvSpPr/>
          <p:nvPr/>
        </p:nvSpPr>
        <p:spPr>
          <a:xfrm>
            <a:off x="1664280" y="3108960"/>
            <a:ext cx="326160" cy="32616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2084760" y="3108960"/>
            <a:ext cx="326160" cy="32616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14"/>
          <p:cNvSpPr/>
          <p:nvPr/>
        </p:nvSpPr>
        <p:spPr>
          <a:xfrm>
            <a:off x="2505600" y="3108960"/>
            <a:ext cx="326160" cy="326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2926080" y="3108960"/>
            <a:ext cx="326160" cy="32616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5" name="Shape 16"/>
          <p:cNvSpPr/>
          <p:nvPr/>
        </p:nvSpPr>
        <p:spPr>
          <a:xfrm>
            <a:off x="3346560" y="3108960"/>
            <a:ext cx="326160" cy="32616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 17"/>
          <p:cNvSpPr/>
          <p:nvPr/>
        </p:nvSpPr>
        <p:spPr>
          <a:xfrm>
            <a:off x="822960" y="3657600"/>
            <a:ext cx="29232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muita informação disponível, pouca relevante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8"/>
          <p:cNvSpPr/>
          <p:nvPr/>
        </p:nvSpPr>
        <p:spPr>
          <a:xfrm>
            <a:off x="4617720" y="2880360"/>
            <a:ext cx="2923200" cy="40860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histórico longo da conversa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9"/>
          <p:cNvSpPr/>
          <p:nvPr/>
        </p:nvSpPr>
        <p:spPr>
          <a:xfrm>
            <a:off x="6080760" y="3383280"/>
            <a:ext cx="360" cy="41148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 20"/>
          <p:cNvSpPr/>
          <p:nvPr/>
        </p:nvSpPr>
        <p:spPr>
          <a:xfrm>
            <a:off x="5486400" y="3886200"/>
            <a:ext cx="1185840" cy="4086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1"/>
          <p:cNvSpPr/>
          <p:nvPr/>
        </p:nvSpPr>
        <p:spPr>
          <a:xfrm>
            <a:off x="8412480" y="3017520"/>
            <a:ext cx="1277280" cy="8200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2"/>
          <p:cNvSpPr/>
          <p:nvPr/>
        </p:nvSpPr>
        <p:spPr>
          <a:xfrm>
            <a:off x="10058400" y="3017520"/>
            <a:ext cx="1277280" cy="8200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notas.md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3"/>
          <p:cNvSpPr/>
          <p:nvPr/>
        </p:nvSpPr>
        <p:spPr>
          <a:xfrm>
            <a:off x="9738360" y="3246120"/>
            <a:ext cx="27432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83" name="Shape 24"/>
          <p:cNvSpPr/>
          <p:nvPr/>
        </p:nvSpPr>
        <p:spPr>
          <a:xfrm flipH="1">
            <a:off x="9738360" y="3611880"/>
            <a:ext cx="274320" cy="360"/>
          </a:xfrm>
          <a:prstGeom prst="line">
            <a:avLst/>
          </a:prstGeom>
          <a:ln w="19050">
            <a:solidFill>
              <a:srgbClr val="1B8457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 25"/>
          <p:cNvSpPr/>
          <p:nvPr/>
        </p:nvSpPr>
        <p:spPr>
          <a:xfrm>
            <a:off x="9509760" y="2651760"/>
            <a:ext cx="7286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grava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6"/>
          <p:cNvSpPr/>
          <p:nvPr/>
        </p:nvSpPr>
        <p:spPr>
          <a:xfrm>
            <a:off x="9509760" y="3886200"/>
            <a:ext cx="728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relê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sldNum" idx="3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E5F1AD-B4DA-4C40-8899-A73227841E2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Text 450"/>
          <p:cNvSpPr/>
          <p:nvPr/>
        </p:nvSpPr>
        <p:spPr>
          <a:xfrm>
            <a:off x="4617720" y="4389120"/>
            <a:ext cx="292320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essencial, em menos espaço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 engineering é criar guias que orientam o agente e sensores que avaliam o que ele produz.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Text 1"/>
          <p:cNvSpPr/>
          <p:nvPr/>
        </p:nvSpPr>
        <p:spPr>
          <a:xfrm>
            <a:off x="548640" y="2103120"/>
            <a:ext cx="2649960" cy="15526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Guias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feed forward: direção antes de agir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"/>
          <p:cNvSpPr/>
          <p:nvPr/>
        </p:nvSpPr>
        <p:spPr>
          <a:xfrm>
            <a:off x="3749040" y="2103120"/>
            <a:ext cx="2649960" cy="15526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escreve e edita código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"/>
          <p:cNvSpPr/>
          <p:nvPr/>
        </p:nvSpPr>
        <p:spPr>
          <a:xfrm>
            <a:off x="6949440" y="2103120"/>
            <a:ext cx="1552680" cy="15526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4"/>
          <p:cNvSpPr/>
          <p:nvPr/>
        </p:nvSpPr>
        <p:spPr>
          <a:xfrm>
            <a:off x="8961120" y="2103120"/>
            <a:ext cx="2649960" cy="15526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Sensores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feedback: avaliação depois de agir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5"/>
          <p:cNvSpPr/>
          <p:nvPr/>
        </p:nvSpPr>
        <p:spPr>
          <a:xfrm>
            <a:off x="3291840" y="288036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Shape 6"/>
          <p:cNvSpPr/>
          <p:nvPr/>
        </p:nvSpPr>
        <p:spPr>
          <a:xfrm>
            <a:off x="6492240" y="288036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7"/>
          <p:cNvSpPr/>
          <p:nvPr/>
        </p:nvSpPr>
        <p:spPr>
          <a:xfrm>
            <a:off x="8595360" y="2880360"/>
            <a:ext cx="2743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8"/>
          <p:cNvSpPr/>
          <p:nvPr/>
        </p:nvSpPr>
        <p:spPr>
          <a:xfrm>
            <a:off x="10287000" y="3749040"/>
            <a:ext cx="360" cy="8229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9"/>
          <p:cNvSpPr/>
          <p:nvPr/>
        </p:nvSpPr>
        <p:spPr>
          <a:xfrm flipH="1">
            <a:off x="5074920" y="4572000"/>
            <a:ext cx="5212080" cy="3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Shape 10"/>
          <p:cNvSpPr/>
          <p:nvPr/>
        </p:nvSpPr>
        <p:spPr>
          <a:xfrm flipV="1">
            <a:off x="5074920" y="3749040"/>
            <a:ext cx="360" cy="8229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5303520" y="4846320"/>
            <a:ext cx="6307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O feedback ajuda o agente a corrigir a saída; você valida o resultado.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sldNum" idx="35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1D6991-5AA8-4ED7-8380-24D31A3B5663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30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Um guia de poucas linhas evita que o agente leia arquivos inteiros só para descobrir o básico.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548640" y="1737360"/>
            <a:ext cx="530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Sem guia, o agente tateia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"/>
          <p:cNvSpPr/>
          <p:nvPr/>
        </p:nvSpPr>
        <p:spPr>
          <a:xfrm>
            <a:off x="548640" y="2240280"/>
            <a:ext cx="5301720" cy="6840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Tenta a porta 3000 e falha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548640" y="3108960"/>
            <a:ext cx="5301720" cy="6840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Tenta a 3001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"/>
          <p:cNvSpPr/>
          <p:nvPr/>
        </p:nvSpPr>
        <p:spPr>
          <a:xfrm>
            <a:off x="548640" y="3977640"/>
            <a:ext cx="5301720" cy="6840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Lê package.json e arquivos de env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548640" y="4846320"/>
            <a:ext cx="5301720" cy="6840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 npm em um projeto Yarn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6309360" y="1737360"/>
            <a:ext cx="530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 guia, ele já sabe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7"/>
          <p:cNvSpPr/>
          <p:nvPr/>
        </p:nvSpPr>
        <p:spPr>
          <a:xfrm>
            <a:off x="6309360" y="2240280"/>
            <a:ext cx="5301720" cy="21470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# AGENTS.md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## Comandos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Pacotes: yarn (não npm)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Dev: yarn dev (porta 3001)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Testes: yarn test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8"/>
          <p:cNvSpPr/>
          <p:nvPr/>
        </p:nvSpPr>
        <p:spPr>
          <a:xfrm>
            <a:off x="6309360" y="4572000"/>
            <a:ext cx="5301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100 a 300 tokens substituem a leitura de arquivos bem maiores.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sldNum" idx="36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9A1141-A650-4B50-8362-83E79896E47B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Guias dizem como fazer e também o que você não quer que o agente faça.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Shape 1"/>
          <p:cNvSpPr/>
          <p:nvPr/>
        </p:nvSpPr>
        <p:spPr>
          <a:xfrm>
            <a:off x="548640" y="1783080"/>
            <a:ext cx="2558520" cy="3427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 2"/>
          <p:cNvSpPr/>
          <p:nvPr/>
        </p:nvSpPr>
        <p:spPr>
          <a:xfrm>
            <a:off x="777240" y="2057400"/>
            <a:ext cx="2101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Comandos e ambiente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"/>
          <p:cNvSpPr/>
          <p:nvPr/>
        </p:nvSpPr>
        <p:spPr>
          <a:xfrm>
            <a:off x="777240" y="3017520"/>
            <a:ext cx="210132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Gerenciador de pacotes, portas, dependências, como rodar os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4"/>
          <p:cNvSpPr/>
          <p:nvPr/>
        </p:nvSpPr>
        <p:spPr>
          <a:xfrm>
            <a:off x="3383280" y="1783080"/>
            <a:ext cx="2558520" cy="3427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 5"/>
          <p:cNvSpPr/>
          <p:nvPr/>
        </p:nvSpPr>
        <p:spPr>
          <a:xfrm>
            <a:off x="3611880" y="2057400"/>
            <a:ext cx="2101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Padrões de código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6"/>
          <p:cNvSpPr/>
          <p:nvPr/>
        </p:nvSpPr>
        <p:spPr>
          <a:xfrm>
            <a:off x="3611880" y="3017520"/>
            <a:ext cx="210132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Não o que o framework faz, mas como o seu time o usa.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7"/>
          <p:cNvSpPr/>
          <p:nvPr/>
        </p:nvSpPr>
        <p:spPr>
          <a:xfrm>
            <a:off x="6217920" y="1783080"/>
            <a:ext cx="2558520" cy="3427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Text 8"/>
          <p:cNvSpPr/>
          <p:nvPr/>
        </p:nvSpPr>
        <p:spPr>
          <a:xfrm>
            <a:off x="6446520" y="2057400"/>
            <a:ext cx="2101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Estrutura e arquitetura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9"/>
          <p:cNvSpPr/>
          <p:nvPr/>
        </p:nvSpPr>
        <p:spPr>
          <a:xfrm>
            <a:off x="6446520" y="3017520"/>
            <a:ext cx="210132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Onde cada arquivo vai, as camadas, como escrever SQL e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0"/>
          <p:cNvSpPr/>
          <p:nvPr/>
        </p:nvSpPr>
        <p:spPr>
          <a:xfrm>
            <a:off x="9052560" y="1783080"/>
            <a:ext cx="2558520" cy="34272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22225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 11"/>
          <p:cNvSpPr/>
          <p:nvPr/>
        </p:nvSpPr>
        <p:spPr>
          <a:xfrm>
            <a:off x="9281160" y="2057400"/>
            <a:ext cx="2101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O que NÃO fazer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2"/>
          <p:cNvSpPr/>
          <p:nvPr/>
        </p:nvSpPr>
        <p:spPr>
          <a:xfrm>
            <a:off x="9281160" y="3017520"/>
            <a:ext cx="210132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Nunca rodar migrations sozinho: pode destruir o dump de desenvolvimento.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3"/>
          <p:cNvSpPr/>
          <p:nvPr/>
        </p:nvSpPr>
        <p:spPr>
          <a:xfrm>
            <a:off x="548640" y="5440680"/>
            <a:ext cx="1106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O código entregue continua sendo responsabilidade sua, não da 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37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A61757-10E0-471A-83D6-715F7F724C47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Quanto mais crítico o software, mais guias, sensores e revisão humana ele exige.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548640" y="178308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criticidade crescente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2"/>
          <p:cNvSpPr/>
          <p:nvPr/>
        </p:nvSpPr>
        <p:spPr>
          <a:xfrm>
            <a:off x="548640" y="2377440"/>
            <a:ext cx="11064240" cy="360"/>
          </a:xfrm>
          <a:prstGeom prst="line">
            <a:avLst/>
          </a:prstGeom>
          <a:ln w="2540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3"/>
          <p:cNvSpPr/>
          <p:nvPr/>
        </p:nvSpPr>
        <p:spPr>
          <a:xfrm>
            <a:off x="548640" y="2788920"/>
            <a:ext cx="3472920" cy="17355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Menor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Gestão de projetos, troca de mensagens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548640" y="4709160"/>
            <a:ext cx="3472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Mais margem para corrigir depois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4343400" y="2788920"/>
            <a:ext cx="3472920" cy="1735560"/>
          </a:xfrm>
          <a:prstGeom prst="roundRect">
            <a:avLst>
              <a:gd name="adj" fmla="val 4211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Alta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Checkout de um grande e-commerce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4343400" y="4709160"/>
            <a:ext cx="3472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Um erro pode custar milhões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7"/>
          <p:cNvSpPr/>
          <p:nvPr/>
        </p:nvSpPr>
        <p:spPr>
          <a:xfrm>
            <a:off x="8138160" y="2788920"/>
            <a:ext cx="3472920" cy="173556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Máxima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Saúde, finanças, impostos, frenagem de carro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8"/>
          <p:cNvSpPr/>
          <p:nvPr/>
        </p:nvSpPr>
        <p:spPr>
          <a:xfrm>
            <a:off x="8138160" y="4709160"/>
            <a:ext cx="3472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Erros causam perdas graves ou riscos à vida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9"/>
          <p:cNvSpPr/>
          <p:nvPr/>
        </p:nvSpPr>
        <p:spPr>
          <a:xfrm>
            <a:off x="548640" y="5577840"/>
            <a:ext cx="1106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Ajuste o rigor de guias e sensores à criticidade do que você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sldNum" idx="38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37AD8A-CD93-4250-813D-578628D16BB4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 sensores, você vira o intermediário que avisa ao agente que o código não funcionou.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1"/>
          <p:cNvSpPr/>
          <p:nvPr/>
        </p:nvSpPr>
        <p:spPr>
          <a:xfrm>
            <a:off x="548640" y="1828800"/>
            <a:ext cx="13698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Sem sensor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"/>
          <p:cNvSpPr/>
          <p:nvPr/>
        </p:nvSpPr>
        <p:spPr>
          <a:xfrm>
            <a:off x="2011680" y="182880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escreve o código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4983480" y="2468880"/>
            <a:ext cx="320040" cy="360"/>
          </a:xfrm>
          <a:prstGeom prst="line">
            <a:avLst/>
          </a:prstGeom>
          <a:ln w="25400">
            <a:solidFill>
              <a:srgbClr val="B91C1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 4"/>
          <p:cNvSpPr/>
          <p:nvPr/>
        </p:nvSpPr>
        <p:spPr>
          <a:xfrm>
            <a:off x="5349240" y="182880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Você roda e vê a falha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5"/>
          <p:cNvSpPr/>
          <p:nvPr/>
        </p:nvSpPr>
        <p:spPr>
          <a:xfrm>
            <a:off x="8321040" y="2468880"/>
            <a:ext cx="320040" cy="360"/>
          </a:xfrm>
          <a:prstGeom prst="line">
            <a:avLst/>
          </a:prstGeom>
          <a:ln w="25400">
            <a:solidFill>
              <a:srgbClr val="B91C1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3" name="Text 6"/>
          <p:cNvSpPr/>
          <p:nvPr/>
        </p:nvSpPr>
        <p:spPr>
          <a:xfrm>
            <a:off x="8686800" y="182880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Você explica o erro ao agente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7"/>
          <p:cNvSpPr/>
          <p:nvPr/>
        </p:nvSpPr>
        <p:spPr>
          <a:xfrm>
            <a:off x="548640" y="3520440"/>
            <a:ext cx="13698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 sensor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8"/>
          <p:cNvSpPr/>
          <p:nvPr/>
        </p:nvSpPr>
        <p:spPr>
          <a:xfrm>
            <a:off x="2011680" y="352044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escreve o código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9"/>
          <p:cNvSpPr/>
          <p:nvPr/>
        </p:nvSpPr>
        <p:spPr>
          <a:xfrm>
            <a:off x="4983480" y="4160520"/>
            <a:ext cx="32004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10"/>
          <p:cNvSpPr/>
          <p:nvPr/>
        </p:nvSpPr>
        <p:spPr>
          <a:xfrm>
            <a:off x="5349240" y="352044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Sensor roda testes e queries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1"/>
          <p:cNvSpPr/>
          <p:nvPr/>
        </p:nvSpPr>
        <p:spPr>
          <a:xfrm>
            <a:off x="8321040" y="4160520"/>
            <a:ext cx="32004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8686800" y="3520440"/>
            <a:ext cx="2924280" cy="12783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lê o erro e corrige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10149840" y="4892040"/>
            <a:ext cx="360" cy="22860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1" name="Shape 14"/>
          <p:cNvSpPr/>
          <p:nvPr/>
        </p:nvSpPr>
        <p:spPr>
          <a:xfrm flipH="1">
            <a:off x="3474720" y="5120640"/>
            <a:ext cx="667512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5"/>
          <p:cNvSpPr/>
          <p:nvPr/>
        </p:nvSpPr>
        <p:spPr>
          <a:xfrm flipV="1">
            <a:off x="3474720" y="4846320"/>
            <a:ext cx="360" cy="27432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3" name="Text 16"/>
          <p:cNvSpPr/>
          <p:nvPr/>
        </p:nvSpPr>
        <p:spPr>
          <a:xfrm>
            <a:off x="548640" y="5349240"/>
            <a:ext cx="1106244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Seu tempo vai para o problema e a direção técnica, não para relatar falhas.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ldNum" idx="39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4A9FAE-EB02-4E2C-8679-46A0DA5C7F18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34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Cada sensor dá ao agente uma visão que ele não tem sozinho.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456" name="Table 0"/>
          <p:cNvGraphicFramePr/>
          <p:nvPr/>
        </p:nvGraphicFramePr>
        <p:xfrm>
          <a:off x="548640" y="1874520"/>
          <a:ext cx="11063880" cy="3948480"/>
        </p:xfrm>
        <a:graphic>
          <a:graphicData uri="http://schemas.openxmlformats.org/drawingml/2006/table">
            <a:tbl>
              <a:tblPr/>
              <a:tblGrid>
                <a:gridCol w="3017520"/>
                <a:gridCol w="5120640"/>
                <a:gridCol w="2926080"/>
              </a:tblGrid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Sensor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Resultado que o agente vê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Exemplos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Testes automatizados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Falhas e regressões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Vitest, pytest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Compilador e linter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Erros de código e tipos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tsc, ESLint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Navegador headless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Interface em execução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Playwright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Logs do servidor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Erros durante a execução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stdout do dev server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Banco de dados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Consultas e planos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EXPLAIN ANALYZE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57" name="PlaceHolder 2"/>
          <p:cNvSpPr>
            <a:spLocks noGrp="1"/>
          </p:cNvSpPr>
          <p:nvPr>
            <p:ph type="sldNum" idx="40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2D93C5-2856-4471-979E-7CDD9F809FEB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44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Guias e sensores podem reduzir retrabalho e facilitar o trabalho em paralelo.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9" name="Text 1"/>
          <p:cNvSpPr/>
          <p:nvPr/>
        </p:nvSpPr>
        <p:spPr>
          <a:xfrm>
            <a:off x="548640" y="1920240"/>
            <a:ext cx="54846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Guias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orientam antes de o agente agir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3291840"/>
            <a:ext cx="54846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Sensores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avaliam depois, para ele se autocorrigir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3"/>
          <p:cNvSpPr/>
          <p:nvPr/>
        </p:nvSpPr>
        <p:spPr>
          <a:xfrm>
            <a:off x="548640" y="4663440"/>
            <a:ext cx="54846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Criticidade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define o rigor de cada 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6949440" y="1783080"/>
            <a:ext cx="4661640" cy="8211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Guias + sensores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5"/>
          <p:cNvSpPr/>
          <p:nvPr/>
        </p:nvSpPr>
        <p:spPr>
          <a:xfrm>
            <a:off x="9281160" y="2606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6949440" y="2926080"/>
            <a:ext cx="4661640" cy="8211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Pode reduzir retrabalho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9281160" y="3749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6" name="Text 8"/>
          <p:cNvSpPr/>
          <p:nvPr/>
        </p:nvSpPr>
        <p:spPr>
          <a:xfrm>
            <a:off x="6949440" y="4069080"/>
            <a:ext cx="4661640" cy="8211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Facilita o paralelismo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9281160" y="4892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6949440" y="5212080"/>
            <a:ext cx="4661640" cy="8211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Produtividade potencial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sldNum" idx="41"/>
          </p:nvPr>
        </p:nvSpPr>
        <p:spPr>
          <a:xfrm>
            <a:off x="11155680" y="6400800"/>
            <a:ext cx="4554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34F28A-C8E1-46AB-8FBF-4B7A952A8826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36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Vamos desenhar o contexto do user harness ao vivo.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27"/>
          <p:cNvSpPr/>
          <p:nvPr/>
        </p:nvSpPr>
        <p:spPr>
          <a:xfrm>
            <a:off x="548640" y="1783080"/>
            <a:ext cx="264960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Canvas 2"/>
          <p:cNvSpPr/>
          <p:nvPr/>
        </p:nvSpPr>
        <p:spPr>
          <a:xfrm>
            <a:off x="548640" y="2331720"/>
            <a:ext cx="11061360" cy="24667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73" name="Canvas texto 2"/>
          <p:cNvSpPr/>
          <p:nvPr/>
        </p:nvSpPr>
        <p:spPr>
          <a:xfrm>
            <a:off x="822960" y="2788920"/>
            <a:ext cx="1051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Quadro em branco no Excalidraw: vamos montar a estrutura juntos.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anvas dica 2"/>
          <p:cNvSpPr/>
          <p:nvPr/>
        </p:nvSpPr>
        <p:spPr>
          <a:xfrm>
            <a:off x="822960" y="3703320"/>
            <a:ext cx="10513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pedido  ·  instruções  ·  arquivos  · 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28"/>
          <p:cNvSpPr/>
          <p:nvPr/>
        </p:nvSpPr>
        <p:spPr>
          <a:xfrm>
            <a:off x="548640" y="5120640"/>
            <a:ext cx="1106136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entra no contexto, quando entra e quem decide?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 type="sldNum" idx="4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B8F426-72FD-4AA4-BF27-AD8F02D29BB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Atividade: melhore o pedido do gerenciador financeiro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ubtitulo 401"/>
          <p:cNvSpPr/>
          <p:nvPr/>
        </p:nvSpPr>
        <p:spPr>
          <a:xfrm>
            <a:off x="548640" y="860040"/>
            <a:ext cx="110613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Quem tiver agente testa localmente; os demais comparam na execução projetada.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02"/>
          <p:cNvSpPr/>
          <p:nvPr/>
        </p:nvSpPr>
        <p:spPr>
          <a:xfrm>
            <a:off x="548640" y="1400040"/>
            <a:ext cx="58978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Pedido genérico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403"/>
          <p:cNvSpPr/>
          <p:nvPr/>
        </p:nvSpPr>
        <p:spPr>
          <a:xfrm>
            <a:off x="548640" y="1800000"/>
            <a:ext cx="5897880" cy="997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28600" tIns="91440" rIns="228600" bIns="9144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Crie um gerenciador financeiro pessoal.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404"/>
          <p:cNvSpPr/>
          <p:nvPr/>
        </p:nvSpPr>
        <p:spPr>
          <a:xfrm>
            <a:off x="548640" y="2900160"/>
            <a:ext cx="58978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C00000"/>
                </a:solidFill>
                <a:effectLst/>
                <a:uFillTx/>
                <a:latin typeface="Calibri"/>
                <a:ea typeface="Calibri"/>
              </a:rPr>
              <a:t>O modelo precisa adivinhar stack, comportamento e testes.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405"/>
          <p:cNvSpPr/>
          <p:nvPr/>
        </p:nvSpPr>
        <p:spPr>
          <a:xfrm>
            <a:off x="548640" y="3489840"/>
            <a:ext cx="58978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Pedido com contexto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406"/>
          <p:cNvSpPr/>
          <p:nvPr/>
        </p:nvSpPr>
        <p:spPr>
          <a:xfrm>
            <a:off x="548640" y="3859920"/>
            <a:ext cx="5897880" cy="1278000"/>
          </a:xfrm>
          <a:prstGeom prst="roundRect">
            <a:avLst>
              <a:gd name="adj" fmla="val 6000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4320" tIns="91440" rIns="274320" bIns="9144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 React + TypeScript, crie formulário e API para receitas e despesas; valor positivo e testes.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407"/>
          <p:cNvSpPr/>
          <p:nvPr/>
        </p:nvSpPr>
        <p:spPr>
          <a:xfrm>
            <a:off x="548640" y="5230080"/>
            <a:ext cx="58978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 modelo trabalha dentro de restrições claras.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Divisor 408"/>
          <p:cNvSpPr/>
          <p:nvPr/>
        </p:nvSpPr>
        <p:spPr>
          <a:xfrm>
            <a:off x="6840000" y="1279800"/>
            <a:ext cx="360" cy="4399920"/>
          </a:xfrm>
          <a:prstGeom prst="line">
            <a:avLst/>
          </a:prstGeom>
          <a:ln w="9525">
            <a:solidFill>
              <a:srgbClr val="C3C3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 409"/>
          <p:cNvSpPr/>
          <p:nvPr/>
        </p:nvSpPr>
        <p:spPr>
          <a:xfrm>
            <a:off x="7250040" y="1230120"/>
            <a:ext cx="4359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Como participar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10"/>
          <p:cNvSpPr/>
          <p:nvPr/>
        </p:nvSpPr>
        <p:spPr>
          <a:xfrm>
            <a:off x="7250040" y="1620000"/>
            <a:ext cx="4359960" cy="59796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8" name="Text 411"/>
          <p:cNvSpPr/>
          <p:nvPr/>
        </p:nvSpPr>
        <p:spPr>
          <a:xfrm>
            <a:off x="7340040" y="1715040"/>
            <a:ext cx="407880" cy="40788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12"/>
          <p:cNvSpPr/>
          <p:nvPr/>
        </p:nvSpPr>
        <p:spPr>
          <a:xfrm>
            <a:off x="7930080" y="1620000"/>
            <a:ext cx="357984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Reescreva o pedido do gerenciador com contexto relevante.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413"/>
          <p:cNvSpPr/>
          <p:nvPr/>
        </p:nvSpPr>
        <p:spPr>
          <a:xfrm>
            <a:off x="7250040" y="2319840"/>
            <a:ext cx="4359960" cy="59796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414"/>
          <p:cNvSpPr/>
          <p:nvPr/>
        </p:nvSpPr>
        <p:spPr>
          <a:xfrm>
            <a:off x="7340040" y="2414880"/>
            <a:ext cx="407880" cy="40788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415"/>
          <p:cNvSpPr/>
          <p:nvPr/>
        </p:nvSpPr>
        <p:spPr>
          <a:xfrm>
            <a:off x="7930080" y="2319840"/>
            <a:ext cx="357984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 você tiver Claude Code ou outro agente, teste na sua máquina.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16"/>
          <p:cNvSpPr/>
          <p:nvPr/>
        </p:nvSpPr>
        <p:spPr>
          <a:xfrm>
            <a:off x="7250040" y="3020040"/>
            <a:ext cx="4359960" cy="59796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Text 417"/>
          <p:cNvSpPr/>
          <p:nvPr/>
        </p:nvSpPr>
        <p:spPr>
          <a:xfrm>
            <a:off x="7340040" y="3115080"/>
            <a:ext cx="407880" cy="40788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18"/>
          <p:cNvSpPr/>
          <p:nvPr/>
        </p:nvSpPr>
        <p:spPr>
          <a:xfrm>
            <a:off x="7930080" y="3020040"/>
            <a:ext cx="357984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Sem agente? Anote seu pedido e acompanhe o teste projetado.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419"/>
          <p:cNvSpPr/>
          <p:nvPr/>
        </p:nvSpPr>
        <p:spPr>
          <a:xfrm>
            <a:off x="7250040" y="3719880"/>
            <a:ext cx="4359960" cy="59796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Text 420"/>
          <p:cNvSpPr/>
          <p:nvPr/>
        </p:nvSpPr>
        <p:spPr>
          <a:xfrm>
            <a:off x="7340040" y="3814920"/>
            <a:ext cx="407880" cy="40788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421"/>
          <p:cNvSpPr/>
          <p:nvPr/>
        </p:nvSpPr>
        <p:spPr>
          <a:xfrm>
            <a:off x="7930080" y="3719880"/>
            <a:ext cx="357984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Compare as saídas e explique o que fez diferença.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QR 422"/>
          <p:cNvSpPr/>
          <p:nvPr/>
        </p:nvSpPr>
        <p:spPr>
          <a:xfrm>
            <a:off x="8866080" y="4439880"/>
            <a:ext cx="1127880" cy="1127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999999"/>
                </a:solidFill>
                <a:effectLst/>
                <a:uFillTx/>
                <a:latin typeface="Calibri"/>
                <a:ea typeface="Calibri"/>
              </a:rPr>
              <a:t>Turma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423"/>
          <p:cNvSpPr/>
          <p:nvPr/>
        </p:nvSpPr>
        <p:spPr>
          <a:xfrm>
            <a:off x="7250040" y="5590080"/>
            <a:ext cx="43599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Discussão coletiva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24"/>
          <p:cNvSpPr/>
          <p:nvPr/>
        </p:nvSpPr>
        <p:spPr>
          <a:xfrm>
            <a:off x="548640" y="5900040"/>
            <a:ext cx="11061360" cy="47772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0" rIns="22860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i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Pergunta para observar: </a:t>
            </a:r>
            <a:r>
              <a:rPr lang="pt-BR" sz="18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que foi adicionado de contexto, e o que realmente ajudou?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sldNum" idx="4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DAE78B-AC58-4E37-9EAF-C762EBB14EAC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resumo: o modelo gera, o harness executa e o contexto orienta.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 1"/>
          <p:cNvSpPr/>
          <p:nvPr/>
        </p:nvSpPr>
        <p:spPr>
          <a:xfrm>
            <a:off x="54864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2"/>
          <p:cNvSpPr/>
          <p:nvPr/>
        </p:nvSpPr>
        <p:spPr>
          <a:xfrm>
            <a:off x="54864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Gera a próxima saída em texto.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0"/>
          <p:cNvSpPr/>
          <p:nvPr/>
        </p:nvSpPr>
        <p:spPr>
          <a:xfrm>
            <a:off x="448056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1"/>
          <p:cNvSpPr/>
          <p:nvPr/>
        </p:nvSpPr>
        <p:spPr>
          <a:xfrm>
            <a:off x="448056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Gerencia ferramentas, permissões e loop.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4"/>
          <p:cNvSpPr/>
          <p:nvPr/>
        </p:nvSpPr>
        <p:spPr>
          <a:xfrm>
            <a:off x="714240" y="5477040"/>
            <a:ext cx="1076112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9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 agente repete o ciclo: observa, decide, age e incorpora o resultado.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6"/>
          <p:cNvSpPr/>
          <p:nvPr/>
        </p:nvSpPr>
        <p:spPr>
          <a:xfrm>
            <a:off x="841248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7"/>
          <p:cNvSpPr/>
          <p:nvPr/>
        </p:nvSpPr>
        <p:spPr>
          <a:xfrm>
            <a:off x="841248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Context engineering seleciona o que a LLM vê.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 type="sldNum" idx="4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5C2697-B9E3-4319-A50C-71F4A2C636B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 segundo encontro, vamos aprender a trabalhar com agentes na prática.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3" name="Text 1"/>
          <p:cNvSpPr/>
          <p:nvPr/>
        </p:nvSpPr>
        <p:spPr>
          <a:xfrm>
            <a:off x="548640" y="2103120"/>
            <a:ext cx="3837600" cy="12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Dia 2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"/>
          <p:cNvSpPr/>
          <p:nvPr/>
        </p:nvSpPr>
        <p:spPr>
          <a:xfrm>
            <a:off x="548640" y="3429000"/>
            <a:ext cx="38376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18:45 às 22:00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120640" y="192024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Rules e skills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4"/>
          <p:cNvSpPr/>
          <p:nvPr/>
        </p:nvSpPr>
        <p:spPr>
          <a:xfrm>
            <a:off x="5120640" y="276156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Tools e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120640" y="360288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Memória e subagentes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5120640" y="444384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4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Specs e revisão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5120640" y="5285160"/>
            <a:ext cx="6489360" cy="6555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 Prática final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sldNum" idx="45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8928BF-764E-4F99-BDC9-1E8FBCB31B4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40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Revisão: quem gera, quem executa e quem orienta?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2" name="Text 1"/>
          <p:cNvSpPr/>
          <p:nvPr/>
        </p:nvSpPr>
        <p:spPr>
          <a:xfrm>
            <a:off x="54864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"/>
          <p:cNvSpPr/>
          <p:nvPr/>
        </p:nvSpPr>
        <p:spPr>
          <a:xfrm>
            <a:off x="54864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Como a saída é gerada token por token?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10"/>
          <p:cNvSpPr/>
          <p:nvPr/>
        </p:nvSpPr>
        <p:spPr>
          <a:xfrm>
            <a:off x="448056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11"/>
          <p:cNvSpPr/>
          <p:nvPr/>
        </p:nvSpPr>
        <p:spPr>
          <a:xfrm>
            <a:off x="448056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Quem chama ferramentas e aplica permissões?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4"/>
          <p:cNvSpPr/>
          <p:nvPr/>
        </p:nvSpPr>
        <p:spPr>
          <a:xfrm>
            <a:off x="714240" y="5477040"/>
            <a:ext cx="1076112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9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Aplique as três respostas ao gerenciador financeiro.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6"/>
          <p:cNvSpPr/>
          <p:nvPr/>
        </p:nvSpPr>
        <p:spPr>
          <a:xfrm>
            <a:off x="8412480" y="2381400"/>
            <a:ext cx="3190680" cy="167436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7"/>
          <p:cNvSpPr/>
          <p:nvPr/>
        </p:nvSpPr>
        <p:spPr>
          <a:xfrm>
            <a:off x="8412480" y="4267080"/>
            <a:ext cx="31906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que precisa entrar na janela de contexto?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 type="sldNum" idx="46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9B49EE-FD06-4DDC-A0CB-10EE0EC48D9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ajuda o agente de uma maneira diferente.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548640" y="3209400"/>
            <a:ext cx="2008800" cy="14601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"/>
          <p:cNvSpPr/>
          <p:nvPr/>
        </p:nvSpPr>
        <p:spPr>
          <a:xfrm>
            <a:off x="3383280" y="178308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Instruções do projeto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7589520" y="178308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· AGENTS.md · CLAUDE.md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 flipV="1">
            <a:off x="2651760" y="2148480"/>
            <a:ext cx="640080" cy="17924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3383280" y="267912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Conhecimento e procedimentos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7589520" y="267912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7"/>
          <p:cNvSpPr/>
          <p:nvPr/>
        </p:nvSpPr>
        <p:spPr>
          <a:xfrm flipV="1">
            <a:off x="2651760" y="304488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8"/>
          <p:cNvSpPr/>
          <p:nvPr/>
        </p:nvSpPr>
        <p:spPr>
          <a:xfrm>
            <a:off x="3383280" y="357516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Capacidades externas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9"/>
          <p:cNvSpPr/>
          <p:nvPr/>
        </p:nvSpPr>
        <p:spPr>
          <a:xfrm>
            <a:off x="7589520" y="357516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Tools · MCP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10"/>
          <p:cNvSpPr/>
          <p:nvPr/>
        </p:nvSpPr>
        <p:spPr>
          <a:xfrm>
            <a:off x="2651760" y="3940920"/>
            <a:ext cx="640080" cy="36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1" name="Text 11"/>
          <p:cNvSpPr/>
          <p:nvPr/>
        </p:nvSpPr>
        <p:spPr>
          <a:xfrm>
            <a:off x="3383280" y="447156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trabalhos longos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12"/>
          <p:cNvSpPr/>
          <p:nvPr/>
        </p:nvSpPr>
        <p:spPr>
          <a:xfrm>
            <a:off x="7589520" y="447156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Memória · Subagentes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13"/>
          <p:cNvSpPr/>
          <p:nvPr/>
        </p:nvSpPr>
        <p:spPr>
          <a:xfrm>
            <a:off x="2651760" y="394092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14"/>
          <p:cNvSpPr/>
          <p:nvPr/>
        </p:nvSpPr>
        <p:spPr>
          <a:xfrm>
            <a:off x="3383280" y="536760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a realizar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5"/>
          <p:cNvSpPr/>
          <p:nvPr/>
        </p:nvSpPr>
        <p:spPr>
          <a:xfrm>
            <a:off x="7589520" y="5367600"/>
            <a:ext cx="4020480" cy="72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· Plano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6"/>
          <p:cNvSpPr/>
          <p:nvPr/>
        </p:nvSpPr>
        <p:spPr>
          <a:xfrm>
            <a:off x="2651760" y="3940920"/>
            <a:ext cx="640080" cy="179208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sldNum" idx="4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C3C4C9-787A-4D2F-9C6E-6E91E1E26751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AGENTS 2"/>
          <p:cNvSpPr/>
          <p:nvPr/>
        </p:nvSpPr>
        <p:spPr>
          <a:xfrm>
            <a:off x="548640" y="38412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AGENTS.md reúne instruções do projeto para agentes de código.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AGENTS 10"/>
          <p:cNvSpPr/>
          <p:nvPr/>
        </p:nvSpPr>
        <p:spPr>
          <a:xfrm>
            <a:off x="548640" y="155448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README: apresenta o projeto às pessoas. AGENTS.md: orienta o trabalho do agente.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AGENTS 11"/>
          <p:cNvSpPr/>
          <p:nvPr/>
        </p:nvSpPr>
        <p:spPr>
          <a:xfrm>
            <a:off x="548640" y="2194560"/>
            <a:ext cx="6766200" cy="35658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 AGENTS.md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Projeto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React + TypeScript; API de finanças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Comandos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Dev: npm run dev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Build: npm run build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Testes: npm test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Lint: npm run lint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Convenções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TypeScript estrito; testar mudanças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Limites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Não editar /generated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</p:txBody>
      </p:sp>
      <p:sp>
        <p:nvSpPr>
          <p:cNvPr id="551" name="AGENTS 14"/>
          <p:cNvSpPr/>
          <p:nvPr/>
        </p:nvSpPr>
        <p:spPr>
          <a:xfrm>
            <a:off x="7863840" y="342900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Instruções concretas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AGENTS 15"/>
          <p:cNvSpPr/>
          <p:nvPr/>
        </p:nvSpPr>
        <p:spPr>
          <a:xfrm>
            <a:off x="7863840" y="3886200"/>
            <a:ext cx="3748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Comandos, estilo e limites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que valem no projeto.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AGENTS 16"/>
          <p:cNvSpPr/>
          <p:nvPr/>
        </p:nvSpPr>
        <p:spPr>
          <a:xfrm>
            <a:off x="7863840" y="493776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Documento vivo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AGENTS 17"/>
          <p:cNvSpPr/>
          <p:nvPr/>
        </p:nvSpPr>
        <p:spPr>
          <a:xfrm>
            <a:off x="7863840" y="5394960"/>
            <a:ext cx="3748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Atualize junto com o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AGENTS 18"/>
          <p:cNvSpPr/>
          <p:nvPr/>
        </p:nvSpPr>
        <p:spPr>
          <a:xfrm>
            <a:off x="548640" y="608076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https://agents.md/ · exemplo adaptado ao gerenciador financeiro.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556" name="AGENTS 99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AGENTS 2"/>
          <p:cNvSpPr/>
          <p:nvPr/>
        </p:nvSpPr>
        <p:spPr>
          <a:xfrm>
            <a:off x="548640" y="38412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Instruções por subpasta detalham as regras da raiz.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AGENTS 10"/>
          <p:cNvSpPr/>
          <p:nvPr/>
        </p:nvSpPr>
        <p:spPr>
          <a:xfrm>
            <a:off x="548640" y="1828800"/>
            <a:ext cx="5394600" cy="338292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projeto/</a:t>
            </a:r>
            <a:endParaRPr lang="en-US" sz="20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AGENTS.md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api/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├── AGENTS.md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└── lancamentos.ts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└── web/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    └── App.tsx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</p:txBody>
      </p:sp>
      <p:sp>
        <p:nvSpPr>
          <p:cNvPr id="559" name="AGENTS 11"/>
          <p:cNvSpPr/>
          <p:nvPr/>
        </p:nvSpPr>
        <p:spPr>
          <a:xfrm>
            <a:off x="6446520" y="18288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Raiz → projeto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AGENTS 12"/>
          <p:cNvSpPr/>
          <p:nvPr/>
        </p:nvSpPr>
        <p:spPr>
          <a:xfrm>
            <a:off x="6446520" y="2331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Define comandos e convenções comuns.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AGENTS 13"/>
          <p:cNvSpPr/>
          <p:nvPr/>
        </p:nvSpPr>
        <p:spPr>
          <a:xfrm>
            <a:off x="6446520" y="32004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api/ → regras locais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AGENTS 14"/>
          <p:cNvSpPr/>
          <p:nvPr/>
        </p:nvSpPr>
        <p:spPr>
          <a:xfrm>
            <a:off x="6446520" y="370332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Em conflitos, prevalece o AGENTS.md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mais próximo do arquivo editado.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AGENTS 15"/>
          <p:cNvSpPr/>
          <p:nvPr/>
        </p:nvSpPr>
        <p:spPr>
          <a:xfrm>
            <a:off x="6446520" y="48006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Pedido explícito → orientação da tarefa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AGENTS 16"/>
          <p:cNvSpPr/>
          <p:nvPr/>
        </p:nvSpPr>
        <p:spPr>
          <a:xfrm>
            <a:off x="6446520" y="5303520"/>
            <a:ext cx="512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agente dá prioridade ao pedido do usuário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sobre as instruções do arquivo.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AGENTS 17"/>
          <p:cNvSpPr/>
          <p:nvPr/>
        </p:nvSpPr>
        <p:spPr>
          <a:xfrm>
            <a:off x="548640" y="6217920"/>
            <a:ext cx="10789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https://agents.md/ · confirme suporte e leitura no cliente usado na aula.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566" name="AGENTS 99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Skills carregam procedimentos sob demanda: só a descrição fica sempre no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"/>
          <p:cNvSpPr/>
          <p:nvPr/>
        </p:nvSpPr>
        <p:spPr>
          <a:xfrm>
            <a:off x="548640" y="1965960"/>
            <a:ext cx="475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Sempre no contexto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2"/>
          <p:cNvSpPr/>
          <p:nvPr/>
        </p:nvSpPr>
        <p:spPr>
          <a:xfrm>
            <a:off x="548640" y="2468880"/>
            <a:ext cx="4752000" cy="86580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revisar-pr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checa testes, estilo e riscos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3"/>
          <p:cNvSpPr/>
          <p:nvPr/>
        </p:nvSpPr>
        <p:spPr>
          <a:xfrm>
            <a:off x="548640" y="3520440"/>
            <a:ext cx="4752000" cy="86580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gerar-migracao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cria migrações de banco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4"/>
          <p:cNvSpPr/>
          <p:nvPr/>
        </p:nvSpPr>
        <p:spPr>
          <a:xfrm>
            <a:off x="548640" y="4572000"/>
            <a:ext cx="4752000" cy="86580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escrever-spec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estrutura uma especificação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5"/>
          <p:cNvSpPr/>
          <p:nvPr/>
        </p:nvSpPr>
        <p:spPr>
          <a:xfrm>
            <a:off x="5394960" y="2903040"/>
            <a:ext cx="128016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6"/>
          <p:cNvSpPr/>
          <p:nvPr/>
        </p:nvSpPr>
        <p:spPr>
          <a:xfrm>
            <a:off x="5303520" y="2971800"/>
            <a:ext cx="14601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 tarefa combina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7"/>
          <p:cNvSpPr/>
          <p:nvPr/>
        </p:nvSpPr>
        <p:spPr>
          <a:xfrm>
            <a:off x="6766560" y="1965960"/>
            <a:ext cx="48434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Carregado só quando acionada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8"/>
          <p:cNvSpPr/>
          <p:nvPr/>
        </p:nvSpPr>
        <p:spPr>
          <a:xfrm>
            <a:off x="6766560" y="2468880"/>
            <a:ext cx="4843440" cy="296892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revisar-pr</a:t>
            </a:r>
            <a:endParaRPr lang="en-US" sz="1700" b="0" u="none" strike="noStrike">
              <a:solidFill>
                <a:schemeClr val="accent2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1. Leia o diff completo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2. Rode os testes afetados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3. Liste riscos por severidade</a:t>
            </a:r>
            <a:endParaRPr lang="en-US" sz="1700" b="0" u="none" strike="noStrike">
              <a:solidFill>
                <a:schemeClr val="lt1"/>
              </a:solidFill>
              <a:effectLst/>
              <a:uFillTx/>
              <a:latin typeface="Courier New"/>
            </a:endParaRPr>
          </a:p>
        </p:txBody>
      </p:sp>
      <p:sp>
        <p:nvSpPr>
          <p:cNvPr id="576" name="PlaceHolder 2"/>
          <p:cNvSpPr>
            <a:spLocks noGrp="1"/>
          </p:cNvSpPr>
          <p:nvPr>
            <p:ph type="sldNum" idx="48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594CB9-6A5F-40A1-86DC-C4738D7878D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S 2"/>
          <p:cNvSpPr txBox="1"/>
          <p:nvPr/>
        </p:nvSpPr>
        <p:spPr>
          <a:xfrm>
            <a:off x="548640" y="384048"/>
            <a:ext cx="110642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3000" b="1">
                <a:solidFill>
                  <a:srgbClr val="333333"/>
                </a:solidFill>
                <a:latin typeface="Calibri"/>
              </a:rPr>
              <a:t>Uma skill combina SKILL.md com arquivos de apoio opcionais.</a:t>
            </a:r>
            <a:endParaRPr lang="pt-BR" sz="3000"/>
          </a:p>
        </p:txBody>
      </p:sp>
      <p:sp>
        <p:nvSpPr>
          <p:cNvPr id="10" name="AGENTS 10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2000" b="1">
                <a:solidFill>
                  <a:srgbClr val="1B8457"/>
                </a:solidFill>
                <a:latin typeface="Calibri"/>
              </a:rPr>
              <a:t>SKILL.md · instruções da skill</a:t>
            </a:r>
            <a:endParaRPr lang="pt-BR" sz="2000"/>
          </a:p>
        </p:txBody>
      </p:sp>
      <p:sp>
        <p:nvSpPr>
          <p:cNvPr id="11" name="AGENTS 11"/>
          <p:cNvSpPr txBox="1"/>
          <p:nvPr/>
        </p:nvSpPr>
        <p:spPr>
          <a:xfrm>
            <a:off x="548640" y="2286000"/>
            <a:ext cx="6400800" cy="29260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177840" rIns="177840" tIns="177840" bIns="177840" anchor="t"/>
          <a:lstStyle/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accent2"/>
                </a:solidFill>
                <a:latin typeface="Courier New"/>
              </a:rPr>
              <a:t>---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accent2"/>
                </a:solidFill>
                <a:latin typeface="Courier New"/>
              </a:rPr>
              <a:t>name: escrever-spec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accent2"/>
                </a:solidFill>
                <a:latin typeface="Courier New"/>
              </a:rPr>
              <a:t>description: Use para especificar uma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  feature com critérios de aceite.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---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/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1. Pergunte regras e casos-limite.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2. Liste critérios verificáveis.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3. Salve em specs/financas.md.</a:t>
            </a:r>
            <a:endParaRPr lang="pt-BR" sz="16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chemeClr val="lt1"/>
                </a:solidFill>
                <a:latin typeface="Courier New"/>
              </a:rPr>
              <a:t>4. Use templates/spec.md como modelo.</a:t>
            </a:r>
            <a:endParaRPr lang="pt-BR" sz="1600"/>
          </a:p>
        </p:txBody>
      </p:sp>
      <p:sp>
        <p:nvSpPr>
          <p:cNvPr id="12" name="AGENTS 12"/>
          <p:cNvSpPr txBox="1"/>
          <p:nvPr/>
        </p:nvSpPr>
        <p:spPr>
          <a:xfrm>
            <a:off x="548640" y="53949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1800" b="0">
                <a:solidFill>
                  <a:srgbClr val="333333"/>
                </a:solidFill>
                <a:latin typeface="Calibri"/>
              </a:rPr>
              <a:t>Cabeçalho: quando usar. Corpo: como fazer.</a:t>
            </a:r>
            <a:endParaRPr lang="pt-BR" sz="1800"/>
          </a:p>
        </p:txBody>
      </p:sp>
      <p:sp>
        <p:nvSpPr>
          <p:cNvPr id="13" name="AGENTS 13"/>
          <p:cNvSpPr txBox="1"/>
          <p:nvPr/>
        </p:nvSpPr>
        <p:spPr>
          <a:xfrm>
            <a:off x="7315200" y="178308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2000" b="1">
                <a:solidFill>
                  <a:srgbClr val="1B8457"/>
                </a:solidFill>
                <a:latin typeface="Calibri"/>
              </a:rPr>
              <a:t>Pastas de apoio · opcionais</a:t>
            </a:r>
            <a:endParaRPr lang="pt-BR" sz="2000"/>
          </a:p>
        </p:txBody>
      </p:sp>
      <p:sp>
        <p:nvSpPr>
          <p:cNvPr id="14" name="AGENTS 14"/>
          <p:cNvSpPr txBox="1"/>
          <p:nvPr/>
        </p:nvSpPr>
        <p:spPr>
          <a:xfrm>
            <a:off x="7315200" y="2286000"/>
            <a:ext cx="4297680" cy="2103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177840" rIns="177840" tIns="177840" bIns="177840" anchor="t"/>
          <a:lstStyle/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escrever-spec/</a:t>
            </a:r>
            <a:endParaRPr lang="pt-BR" sz="2000"/>
          </a:p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├── SKILL.md</a:t>
            </a:r>
            <a:endParaRPr lang="pt-BR" sz="2000"/>
          </a:p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├── references/</a:t>
            </a:r>
            <a:endParaRPr lang="pt-BR" sz="2000"/>
          </a:p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├── resources/</a:t>
            </a:r>
            <a:endParaRPr lang="pt-BR" sz="2000"/>
          </a:p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├── templates/</a:t>
            </a:r>
            <a:endParaRPr lang="pt-BR" sz="2000"/>
          </a:p>
          <a:p>
            <a:pPr>
              <a:lnSpc>
                <a:spcPct val="110000"/>
              </a:lnSpc>
            </a:pPr>
            <a:r>
              <a:rPr lang="pt-BR" sz="2000" b="0">
                <a:solidFill>
                  <a:schemeClr val="accent2"/>
                </a:solidFill>
                <a:latin typeface="Courier New"/>
              </a:rPr>
              <a:t>└── scripts/</a:t>
            </a:r>
            <a:endParaRPr lang="pt-BR" sz="2000"/>
          </a:p>
        </p:txBody>
      </p:sp>
      <p:sp>
        <p:nvSpPr>
          <p:cNvPr id="15" name="AGENTS 15"/>
          <p:cNvSpPr txBox="1"/>
          <p:nvPr/>
        </p:nvSpPr>
        <p:spPr>
          <a:xfrm>
            <a:off x="7315200" y="4434840"/>
            <a:ext cx="429768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1700" b="0">
                <a:solidFill>
                  <a:srgbClr val="333333"/>
                </a:solidFill>
                <a:latin typeface="Calibri"/>
              </a:rPr>
              <a:t>references/ → documentação</a:t>
            </a:r>
            <a:endParaRPr lang="pt-BR" sz="17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rgbClr val="333333"/>
                </a:solidFill>
                <a:latin typeface="Calibri"/>
              </a:rPr>
              <a:t>resources/ → arquivos e materiais</a:t>
            </a:r>
            <a:endParaRPr lang="pt-BR" sz="17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rgbClr val="333333"/>
                </a:solidFill>
                <a:latin typeface="Calibri"/>
              </a:rPr>
              <a:t>templates/ → modelos reutilizáveis</a:t>
            </a:r>
            <a:endParaRPr lang="pt-BR" sz="1700"/>
          </a:p>
          <a:p>
            <a:pPr>
              <a:lnSpc>
                <a:spcPct val="110000"/>
              </a:lnSpc>
            </a:pPr>
            <a:r>
              <a:rPr lang="pt-BR" sz="1700" b="0">
                <a:solidFill>
                  <a:srgbClr val="333333"/>
                </a:solidFill>
                <a:latin typeface="Calibri"/>
              </a:rPr>
              <a:t>scripts/ → código executável</a:t>
            </a:r>
            <a:endParaRPr lang="pt-BR" sz="1700"/>
          </a:p>
        </p:txBody>
      </p:sp>
      <p:sp>
        <p:nvSpPr>
          <p:cNvPr id="16" name="AGENTS 16"/>
          <p:cNvSpPr txBox="1"/>
          <p:nvPr/>
        </p:nvSpPr>
        <p:spPr>
          <a:xfrm>
            <a:off x="548640" y="5943600"/>
            <a:ext cx="11064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1800" b="0">
                <a:solidFill>
                  <a:srgbClr val="1B8457"/>
                </a:solidFill>
                <a:latin typeface="Calibri"/>
              </a:rPr>
              <a:t>SKILL.md indica quais arquivos consultar ou scripts executar quando necessário.</a:t>
            </a:r>
            <a:endParaRPr lang="pt-BR" sz="1800"/>
          </a:p>
        </p:txBody>
      </p:sp>
      <p:sp>
        <p:nvSpPr>
          <p:cNvPr id="17" name="AGENTS 17"/>
          <p:cNvSpPr txBox="1"/>
          <p:nvPr/>
        </p:nvSpPr>
        <p:spPr>
          <a:xfrm>
            <a:off x="548640" y="633984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1200" b="0">
                <a:solidFill>
                  <a:schemeClr val="accent3"/>
                </a:solidFill>
                <a:latin typeface="Calibri"/>
              </a:rPr>
              <a:t>Fonte: agentskills.io/specification · nomes ilustrativos; assets/ também pode reunir recursos e templates.</a:t>
            </a:r>
            <a:endParaRPr lang="pt-BR" sz="1000"/>
          </a:p>
        </p:txBody>
      </p:sp>
      <p:sp>
        <p:nvSpPr>
          <p:cNvPr id="99" name="AGENTS 99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>
              <a:lnSpc>
                <a:spcPct val="110000"/>
              </a:lnSpc>
            </a:pPr>
            <a:r>
              <a:rPr lang="pt-BR" sz="1000" b="0">
                <a:solidFill>
                  <a:srgbClr val="666666"/>
                </a:solidFill>
                <a:latin typeface="Calibri"/>
              </a:rPr>
              <a:t>46</a:t>
            </a:r>
            <a:endParaRPr lang="pt-BR" sz="1000"/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tool é uma função descrita para o modelo, que o harness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executa quando o modelo pede.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1"/>
          <p:cNvSpPr/>
          <p:nvPr/>
        </p:nvSpPr>
        <p:spPr>
          <a:xfrm>
            <a:off x="548640" y="1691640"/>
            <a:ext cx="56664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o modelo vê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2"/>
          <p:cNvSpPr/>
          <p:nvPr/>
        </p:nvSpPr>
        <p:spPr>
          <a:xfrm>
            <a:off x="548640" y="2194560"/>
            <a:ext cx="5849280" cy="38376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"name": "read_file",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"description":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  "Lê o conteúdo de um arquivo",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"parameters": {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  "path": "string"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3"/>
          <p:cNvSpPr/>
          <p:nvPr/>
        </p:nvSpPr>
        <p:spPr>
          <a:xfrm>
            <a:off x="6949440" y="1691640"/>
            <a:ext cx="46605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acontece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4"/>
          <p:cNvSpPr/>
          <p:nvPr/>
        </p:nvSpPr>
        <p:spPr>
          <a:xfrm>
            <a:off x="6949440" y="2194560"/>
            <a:ext cx="4660560" cy="9115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Modelo pede: read_file(“src/app.ts”)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5"/>
          <p:cNvSpPr/>
          <p:nvPr/>
        </p:nvSpPr>
        <p:spPr>
          <a:xfrm>
            <a:off x="9281160" y="31546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6"/>
          <p:cNvSpPr/>
          <p:nvPr/>
        </p:nvSpPr>
        <p:spPr>
          <a:xfrm>
            <a:off x="6949440" y="3566160"/>
            <a:ext cx="4660560" cy="9115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 executa a leitura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7"/>
          <p:cNvSpPr/>
          <p:nvPr/>
        </p:nvSpPr>
        <p:spPr>
          <a:xfrm>
            <a:off x="9281160" y="45262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2" name="Text 8"/>
          <p:cNvSpPr/>
          <p:nvPr/>
        </p:nvSpPr>
        <p:spPr>
          <a:xfrm>
            <a:off x="6949440" y="4937760"/>
            <a:ext cx="4660560" cy="91152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Conteúdo volta ao 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 type="sldNum" idx="50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28162F-DB8F-43A9-AD53-15C903D73F6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o MCP, um serviço integrado uma vez funciona com qualquer agente compatível.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1"/>
          <p:cNvSpPr/>
          <p:nvPr/>
        </p:nvSpPr>
        <p:spPr>
          <a:xfrm>
            <a:off x="548640" y="169164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2"/>
          <p:cNvSpPr/>
          <p:nvPr/>
        </p:nvSpPr>
        <p:spPr>
          <a:xfrm>
            <a:off x="548640" y="237744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3"/>
          <p:cNvSpPr/>
          <p:nvPr/>
        </p:nvSpPr>
        <p:spPr>
          <a:xfrm>
            <a:off x="548640" y="342900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4"/>
          <p:cNvSpPr/>
          <p:nvPr/>
        </p:nvSpPr>
        <p:spPr>
          <a:xfrm>
            <a:off x="548640" y="448056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5"/>
          <p:cNvSpPr/>
          <p:nvPr/>
        </p:nvSpPr>
        <p:spPr>
          <a:xfrm>
            <a:off x="3931920" y="237744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6"/>
          <p:cNvSpPr/>
          <p:nvPr/>
        </p:nvSpPr>
        <p:spPr>
          <a:xfrm>
            <a:off x="3931920" y="342900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7"/>
          <p:cNvSpPr/>
          <p:nvPr/>
        </p:nvSpPr>
        <p:spPr>
          <a:xfrm>
            <a:off x="3931920" y="448056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8"/>
          <p:cNvSpPr/>
          <p:nvPr/>
        </p:nvSpPr>
        <p:spPr>
          <a:xfrm>
            <a:off x="2331720" y="272016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3" name="Shape 9"/>
          <p:cNvSpPr/>
          <p:nvPr/>
        </p:nvSpPr>
        <p:spPr>
          <a:xfrm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4" name="Shape 10"/>
          <p:cNvSpPr/>
          <p:nvPr/>
        </p:nvSpPr>
        <p:spPr>
          <a:xfrm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5" name="Shape 11"/>
          <p:cNvSpPr/>
          <p:nvPr/>
        </p:nvSpPr>
        <p:spPr>
          <a:xfrm flipV="1"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6" name="Shape 12"/>
          <p:cNvSpPr/>
          <p:nvPr/>
        </p:nvSpPr>
        <p:spPr>
          <a:xfrm>
            <a:off x="2331720" y="377172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7" name="Shape 13"/>
          <p:cNvSpPr/>
          <p:nvPr/>
        </p:nvSpPr>
        <p:spPr>
          <a:xfrm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14"/>
          <p:cNvSpPr/>
          <p:nvPr/>
        </p:nvSpPr>
        <p:spPr>
          <a:xfrm flipV="1"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5"/>
          <p:cNvSpPr/>
          <p:nvPr/>
        </p:nvSpPr>
        <p:spPr>
          <a:xfrm flipV="1"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16"/>
          <p:cNvSpPr/>
          <p:nvPr/>
        </p:nvSpPr>
        <p:spPr>
          <a:xfrm>
            <a:off x="2331720" y="482328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 18"/>
          <p:cNvSpPr/>
          <p:nvPr/>
        </p:nvSpPr>
        <p:spPr>
          <a:xfrm>
            <a:off x="6400800" y="1691640"/>
            <a:ext cx="52092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9"/>
          <p:cNvSpPr/>
          <p:nvPr/>
        </p:nvSpPr>
        <p:spPr>
          <a:xfrm>
            <a:off x="6400800" y="237744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20"/>
          <p:cNvSpPr/>
          <p:nvPr/>
        </p:nvSpPr>
        <p:spPr>
          <a:xfrm>
            <a:off x="6400800" y="342900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6400800" y="4480560"/>
            <a:ext cx="1734480" cy="68292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22"/>
          <p:cNvSpPr/>
          <p:nvPr/>
        </p:nvSpPr>
        <p:spPr>
          <a:xfrm>
            <a:off x="8549640" y="2377440"/>
            <a:ext cx="865800" cy="278604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23"/>
          <p:cNvSpPr/>
          <p:nvPr/>
        </p:nvSpPr>
        <p:spPr>
          <a:xfrm>
            <a:off x="9829800" y="237744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4"/>
          <p:cNvSpPr/>
          <p:nvPr/>
        </p:nvSpPr>
        <p:spPr>
          <a:xfrm>
            <a:off x="9829800" y="342900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25"/>
          <p:cNvSpPr/>
          <p:nvPr/>
        </p:nvSpPr>
        <p:spPr>
          <a:xfrm>
            <a:off x="9829800" y="4480560"/>
            <a:ext cx="1780200" cy="68292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26"/>
          <p:cNvSpPr/>
          <p:nvPr/>
        </p:nvSpPr>
        <p:spPr>
          <a:xfrm>
            <a:off x="818388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946404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1" name="Shape 28"/>
          <p:cNvSpPr/>
          <p:nvPr/>
        </p:nvSpPr>
        <p:spPr>
          <a:xfrm>
            <a:off x="818388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2" name="Shape 29"/>
          <p:cNvSpPr/>
          <p:nvPr/>
        </p:nvSpPr>
        <p:spPr>
          <a:xfrm>
            <a:off x="946404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3" name="Shape 30"/>
          <p:cNvSpPr/>
          <p:nvPr/>
        </p:nvSpPr>
        <p:spPr>
          <a:xfrm>
            <a:off x="818388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4" name="Shape 31"/>
          <p:cNvSpPr/>
          <p:nvPr/>
        </p:nvSpPr>
        <p:spPr>
          <a:xfrm>
            <a:off x="946404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sldNum" idx="51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8B8872-BD78-460B-9800-A0376CB27EE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Escolha skills e MCPs pela necessidade concreta da tarefa.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7" name="Selo 601"/>
          <p:cNvSpPr/>
          <p:nvPr/>
        </p:nvSpPr>
        <p:spPr>
          <a:xfrm>
            <a:off x="548640" y="1783080"/>
            <a:ext cx="219168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Item 602"/>
          <p:cNvSpPr/>
          <p:nvPr/>
        </p:nvSpPr>
        <p:spPr>
          <a:xfrm>
            <a:off x="548640" y="240480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docx · pptx · xlsx · pdf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Criação de arquivos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Item 603"/>
          <p:cNvSpPr/>
          <p:nvPr/>
        </p:nvSpPr>
        <p:spPr>
          <a:xfrm>
            <a:off x="548640" y="336492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frontend-design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Construção de interfaces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Item 604"/>
          <p:cNvSpPr/>
          <p:nvPr/>
        </p:nvSpPr>
        <p:spPr>
          <a:xfrm>
            <a:off x="548640" y="432504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webapp-testing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navegador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elo 607"/>
          <p:cNvSpPr/>
          <p:nvPr/>
        </p:nvSpPr>
        <p:spPr>
          <a:xfrm>
            <a:off x="6221880" y="1783080"/>
            <a:ext cx="2191680" cy="40860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Item 608"/>
          <p:cNvSpPr/>
          <p:nvPr/>
        </p:nvSpPr>
        <p:spPr>
          <a:xfrm>
            <a:off x="6221880" y="240480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Issues e PRs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Item 609"/>
          <p:cNvSpPr/>
          <p:nvPr/>
        </p:nvSpPr>
        <p:spPr>
          <a:xfrm>
            <a:off x="6221880" y="336492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Playwright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Validação da interface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Item 610"/>
          <p:cNvSpPr/>
          <p:nvPr/>
        </p:nvSpPr>
        <p:spPr>
          <a:xfrm>
            <a:off x="6221880" y="4325040"/>
            <a:ext cx="5389200" cy="7480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Context7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Docs da biblioteca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Fonte 613"/>
          <p:cNvSpPr/>
          <p:nvPr/>
        </p:nvSpPr>
        <p:spPr>
          <a:xfrm>
            <a:off x="548640" y="5600160"/>
            <a:ext cx="1106244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Escolha a integração a partir da tarefa concreta.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2"/>
          <p:cNvSpPr>
            <a:spLocks noGrp="1"/>
          </p:cNvSpPr>
          <p:nvPr>
            <p:ph type="sldNum" idx="5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390FB7-6408-4BFF-8717-5FB4B5D5A52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49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Memória externa permite que o agente continue o trabalho em outra sessão.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48640" y="2926080"/>
            <a:ext cx="292320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4617720" y="2926080"/>
            <a:ext cx="2923200" cy="136872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Arquivo de memória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notas, decisões, progresso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8686800" y="2926080"/>
            <a:ext cx="292320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356616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42" name="Shape 5"/>
          <p:cNvSpPr/>
          <p:nvPr/>
        </p:nvSpPr>
        <p:spPr>
          <a:xfrm flipH="1">
            <a:off x="763524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3474720" y="3200400"/>
            <a:ext cx="1140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grava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7543800" y="3200400"/>
            <a:ext cx="1140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relê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548640" y="4480560"/>
            <a:ext cx="292320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contexto se perde ao fim da sessão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686800" y="4480560"/>
            <a:ext cx="292320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começa com o contexto vazio e lê a memória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 type="sldNum" idx="5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2847E5-3AD8-4925-8494-1D502AB1054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50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Subagentes isolam uma tarefa em um contexto próprio e devolvem só o resumo.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9" name="Text 1"/>
          <p:cNvSpPr/>
          <p:nvPr/>
        </p:nvSpPr>
        <p:spPr>
          <a:xfrm>
            <a:off x="548640" y="1828800"/>
            <a:ext cx="2374560" cy="42033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 principal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2"/>
          <p:cNvSpPr/>
          <p:nvPr/>
        </p:nvSpPr>
        <p:spPr>
          <a:xfrm>
            <a:off x="5120640" y="1828800"/>
            <a:ext cx="3106080" cy="1277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Pesquisar no 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3"/>
          <p:cNvSpPr/>
          <p:nvPr/>
        </p:nvSpPr>
        <p:spPr>
          <a:xfrm>
            <a:off x="3017520" y="219456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2" name="Text 4"/>
          <p:cNvSpPr/>
          <p:nvPr/>
        </p:nvSpPr>
        <p:spPr>
          <a:xfrm>
            <a:off x="3017520" y="1856160"/>
            <a:ext cx="2008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5"/>
          <p:cNvSpPr/>
          <p:nvPr/>
        </p:nvSpPr>
        <p:spPr>
          <a:xfrm flipH="1">
            <a:off x="3017520" y="274320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4" name="Text 6"/>
          <p:cNvSpPr/>
          <p:nvPr/>
        </p:nvSpPr>
        <p:spPr>
          <a:xfrm>
            <a:off x="3017520" y="2788920"/>
            <a:ext cx="20088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7"/>
          <p:cNvSpPr/>
          <p:nvPr/>
        </p:nvSpPr>
        <p:spPr>
          <a:xfrm>
            <a:off x="5120640" y="3291840"/>
            <a:ext cx="3106080" cy="1277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 testes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8"/>
          <p:cNvSpPr/>
          <p:nvPr/>
        </p:nvSpPr>
        <p:spPr>
          <a:xfrm>
            <a:off x="3017520" y="365760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 9"/>
          <p:cNvSpPr/>
          <p:nvPr/>
        </p:nvSpPr>
        <p:spPr>
          <a:xfrm>
            <a:off x="3017520" y="3319200"/>
            <a:ext cx="2008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10"/>
          <p:cNvSpPr/>
          <p:nvPr/>
        </p:nvSpPr>
        <p:spPr>
          <a:xfrm flipH="1">
            <a:off x="3017520" y="420624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9" name="Text 11"/>
          <p:cNvSpPr/>
          <p:nvPr/>
        </p:nvSpPr>
        <p:spPr>
          <a:xfrm>
            <a:off x="3017520" y="4251960"/>
            <a:ext cx="20088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2"/>
          <p:cNvSpPr/>
          <p:nvPr/>
        </p:nvSpPr>
        <p:spPr>
          <a:xfrm>
            <a:off x="5120640" y="4754880"/>
            <a:ext cx="3106080" cy="1277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 segurança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13"/>
          <p:cNvSpPr/>
          <p:nvPr/>
        </p:nvSpPr>
        <p:spPr>
          <a:xfrm>
            <a:off x="3017520" y="512064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2" name="Text 14"/>
          <p:cNvSpPr/>
          <p:nvPr/>
        </p:nvSpPr>
        <p:spPr>
          <a:xfrm>
            <a:off x="3017520" y="4782240"/>
            <a:ext cx="2008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5"/>
          <p:cNvSpPr/>
          <p:nvPr/>
        </p:nvSpPr>
        <p:spPr>
          <a:xfrm flipH="1">
            <a:off x="3017520" y="566928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 16"/>
          <p:cNvSpPr/>
          <p:nvPr/>
        </p:nvSpPr>
        <p:spPr>
          <a:xfrm>
            <a:off x="3017520" y="5715000"/>
            <a:ext cx="20088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7"/>
          <p:cNvSpPr/>
          <p:nvPr/>
        </p:nvSpPr>
        <p:spPr>
          <a:xfrm>
            <a:off x="8778240" y="2926080"/>
            <a:ext cx="2831760" cy="20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É uma forma de gerir contexto, não de ganhar mais inteligência.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 type="sldNum" idx="5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332B98-4CF0-4C56-B92D-BFA0D168865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agentes, o esforço humano se desloca da digitação do código para a especificação e a validação.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Text 1"/>
          <p:cNvSpPr/>
          <p:nvPr/>
        </p:nvSpPr>
        <p:spPr>
          <a:xfrm>
            <a:off x="54864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2"/>
          <p:cNvSpPr/>
          <p:nvPr/>
        </p:nvSpPr>
        <p:spPr>
          <a:xfrm>
            <a:off x="25966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0" name="Text 3"/>
          <p:cNvSpPr/>
          <p:nvPr/>
        </p:nvSpPr>
        <p:spPr>
          <a:xfrm>
            <a:off x="281196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Planejar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4"/>
          <p:cNvSpPr/>
          <p:nvPr/>
        </p:nvSpPr>
        <p:spPr>
          <a:xfrm>
            <a:off x="486000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2" name="Text 5"/>
          <p:cNvSpPr/>
          <p:nvPr/>
        </p:nvSpPr>
        <p:spPr>
          <a:xfrm>
            <a:off x="507492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Implementar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6"/>
          <p:cNvSpPr/>
          <p:nvPr/>
        </p:nvSpPr>
        <p:spPr>
          <a:xfrm>
            <a:off x="712296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7"/>
          <p:cNvSpPr/>
          <p:nvPr/>
        </p:nvSpPr>
        <p:spPr>
          <a:xfrm>
            <a:off x="733824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8"/>
          <p:cNvSpPr/>
          <p:nvPr/>
        </p:nvSpPr>
        <p:spPr>
          <a:xfrm>
            <a:off x="93862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 9"/>
          <p:cNvSpPr/>
          <p:nvPr/>
        </p:nvSpPr>
        <p:spPr>
          <a:xfrm>
            <a:off x="9601200" y="2926080"/>
            <a:ext cx="2008800" cy="11858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Revisar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0"/>
          <p:cNvSpPr/>
          <p:nvPr/>
        </p:nvSpPr>
        <p:spPr>
          <a:xfrm>
            <a:off x="548640" y="4389120"/>
            <a:ext cx="427464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8" name="Text 11"/>
          <p:cNvSpPr/>
          <p:nvPr/>
        </p:nvSpPr>
        <p:spPr>
          <a:xfrm>
            <a:off x="548640" y="4498920"/>
            <a:ext cx="42721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define o trabalho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12"/>
          <p:cNvSpPr/>
          <p:nvPr/>
        </p:nvSpPr>
        <p:spPr>
          <a:xfrm>
            <a:off x="5074920" y="4389120"/>
            <a:ext cx="4274640" cy="360"/>
          </a:xfrm>
          <a:prstGeom prst="line">
            <a:avLst/>
          </a:prstGeom>
          <a:ln w="254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0" name="Text 13"/>
          <p:cNvSpPr/>
          <p:nvPr/>
        </p:nvSpPr>
        <p:spPr>
          <a:xfrm>
            <a:off x="5074920" y="4498920"/>
            <a:ext cx="42721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14"/>
          <p:cNvSpPr/>
          <p:nvPr/>
        </p:nvSpPr>
        <p:spPr>
          <a:xfrm>
            <a:off x="9601200" y="4389120"/>
            <a:ext cx="201168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2" name="Text 15"/>
          <p:cNvSpPr/>
          <p:nvPr/>
        </p:nvSpPr>
        <p:spPr>
          <a:xfrm>
            <a:off x="9601200" y="4498920"/>
            <a:ext cx="20088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valida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 type="sldNum" idx="55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F3097F-2A00-4D7F-829D-CA6A4C1E3BDE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Sem critérios claros, pedir código direto aumenta o risco de uma entrega inadequada.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5" name="Rotulo 601"/>
          <p:cNvSpPr/>
          <p:nvPr/>
        </p:nvSpPr>
        <p:spPr>
          <a:xfrm>
            <a:off x="548640" y="1783080"/>
            <a:ext cx="5298120" cy="3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Sem critérios: decisões implícitas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aixa 602"/>
          <p:cNvSpPr/>
          <p:nvPr/>
        </p:nvSpPr>
        <p:spPr>
          <a:xfrm>
            <a:off x="548640" y="2300040"/>
            <a:ext cx="5298120" cy="7581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Seta 603"/>
          <p:cNvSpPr/>
          <p:nvPr/>
        </p:nvSpPr>
        <p:spPr>
          <a:xfrm>
            <a:off x="319860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8" name="Caixa 604"/>
          <p:cNvSpPr/>
          <p:nvPr/>
        </p:nvSpPr>
        <p:spPr>
          <a:xfrm>
            <a:off x="548640" y="3430080"/>
            <a:ext cx="5298120" cy="89820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Interface, regras, dados e testes ficam em aberto.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Seta 605"/>
          <p:cNvSpPr/>
          <p:nvPr/>
        </p:nvSpPr>
        <p:spPr>
          <a:xfrm>
            <a:off x="319860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0" name="Caixa 606"/>
          <p:cNvSpPr/>
          <p:nvPr/>
        </p:nvSpPr>
        <p:spPr>
          <a:xfrm>
            <a:off x="548640" y="4700160"/>
            <a:ext cx="5298120" cy="89820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solução pode parecer certa e não atender à necessidade.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Rotulo 607"/>
          <p:cNvSpPr/>
          <p:nvPr/>
        </p:nvSpPr>
        <p:spPr>
          <a:xfrm>
            <a:off x="6312960" y="1783080"/>
            <a:ext cx="5298120" cy="3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critérios: comportamento revisado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aixa 608"/>
          <p:cNvSpPr/>
          <p:nvPr/>
        </p:nvSpPr>
        <p:spPr>
          <a:xfrm>
            <a:off x="6312960" y="2300040"/>
            <a:ext cx="5298120" cy="7581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Seta 609"/>
          <p:cNvSpPr/>
          <p:nvPr/>
        </p:nvSpPr>
        <p:spPr>
          <a:xfrm>
            <a:off x="896256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4" name="Caixa 610"/>
          <p:cNvSpPr/>
          <p:nvPr/>
        </p:nvSpPr>
        <p:spPr>
          <a:xfrm>
            <a:off x="6312960" y="3430080"/>
            <a:ext cx="5298120" cy="8982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define o comportamento antes da implementação.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Seta 611"/>
          <p:cNvSpPr/>
          <p:nvPr/>
        </p:nvSpPr>
        <p:spPr>
          <a:xfrm>
            <a:off x="896256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6" name="Caixa 612"/>
          <p:cNvSpPr/>
          <p:nvPr/>
        </p:nvSpPr>
        <p:spPr>
          <a:xfrm>
            <a:off x="6312960" y="4700160"/>
            <a:ext cx="5298120" cy="8982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consegue conferir o resultado contra a spec.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Fonte 613"/>
          <p:cNvSpPr/>
          <p:nvPr/>
        </p:nvSpPr>
        <p:spPr>
          <a:xfrm>
            <a:off x="548640" y="578988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GitHub Blog, sobre a importância de instruções claras para agentes.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2"/>
          <p:cNvSpPr>
            <a:spLocks noGrp="1"/>
          </p:cNvSpPr>
          <p:nvPr>
            <p:ph type="sldNum" idx="56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4D1892-265E-476C-BFCC-568974760C6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SDD é escrever o que o software deve fazer antes de o agente escrever o código.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0" name="Caixa 601"/>
          <p:cNvSpPr/>
          <p:nvPr/>
        </p:nvSpPr>
        <p:spPr>
          <a:xfrm>
            <a:off x="548640" y="1783080"/>
            <a:ext cx="4298040" cy="3948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ctr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Spec-driven development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 o comportamento antes de pedir o código.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spec é a fonte de verdade que guia o agente e que você revisa.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Caixa 602"/>
          <p:cNvSpPr/>
          <p:nvPr/>
        </p:nvSpPr>
        <p:spPr>
          <a:xfrm>
            <a:off x="5248800" y="1783080"/>
            <a:ext cx="6362280" cy="184824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(AGENTS.md)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Aplicadas conforme escopo e cliente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Convenções do projeto: comandos, estilo, limites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Reutilizadas entre tarefas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Caixa 603"/>
          <p:cNvSpPr/>
          <p:nvPr/>
        </p:nvSpPr>
        <p:spPr>
          <a:xfrm>
            <a:off x="5248800" y="3882960"/>
            <a:ext cx="6362280" cy="18482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(por feature)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Carregada só no trabalho em questão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Comportamento esperado e critérios de aceite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Muda a cada funcionalidade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Fonte 604"/>
          <p:cNvSpPr/>
          <p:nvPr/>
        </p:nvSpPr>
        <p:spPr>
          <a:xfrm>
            <a:off x="548640" y="585000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Distinção de Böckeler (Thoughtworks, martinfowler.com): a spec vale por feature; rules e memory bank, para o projeto.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sldNum" idx="5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5D589C-C488-4A1F-868C-AAE5674FC89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54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fluxo de SDD pode usar seis etapas; adapte-o ao tamanho da tarefa.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6" name="Caixa 601"/>
          <p:cNvSpPr/>
          <p:nvPr/>
        </p:nvSpPr>
        <p:spPr>
          <a:xfrm>
            <a:off x="54864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1  PRD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Skill 602"/>
          <p:cNvSpPr/>
          <p:nvPr/>
        </p:nvSpPr>
        <p:spPr>
          <a:xfrm>
            <a:off x="54864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definir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Artefato 603"/>
          <p:cNvSpPr/>
          <p:nvPr/>
        </p:nvSpPr>
        <p:spPr>
          <a:xfrm>
            <a:off x="54864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prd.md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eta 604"/>
          <p:cNvSpPr/>
          <p:nvPr/>
        </p:nvSpPr>
        <p:spPr>
          <a:xfrm>
            <a:off x="222444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0" name="Caixa 605"/>
          <p:cNvSpPr/>
          <p:nvPr/>
        </p:nvSpPr>
        <p:spPr>
          <a:xfrm>
            <a:off x="243432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2  TechSpec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kill 606"/>
          <p:cNvSpPr/>
          <p:nvPr/>
        </p:nvSpPr>
        <p:spPr>
          <a:xfrm>
            <a:off x="243432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projetar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Artefato 607"/>
          <p:cNvSpPr/>
          <p:nvPr/>
        </p:nvSpPr>
        <p:spPr>
          <a:xfrm>
            <a:off x="243432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techspec.md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eta 608"/>
          <p:cNvSpPr/>
          <p:nvPr/>
        </p:nvSpPr>
        <p:spPr>
          <a:xfrm>
            <a:off x="411012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4" name="Caixa 609"/>
          <p:cNvSpPr/>
          <p:nvPr/>
        </p:nvSpPr>
        <p:spPr>
          <a:xfrm>
            <a:off x="432000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3  Tasks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kill 610"/>
          <p:cNvSpPr/>
          <p:nvPr/>
        </p:nvSpPr>
        <p:spPr>
          <a:xfrm>
            <a:off x="432000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organizar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Artefato 611"/>
          <p:cNvSpPr/>
          <p:nvPr/>
        </p:nvSpPr>
        <p:spPr>
          <a:xfrm>
            <a:off x="432000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tasks.md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Seta 612"/>
          <p:cNvSpPr/>
          <p:nvPr/>
        </p:nvSpPr>
        <p:spPr>
          <a:xfrm>
            <a:off x="599580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8" name="Caixa 613"/>
          <p:cNvSpPr/>
          <p:nvPr/>
        </p:nvSpPr>
        <p:spPr>
          <a:xfrm>
            <a:off x="620568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Executar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Skill 614"/>
          <p:cNvSpPr/>
          <p:nvPr/>
        </p:nvSpPr>
        <p:spPr>
          <a:xfrm>
            <a:off x="620568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implementar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Artefato 615"/>
          <p:cNvSpPr/>
          <p:nvPr/>
        </p:nvSpPr>
        <p:spPr>
          <a:xfrm>
            <a:off x="620568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eta 616"/>
          <p:cNvSpPr/>
          <p:nvPr/>
        </p:nvSpPr>
        <p:spPr>
          <a:xfrm>
            <a:off x="788148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22" name="Caixa 617"/>
          <p:cNvSpPr/>
          <p:nvPr/>
        </p:nvSpPr>
        <p:spPr>
          <a:xfrm>
            <a:off x="809136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QA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kill 618"/>
          <p:cNvSpPr/>
          <p:nvPr/>
        </p:nvSpPr>
        <p:spPr>
          <a:xfrm>
            <a:off x="809136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testar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Artefato 619"/>
          <p:cNvSpPr/>
          <p:nvPr/>
        </p:nvSpPr>
        <p:spPr>
          <a:xfrm>
            <a:off x="809136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Seta 620"/>
          <p:cNvSpPr/>
          <p:nvPr/>
        </p:nvSpPr>
        <p:spPr>
          <a:xfrm>
            <a:off x="976716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26" name="Caixa 621"/>
          <p:cNvSpPr/>
          <p:nvPr/>
        </p:nvSpPr>
        <p:spPr>
          <a:xfrm>
            <a:off x="9977040" y="2149920"/>
            <a:ext cx="1634040" cy="8982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6  Review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kill 622"/>
          <p:cNvSpPr/>
          <p:nvPr/>
        </p:nvSpPr>
        <p:spPr>
          <a:xfrm>
            <a:off x="9977040" y="312984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revisar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Artefato 623"/>
          <p:cNvSpPr/>
          <p:nvPr/>
        </p:nvSpPr>
        <p:spPr>
          <a:xfrm>
            <a:off x="9977040" y="3440160"/>
            <a:ext cx="16340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codereview.md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Linha 624"/>
          <p:cNvSpPr/>
          <p:nvPr/>
        </p:nvSpPr>
        <p:spPr>
          <a:xfrm>
            <a:off x="548640" y="3899880"/>
            <a:ext cx="5407200" cy="360"/>
          </a:xfrm>
          <a:prstGeom prst="line">
            <a:avLst/>
          </a:prstGeom>
          <a:ln w="15875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30" name="Grupo 625"/>
          <p:cNvSpPr/>
          <p:nvPr/>
        </p:nvSpPr>
        <p:spPr>
          <a:xfrm>
            <a:off x="548640" y="3949920"/>
            <a:ext cx="54054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Você define e aprova o trabalho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Linha 626"/>
          <p:cNvSpPr/>
          <p:nvPr/>
        </p:nvSpPr>
        <p:spPr>
          <a:xfrm>
            <a:off x="6205320" y="3899880"/>
            <a:ext cx="5407560" cy="360"/>
          </a:xfrm>
          <a:prstGeom prst="line">
            <a:avLst/>
          </a:prstGeom>
          <a:ln w="15875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32" name="Grupo 627"/>
          <p:cNvSpPr/>
          <p:nvPr/>
        </p:nvSpPr>
        <p:spPr>
          <a:xfrm>
            <a:off x="6205680" y="3949920"/>
            <a:ext cx="54054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aixa 628"/>
          <p:cNvSpPr/>
          <p:nvPr/>
        </p:nvSpPr>
        <p:spPr>
          <a:xfrm>
            <a:off x="548640" y="4550040"/>
            <a:ext cx="11062440" cy="10983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Você aprova PRD, TechSpec e tasks. </a:t>
            </a: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Depois, o agente implementa e verifica; você valida.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Fonte 629"/>
          <p:cNvSpPr/>
          <p:nvPr/>
        </p:nvSpPr>
        <p:spPr>
          <a:xfrm>
            <a:off x="548640" y="579996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Modelo: Rodrigo Branas, Formação em IA (spec-driven-development).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2"/>
          <p:cNvSpPr>
            <a:spLocks noGrp="1"/>
          </p:cNvSpPr>
          <p:nvPr>
            <p:ph type="sldNum" idx="58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4CCCB0-343D-4821-8136-64EFCE5DD61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55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PRD diz o quê, a TechSpec diz como e as tasks dizem em que ordem.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7" name="Rotulo 601"/>
          <p:cNvSpPr/>
          <p:nvPr/>
        </p:nvSpPr>
        <p:spPr>
          <a:xfrm>
            <a:off x="548640" y="1783080"/>
            <a:ext cx="3498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PRD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o quê e por quê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odigo 602"/>
          <p:cNvSpPr/>
          <p:nvPr/>
        </p:nvSpPr>
        <p:spPr>
          <a:xfrm>
            <a:off x="548640" y="2250000"/>
            <a:ext cx="3498120" cy="2648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Critérios de aceite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CA-01  valor &gt; 0 → 201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CA-02  valor = 0 → 400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Legenda 603"/>
          <p:cNvSpPr/>
          <p:nvPr/>
        </p:nvSpPr>
        <p:spPr>
          <a:xfrm>
            <a:off x="548640" y="5000040"/>
            <a:ext cx="349812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comportamento esperado.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Rotulo 604"/>
          <p:cNvSpPr/>
          <p:nvPr/>
        </p:nvSpPr>
        <p:spPr>
          <a:xfrm>
            <a:off x="4330800" y="1783080"/>
            <a:ext cx="3498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TechSpec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como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odigo 605"/>
          <p:cNvSpPr/>
          <p:nvPr/>
        </p:nvSpPr>
        <p:spPr>
          <a:xfrm>
            <a:off x="4330800" y="2250000"/>
            <a:ext cx="3498120" cy="2648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Testes da rota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TI-01  valor &gt; 0 → 201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TI-02  valor = 0 → 400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Legenda 606"/>
          <p:cNvSpPr/>
          <p:nvPr/>
        </p:nvSpPr>
        <p:spPr>
          <a:xfrm>
            <a:off x="4330800" y="5000040"/>
            <a:ext cx="349812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desenho e os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Rotulo 607"/>
          <p:cNvSpPr/>
          <p:nvPr/>
        </p:nvSpPr>
        <p:spPr>
          <a:xfrm>
            <a:off x="8112960" y="1783080"/>
            <a:ext cx="3498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Tasks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em que ordem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odigo 608"/>
          <p:cNvSpPr/>
          <p:nvPr/>
        </p:nvSpPr>
        <p:spPr>
          <a:xfrm>
            <a:off x="8112960" y="2250000"/>
            <a:ext cx="3498120" cy="2648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Entregas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  Contrato da API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  Formulário e API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  Testes e saldo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Legenda 609"/>
          <p:cNvSpPr/>
          <p:nvPr/>
        </p:nvSpPr>
        <p:spPr>
          <a:xfrm>
            <a:off x="8112960" y="5000040"/>
            <a:ext cx="349812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ordem de execução.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Fonte 610"/>
          <p:cNvSpPr/>
          <p:nvPr/>
        </p:nvSpPr>
        <p:spPr>
          <a:xfrm>
            <a:off x="548640" y="585000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Trechos adaptados dos templates de Rodrigo Branas, Formação em IA (spec-driven-development), para o gerenciador financeiro.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 type="sldNum" idx="59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5496C2-20C3-47BE-8550-772B7D9A4B5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56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critério de aceitação vira teste, tarefa e evidência.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9" name="Caixa 601"/>
          <p:cNvSpPr/>
          <p:nvPr/>
        </p:nvSpPr>
        <p:spPr>
          <a:xfrm>
            <a:off x="548640" y="2099880"/>
            <a:ext cx="1898280" cy="109836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CA-01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Legenda 602"/>
          <p:cNvSpPr/>
          <p:nvPr/>
        </p:nvSpPr>
        <p:spPr>
          <a:xfrm>
            <a:off x="548640" y="3300120"/>
            <a:ext cx="189828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Critério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Seta 603"/>
          <p:cNvSpPr/>
          <p:nvPr/>
        </p:nvSpPr>
        <p:spPr>
          <a:xfrm>
            <a:off x="2498400" y="2649960"/>
            <a:ext cx="29124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52" name="Caixa 604"/>
          <p:cNvSpPr/>
          <p:nvPr/>
        </p:nvSpPr>
        <p:spPr>
          <a:xfrm>
            <a:off x="2839680" y="2099880"/>
            <a:ext cx="1898280" cy="109836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TI-01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TechSpec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Legenda 605"/>
          <p:cNvSpPr/>
          <p:nvPr/>
        </p:nvSpPr>
        <p:spPr>
          <a:xfrm>
            <a:off x="2839680" y="3300120"/>
            <a:ext cx="189828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Seta 606"/>
          <p:cNvSpPr/>
          <p:nvPr/>
        </p:nvSpPr>
        <p:spPr>
          <a:xfrm>
            <a:off x="478944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55" name="Caixa 607"/>
          <p:cNvSpPr/>
          <p:nvPr/>
        </p:nvSpPr>
        <p:spPr>
          <a:xfrm>
            <a:off x="5130720" y="2099880"/>
            <a:ext cx="1898280" cy="109836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task_2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Legenda 608"/>
          <p:cNvSpPr/>
          <p:nvPr/>
        </p:nvSpPr>
        <p:spPr>
          <a:xfrm>
            <a:off x="5130720" y="3300120"/>
            <a:ext cx="189828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Implementação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Seta 609"/>
          <p:cNvSpPr/>
          <p:nvPr/>
        </p:nvSpPr>
        <p:spPr>
          <a:xfrm>
            <a:off x="708048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58" name="Caixa 610"/>
          <p:cNvSpPr/>
          <p:nvPr/>
        </p:nvSpPr>
        <p:spPr>
          <a:xfrm>
            <a:off x="7421760" y="2099880"/>
            <a:ext cx="1898280" cy="109836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Legenda 611"/>
          <p:cNvSpPr/>
          <p:nvPr/>
        </p:nvSpPr>
        <p:spPr>
          <a:xfrm>
            <a:off x="7421760" y="3300120"/>
            <a:ext cx="189828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repo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Seta 612"/>
          <p:cNvSpPr/>
          <p:nvPr/>
        </p:nvSpPr>
        <p:spPr>
          <a:xfrm>
            <a:off x="937152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61" name="Caixa 613"/>
          <p:cNvSpPr/>
          <p:nvPr/>
        </p:nvSpPr>
        <p:spPr>
          <a:xfrm>
            <a:off x="9712800" y="2099880"/>
            <a:ext cx="1898280" cy="109836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Legenda 614"/>
          <p:cNvSpPr/>
          <p:nvPr/>
        </p:nvSpPr>
        <p:spPr>
          <a:xfrm>
            <a:off x="9712800" y="3300120"/>
            <a:ext cx="189828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Evidência de QA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aixa 615"/>
          <p:cNvSpPr/>
          <p:nvPr/>
        </p:nvSpPr>
        <p:spPr>
          <a:xfrm>
            <a:off x="548640" y="4250160"/>
            <a:ext cx="5389200" cy="13482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Antes do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Cada critério e teste entra em uma task.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Caixa 616"/>
          <p:cNvSpPr/>
          <p:nvPr/>
        </p:nvSpPr>
        <p:spPr>
          <a:xfrm>
            <a:off x="6221880" y="4250160"/>
            <a:ext cx="5389200" cy="13482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Depois do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QA verifica cada critério e guarda evidências.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Fonte 617"/>
          <p:cNvSpPr/>
          <p:nvPr/>
        </p:nvSpPr>
        <p:spPr>
          <a:xfrm>
            <a:off x="548640" y="579996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Modelo: Rodrigo Branas, Formação em IA (spec-driven-development).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 type="sldNum" idx="60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E55D68-515F-4720-B917-E0309924DCF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57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spec extensa tende a compensar em tarefas maiores; para bugs pequenos, simplifique.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8" name="Selo 601"/>
          <p:cNvSpPr/>
          <p:nvPr/>
        </p:nvSpPr>
        <p:spPr>
          <a:xfrm>
            <a:off x="548640" y="1783080"/>
            <a:ext cx="2191680" cy="40860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Considere quando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Lista 602"/>
          <p:cNvSpPr/>
          <p:nvPr/>
        </p:nvSpPr>
        <p:spPr>
          <a:xfrm>
            <a:off x="548640" y="2329920"/>
            <a:ext cx="5389200" cy="329832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Feature nova em sistema existente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Projeto novo com decisões em aberto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Modernização de legado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Selo 603"/>
          <p:cNvSpPr/>
          <p:nvPr/>
        </p:nvSpPr>
        <p:spPr>
          <a:xfrm>
            <a:off x="6221880" y="1783080"/>
            <a:ext cx="2191680" cy="40860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Simplifique quando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Lista 604"/>
          <p:cNvSpPr/>
          <p:nvPr/>
        </p:nvSpPr>
        <p:spPr>
          <a:xfrm>
            <a:off x="6221880" y="2329920"/>
            <a:ext cx="5389200" cy="329832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Bug localizado e bem entendido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Mudança pequena com solução clara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Documentação custaria mais que a mudança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Fonte 605"/>
          <p:cNvSpPr/>
          <p:nvPr/>
        </p:nvSpPr>
        <p:spPr>
          <a:xfrm>
            <a:off x="548640" y="579996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Fontes: GitHub Blog (casos de uso); Böckeler, martinfowler.com (bug e feature pequenos); spec-driven.md (requisitos que mudam).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2"/>
          <p:cNvSpPr>
            <a:spLocks noGrp="1"/>
          </p:cNvSpPr>
          <p:nvPr>
            <p:ph type="sldNum" idx="61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26CA7F-E9D5-482C-9033-EF35C4AFFC9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58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No experimento do Branas, executar as 5 tasks na mesma janela gastou 240k tokens, contra 650k.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5" name="Rotulo 601"/>
          <p:cNvSpPr/>
          <p:nvPr/>
        </p:nvSpPr>
        <p:spPr>
          <a:xfrm>
            <a:off x="548640" y="1783080"/>
            <a:ext cx="538920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Total de tokens nas 5 tasks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Legenda 602"/>
          <p:cNvSpPr/>
          <p:nvPr/>
        </p:nvSpPr>
        <p:spPr>
          <a:xfrm>
            <a:off x="548640" y="2199960"/>
            <a:ext cx="53892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Barra 603"/>
          <p:cNvSpPr/>
          <p:nvPr/>
        </p:nvSpPr>
        <p:spPr>
          <a:xfrm>
            <a:off x="548640" y="2520000"/>
            <a:ext cx="3698280" cy="39816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78" name="Valor 604"/>
          <p:cNvSpPr/>
          <p:nvPr/>
        </p:nvSpPr>
        <p:spPr>
          <a:xfrm>
            <a:off x="4348800" y="2520000"/>
            <a:ext cx="898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650k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Legenda 605"/>
          <p:cNvSpPr/>
          <p:nvPr/>
        </p:nvSpPr>
        <p:spPr>
          <a:xfrm>
            <a:off x="548640" y="3099960"/>
            <a:ext cx="53892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Barra 606"/>
          <p:cNvSpPr/>
          <p:nvPr/>
        </p:nvSpPr>
        <p:spPr>
          <a:xfrm>
            <a:off x="548640" y="3420000"/>
            <a:ext cx="1364400" cy="398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1" name="Valor 607"/>
          <p:cNvSpPr/>
          <p:nvPr/>
        </p:nvSpPr>
        <p:spPr>
          <a:xfrm>
            <a:off x="2014920" y="3420000"/>
            <a:ext cx="898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240k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tulo 608"/>
          <p:cNvSpPr/>
          <p:nvPr/>
        </p:nvSpPr>
        <p:spPr>
          <a:xfrm>
            <a:off x="6221880" y="1783080"/>
            <a:ext cx="538920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Tokens lidos do cache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Legenda 609"/>
          <p:cNvSpPr/>
          <p:nvPr/>
        </p:nvSpPr>
        <p:spPr>
          <a:xfrm>
            <a:off x="6221880" y="2199960"/>
            <a:ext cx="53892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Barra 610"/>
          <p:cNvSpPr/>
          <p:nvPr/>
        </p:nvSpPr>
        <p:spPr>
          <a:xfrm>
            <a:off x="6221880" y="2520000"/>
            <a:ext cx="3698280" cy="39816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5" name="Valor 611"/>
          <p:cNvSpPr/>
          <p:nvPr/>
        </p:nvSpPr>
        <p:spPr>
          <a:xfrm>
            <a:off x="10021680" y="2520000"/>
            <a:ext cx="898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16M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Legenda 612"/>
          <p:cNvSpPr/>
          <p:nvPr/>
        </p:nvSpPr>
        <p:spPr>
          <a:xfrm>
            <a:off x="6221880" y="3099960"/>
            <a:ext cx="53892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Barra 613"/>
          <p:cNvSpPr/>
          <p:nvPr/>
        </p:nvSpPr>
        <p:spPr>
          <a:xfrm>
            <a:off x="6221880" y="3420000"/>
            <a:ext cx="2310840" cy="398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8" name="Valor 614"/>
          <p:cNvSpPr/>
          <p:nvPr/>
        </p:nvSpPr>
        <p:spPr>
          <a:xfrm>
            <a:off x="8634240" y="3420000"/>
            <a:ext cx="898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10M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otulo 615"/>
          <p:cNvSpPr/>
          <p:nvPr/>
        </p:nvSpPr>
        <p:spPr>
          <a:xfrm>
            <a:off x="548640" y="4150080"/>
            <a:ext cx="5389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Benefício da mesma janela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Lista 616"/>
          <p:cNvSpPr/>
          <p:nvPr/>
        </p:nvSpPr>
        <p:spPr>
          <a:xfrm>
            <a:off x="548640" y="4600080"/>
            <a:ext cx="5389200" cy="10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Reusa cache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tulo 617"/>
          <p:cNvSpPr/>
          <p:nvPr/>
        </p:nvSpPr>
        <p:spPr>
          <a:xfrm>
            <a:off x="6221880" y="4150080"/>
            <a:ext cx="53892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Custo da mesma janela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Lista 618"/>
          <p:cNvSpPr/>
          <p:nvPr/>
        </p:nvSpPr>
        <p:spPr>
          <a:xfrm>
            <a:off x="6221880" y="4600080"/>
            <a:ext cx="5389200" cy="10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Exige mais contexto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Fonte 619"/>
          <p:cNvSpPr/>
          <p:nvPr/>
        </p:nvSpPr>
        <p:spPr>
          <a:xfrm>
            <a:off x="548640" y="585000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data.md, Rodrigo Branas, Formação em IA (medição do autor com 5 tasks do painel de clima).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ldNum" idx="62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840196-F55B-45D2-97DC-77D36F272DC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59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SDD tem limites: specs verbosas, agentes que ignoram instruções e geração que varia.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Risco 601"/>
          <p:cNvSpPr/>
          <p:nvPr/>
        </p:nvSpPr>
        <p:spPr>
          <a:xfrm>
            <a:off x="548640" y="1783080"/>
            <a:ext cx="3498120" cy="384804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Specs verbosas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Muitos arquivos repetem informação.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Use um template enxuto por feature.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isco 602"/>
          <p:cNvSpPr/>
          <p:nvPr/>
        </p:nvSpPr>
        <p:spPr>
          <a:xfrm>
            <a:off x="4330800" y="1783080"/>
            <a:ext cx="3498120" cy="384804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Regras ignoradas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pode interpretar mal instruções.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Confira critérios com testes.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Risco 603"/>
          <p:cNvSpPr/>
          <p:nvPr/>
        </p:nvSpPr>
        <p:spPr>
          <a:xfrm>
            <a:off x="8112960" y="1783080"/>
            <a:ext cx="3498120" cy="384804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Resultados variam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mesma spec pode gerar código diferente.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Divida tasks e automatize testes.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Fonte 604"/>
          <p:cNvSpPr/>
          <p:nvPr/>
        </p:nvSpPr>
        <p:spPr>
          <a:xfrm>
            <a:off x="548640" y="5799960"/>
            <a:ext cx="1106244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Böckeler, martinfowler.com, Understanding Spec-Driven-Development.</a:t>
            </a:r>
            <a:endParaRPr lang="en-US" sz="1200" b="0" u="none" strike="noStrike">
              <a:solidFill>
                <a:schemeClr val="accent3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2"/>
          <p:cNvSpPr>
            <a:spLocks noGrp="1"/>
          </p:cNvSpPr>
          <p:nvPr>
            <p:ph type="sldNum" idx="63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9E36C0-9982-4E37-B31C-B05B1C80730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60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propõe, mas você continua responsável por revisar o que ele entrega.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2" name="Text 1"/>
          <p:cNvSpPr/>
          <p:nvPr/>
        </p:nvSpPr>
        <p:spPr>
          <a:xfrm>
            <a:off x="548640" y="2194560"/>
            <a:ext cx="2511720" cy="127728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produz a mudança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Shape 2"/>
          <p:cNvSpPr/>
          <p:nvPr/>
        </p:nvSpPr>
        <p:spPr>
          <a:xfrm>
            <a:off x="310896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04" name="Text 3"/>
          <p:cNvSpPr/>
          <p:nvPr/>
        </p:nvSpPr>
        <p:spPr>
          <a:xfrm>
            <a:off x="3429000" y="2194560"/>
            <a:ext cx="2511720" cy="127728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lê o diff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Shape 4"/>
          <p:cNvSpPr/>
          <p:nvPr/>
        </p:nvSpPr>
        <p:spPr>
          <a:xfrm>
            <a:off x="598932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06" name="Text 5"/>
          <p:cNvSpPr/>
          <p:nvPr/>
        </p:nvSpPr>
        <p:spPr>
          <a:xfrm>
            <a:off x="6309360" y="2194560"/>
            <a:ext cx="2511720" cy="127728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Testes e critérios rodam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6"/>
          <p:cNvSpPr/>
          <p:nvPr/>
        </p:nvSpPr>
        <p:spPr>
          <a:xfrm>
            <a:off x="886968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08" name="Text 7"/>
          <p:cNvSpPr/>
          <p:nvPr/>
        </p:nvSpPr>
        <p:spPr>
          <a:xfrm>
            <a:off x="9189720" y="2194560"/>
            <a:ext cx="2511720" cy="127728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aceita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8"/>
          <p:cNvSpPr/>
          <p:nvPr/>
        </p:nvSpPr>
        <p:spPr>
          <a:xfrm>
            <a:off x="4686120" y="3520440"/>
            <a:ext cx="360" cy="45720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0" name="Shape 9"/>
          <p:cNvSpPr/>
          <p:nvPr/>
        </p:nvSpPr>
        <p:spPr>
          <a:xfrm flipH="1">
            <a:off x="1805760" y="3977640"/>
            <a:ext cx="2880360" cy="36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1" name="Shape 10"/>
          <p:cNvSpPr/>
          <p:nvPr/>
        </p:nvSpPr>
        <p:spPr>
          <a:xfrm flipV="1">
            <a:off x="1805760" y="3547800"/>
            <a:ext cx="360" cy="42984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11"/>
          <p:cNvSpPr/>
          <p:nvPr/>
        </p:nvSpPr>
        <p:spPr>
          <a:xfrm>
            <a:off x="1806120" y="4050720"/>
            <a:ext cx="2877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ou devolve com feedback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12"/>
          <p:cNvSpPr/>
          <p:nvPr/>
        </p:nvSpPr>
        <p:spPr>
          <a:xfrm>
            <a:off x="548640" y="5120640"/>
            <a:ext cx="110613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 agente pode afirmar com segurança algo errado.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PlaceHolder 2"/>
          <p:cNvSpPr>
            <a:spLocks noGrp="1"/>
          </p:cNvSpPr>
          <p:nvPr>
            <p:ph type="sldNum" idx="64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82E87E-05A0-4243-B697-D0220C114F7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resolve um problema diferente de informação.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16" name="Table 0"/>
          <p:cNvGraphicFramePr/>
          <p:nvPr/>
        </p:nvGraphicFramePr>
        <p:xfrm>
          <a:off x="548640" y="1828800"/>
          <a:ext cx="11063880" cy="40950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663440"/>
              </a:tblGrid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Mecanismo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entra no contexto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Problema que resolve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Rules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conforme escopo e cliente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convenções do projeto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Skills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sob demanda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procedimentos reutilizáveis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Tools e MCP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o modelo as chama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agir fora do modelo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Spec e plano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durante a tarefa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 que construir agora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Memória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é relida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continuar entre sessões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Subagentes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só o resumo volta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isolar tarefas em contextos próprios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17" name="PlaceHolder 2"/>
          <p:cNvSpPr>
            <a:spLocks noGrp="1"/>
          </p:cNvSpPr>
          <p:nvPr>
            <p:ph type="sldNum" idx="65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259D76-60D0-49D4-8CCC-219ED5585419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pedido vago deixa o agente adivinhar tudo o que importa.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 1"/>
          <p:cNvSpPr/>
          <p:nvPr/>
        </p:nvSpPr>
        <p:spPr>
          <a:xfrm>
            <a:off x="4251960" y="3017520"/>
            <a:ext cx="3654720" cy="136872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2"/>
          <p:cNvSpPr/>
          <p:nvPr/>
        </p:nvSpPr>
        <p:spPr>
          <a:xfrm>
            <a:off x="548640" y="182880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Qual linguagem e framework?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3"/>
          <p:cNvSpPr/>
          <p:nvPr/>
        </p:nvSpPr>
        <p:spPr>
          <a:xfrm>
            <a:off x="8458200" y="182880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Que testes provam que funciona?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374904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3" name="Shape 5"/>
          <p:cNvSpPr/>
          <p:nvPr/>
        </p:nvSpPr>
        <p:spPr>
          <a:xfrm flipH="1">
            <a:off x="795528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 6"/>
          <p:cNvSpPr/>
          <p:nvPr/>
        </p:nvSpPr>
        <p:spPr>
          <a:xfrm>
            <a:off x="548640" y="333756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lançamentos registrar?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7"/>
          <p:cNvSpPr/>
          <p:nvPr/>
        </p:nvSpPr>
        <p:spPr>
          <a:xfrm>
            <a:off x="8458200" y="333756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convenções do projeto?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Shape 8"/>
          <p:cNvSpPr/>
          <p:nvPr/>
        </p:nvSpPr>
        <p:spPr>
          <a:xfrm>
            <a:off x="374904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7" name="Shape 9"/>
          <p:cNvSpPr/>
          <p:nvPr/>
        </p:nvSpPr>
        <p:spPr>
          <a:xfrm flipH="1">
            <a:off x="795528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8" name="Text 10"/>
          <p:cNvSpPr/>
          <p:nvPr/>
        </p:nvSpPr>
        <p:spPr>
          <a:xfrm>
            <a:off x="548640" y="484632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Onde os dados ficam?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11"/>
          <p:cNvSpPr/>
          <p:nvPr/>
        </p:nvSpPr>
        <p:spPr>
          <a:xfrm>
            <a:off x="8458200" y="4846320"/>
            <a:ext cx="3151800" cy="72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Como calcular o saldo mensal?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Shape 12"/>
          <p:cNvSpPr/>
          <p:nvPr/>
        </p:nvSpPr>
        <p:spPr>
          <a:xfrm flipV="1">
            <a:off x="374904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1" name="Shape 13"/>
          <p:cNvSpPr/>
          <p:nvPr/>
        </p:nvSpPr>
        <p:spPr>
          <a:xfrm flipH="1" flipV="1">
            <a:off x="795528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 14"/>
          <p:cNvSpPr/>
          <p:nvPr/>
        </p:nvSpPr>
        <p:spPr>
          <a:xfrm>
            <a:off x="548640" y="5760720"/>
            <a:ext cx="1106136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tem contexto suficiente?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sldNum" idx="66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9ED09C-5A30-4743-9DB5-E2A8C62F8B8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63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Elemento 2"/>
          <p:cNvSpPr/>
          <p:nvPr/>
        </p:nvSpPr>
        <p:spPr>
          <a:xfrm>
            <a:off x="548640" y="384120"/>
            <a:ext cx="11063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preparar o projeto com rules, MCPs e a skill fornecida.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Elemento 10"/>
          <p:cNvSpPr/>
          <p:nvPr/>
        </p:nvSpPr>
        <p:spPr>
          <a:xfrm>
            <a:off x="548640" y="1783080"/>
            <a:ext cx="11063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PREPARAR O GERENCIADOR FINANCEIRO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Elemento 11"/>
          <p:cNvSpPr/>
          <p:nvPr/>
        </p:nvSpPr>
        <p:spPr>
          <a:xfrm>
            <a:off x="548640" y="2514600"/>
            <a:ext cx="3428280" cy="246816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AGENTS.md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Criar na raiz: comandos,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convenções e limites;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confirmar sua leitura.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Elemento 12"/>
          <p:cNvSpPr/>
          <p:nvPr/>
        </p:nvSpPr>
        <p:spPr>
          <a:xfrm>
            <a:off x="4370760" y="2514600"/>
            <a:ext cx="3428280" cy="246816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Conectar os serviços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verificar as ferramentas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disponíveis ao agente.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Elemento 13"/>
          <p:cNvSpPr/>
          <p:nvPr/>
        </p:nvSpPr>
        <p:spPr>
          <a:xfrm>
            <a:off x="8183880" y="2514600"/>
            <a:ext cx="3428280" cy="246816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Skills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Instalar a skill pronta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acioná-la no projeto.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Elemento 14"/>
          <p:cNvSpPr/>
          <p:nvPr/>
        </p:nvSpPr>
        <p:spPr>
          <a:xfrm>
            <a:off x="548640" y="5440680"/>
            <a:ext cx="110635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4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Resultado: agente configurado para trabalhar no projeto.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Elemento 99"/>
          <p:cNvSpPr/>
          <p:nvPr/>
        </p:nvSpPr>
        <p:spPr>
          <a:xfrm>
            <a:off x="1115568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Elemento 2"/>
          <p:cNvSpPr/>
          <p:nvPr/>
        </p:nvSpPr>
        <p:spPr>
          <a:xfrm>
            <a:off x="548640" y="384120"/>
            <a:ext cx="11063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aplicar PRD → Spec → Tasks → QA → Review ao gerenciador.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Elemento 10"/>
          <p:cNvSpPr/>
          <p:nvPr/>
        </p:nvSpPr>
        <p:spPr>
          <a:xfrm>
            <a:off x="548640" y="1783080"/>
            <a:ext cx="11063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APLICAR O FLUXO NO MESMO PROJETO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Elemento 20"/>
          <p:cNvSpPr/>
          <p:nvPr/>
        </p:nvSpPr>
        <p:spPr>
          <a:xfrm>
            <a:off x="548640" y="2560320"/>
            <a:ext cx="1919520" cy="6850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Elemento 21"/>
          <p:cNvSpPr/>
          <p:nvPr/>
        </p:nvSpPr>
        <p:spPr>
          <a:xfrm>
            <a:off x="548640" y="3474720"/>
            <a:ext cx="1919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que entregar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por quê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Elemento 22"/>
          <p:cNvSpPr/>
          <p:nvPr/>
        </p:nvSpPr>
        <p:spPr>
          <a:xfrm>
            <a:off x="548640" y="466344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prd.md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Elemento 40"/>
          <p:cNvSpPr/>
          <p:nvPr/>
        </p:nvSpPr>
        <p:spPr>
          <a:xfrm>
            <a:off x="2496240" y="2679120"/>
            <a:ext cx="319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Elemento 23"/>
          <p:cNvSpPr/>
          <p:nvPr/>
        </p:nvSpPr>
        <p:spPr>
          <a:xfrm>
            <a:off x="2834640" y="2560320"/>
            <a:ext cx="1919520" cy="6850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Elemento 24"/>
          <p:cNvSpPr/>
          <p:nvPr/>
        </p:nvSpPr>
        <p:spPr>
          <a:xfrm>
            <a:off x="2834640" y="3474720"/>
            <a:ext cx="1919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Como construir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testar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Elemento 25"/>
          <p:cNvSpPr/>
          <p:nvPr/>
        </p:nvSpPr>
        <p:spPr>
          <a:xfrm>
            <a:off x="2834640" y="466344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spec.md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Elemento 41"/>
          <p:cNvSpPr/>
          <p:nvPr/>
        </p:nvSpPr>
        <p:spPr>
          <a:xfrm>
            <a:off x="4782240" y="2679120"/>
            <a:ext cx="319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Elemento 26"/>
          <p:cNvSpPr/>
          <p:nvPr/>
        </p:nvSpPr>
        <p:spPr>
          <a:xfrm>
            <a:off x="5120640" y="2560320"/>
            <a:ext cx="1919520" cy="6850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Tasks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Elemento 27"/>
          <p:cNvSpPr/>
          <p:nvPr/>
        </p:nvSpPr>
        <p:spPr>
          <a:xfrm>
            <a:off x="5120640" y="3474720"/>
            <a:ext cx="1919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Organizar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execução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Elemento 28"/>
          <p:cNvSpPr/>
          <p:nvPr/>
        </p:nvSpPr>
        <p:spPr>
          <a:xfrm>
            <a:off x="5120640" y="466344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tasks.md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Elemento 42"/>
          <p:cNvSpPr/>
          <p:nvPr/>
        </p:nvSpPr>
        <p:spPr>
          <a:xfrm>
            <a:off x="7068240" y="2679120"/>
            <a:ext cx="319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Elemento 29"/>
          <p:cNvSpPr/>
          <p:nvPr/>
        </p:nvSpPr>
        <p:spPr>
          <a:xfrm>
            <a:off x="7406640" y="2560320"/>
            <a:ext cx="1919520" cy="6850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Elemento 30"/>
          <p:cNvSpPr/>
          <p:nvPr/>
        </p:nvSpPr>
        <p:spPr>
          <a:xfrm>
            <a:off x="7406640" y="3474720"/>
            <a:ext cx="1919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Verificar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os critérios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Elemento 31"/>
          <p:cNvSpPr/>
          <p:nvPr/>
        </p:nvSpPr>
        <p:spPr>
          <a:xfrm>
            <a:off x="7406640" y="466344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qa.md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Elemento 43"/>
          <p:cNvSpPr/>
          <p:nvPr/>
        </p:nvSpPr>
        <p:spPr>
          <a:xfrm>
            <a:off x="9354240" y="2679120"/>
            <a:ext cx="319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Elemento 32"/>
          <p:cNvSpPr/>
          <p:nvPr/>
        </p:nvSpPr>
        <p:spPr>
          <a:xfrm>
            <a:off x="9692640" y="2560320"/>
            <a:ext cx="1919520" cy="68508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Elemento 33"/>
          <p:cNvSpPr/>
          <p:nvPr/>
        </p:nvSpPr>
        <p:spPr>
          <a:xfrm>
            <a:off x="9692640" y="3474720"/>
            <a:ext cx="1919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Revisar código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aceitar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Elemento 34"/>
          <p:cNvSpPr/>
          <p:nvPr/>
        </p:nvSpPr>
        <p:spPr>
          <a:xfrm>
            <a:off x="9692640" y="466344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review.md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Elemento 50"/>
          <p:cNvSpPr/>
          <p:nvPr/>
        </p:nvSpPr>
        <p:spPr>
          <a:xfrm>
            <a:off x="548640" y="5394960"/>
            <a:ext cx="110635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Após planejar as tasks, o agente implementa; QA e Review verificam a entrega.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Elemento 51"/>
          <p:cNvSpPr/>
          <p:nvPr/>
        </p:nvSpPr>
        <p:spPr>
          <a:xfrm>
            <a:off x="548640" y="5943600"/>
            <a:ext cx="11063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Entrega: lançamentos persistidos, saldo correto e critérios comprovados.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Elemento 99"/>
          <p:cNvSpPr/>
          <p:nvPr/>
        </p:nvSpPr>
        <p:spPr>
          <a:xfrm>
            <a:off x="1115568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548640" y="628560"/>
            <a:ext cx="11061360" cy="95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35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Obrigado!</a:t>
            </a:r>
            <a:endParaRPr lang="pt-BR" sz="43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48640" y="3543480"/>
            <a:ext cx="11061360" cy="10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Você define o trabalho e valida a entrega.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10"/>
          <p:cNvSpPr/>
          <p:nvPr/>
        </p:nvSpPr>
        <p:spPr>
          <a:xfrm>
            <a:off x="548640" y="2333520"/>
            <a:ext cx="11061360" cy="1045440"/>
          </a:xfrm>
          <a:prstGeom prst="roundRect">
            <a:avLst>
              <a:gd name="adj" fmla="val 59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 contexto e ferramentas, o agente pode agir.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PlaceHolder 2"/>
          <p:cNvSpPr>
            <a:spLocks noGrp="1"/>
          </p:cNvSpPr>
          <p:nvPr>
            <p:ph type="sldNum" idx="67"/>
          </p:nvPr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655059-FDB9-47C2-AC5D-5B5E8670F199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66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Footer text local fallback"/>
          <p:cNvSpPr/>
          <p:nvPr/>
        </p:nvSpPr>
        <p:spPr>
          <a:xfrm>
            <a:off x="548640" y="6400800"/>
            <a:ext cx="54835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0" name="Picture 606"/>
          <p:cNvPicPr/>
          <p:nvPr/>
        </p:nvPicPr>
        <p:blipFill>
          <a:blip r:embed="rId1"/>
          <a:stretch/>
        </p:blipFill>
        <p:spPr>
          <a:xfrm>
            <a:off x="9831960" y="6437520"/>
            <a:ext cx="1013040" cy="19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Application>LibreOffice/26.2.6.3$Linux_X86_64 LibreOffice_project/620$Build-3</Application>
  <AppVersion>15.0000</AppVersion>
  <Words>10667</Words>
  <Paragraphs>1012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2026-10-09T12:51:20Z</dcterms:created>
  <dc:creator>Walnut Exporter</dc:creator>
  <dc:description/>
  <dc:language>en-US</dc:language>
  <cp:lastModifiedBy/>
  <dcterms:modified xsi:type="dcterms:W3CDTF">2026-10-13T17:40:35Z</dcterms:modified>
  <cp:revision>11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68</vt:i4>
  </property>
  <property fmtid="{D5CDD505-2E9C-101B-9397-08002B2CF9AE}" pid="3" name="PresentationFormat">
    <vt:lpwstr>Widescreen</vt:lpwstr>
  </property>
  <property fmtid="{D5CDD505-2E9C-101B-9397-08002B2CF9AE}" pid="4" name="Slides">
    <vt:i4>68</vt:i4>
  </property>
</Properties>
</file>