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</p:sldMasterIdLst>
  <p:notesMasterIdLst>
    <p:notesMasterId r:id="rId74"/>
  </p:notesMasterIdLst>
  <p:sldIdLst>
    <p:sldId id="256" r:id="rId6"/>
    <p:sldId id="257" r:id="rId7"/>
    <p:sldId id="258" r:id="rId8"/>
    <p:sldId id="259" r:id="rId9"/>
    <p:sldId id="260" r:id="rId10"/>
    <p:sldId id="322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323" r:id="rId44"/>
    <p:sldId id="324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GPT-5.4</c:v>
                </c:pt>
              </c:strCache>
            </c:strRef>
          </c:tx>
          <c:spPr>
            <a:ln w="38160">
              <a:solidFill>
                <a:srgbClr val="2C658C"/>
              </a:solidFill>
              <a:round/>
            </a:ln>
          </c:spPr>
          <c:marker>
            <c:symbol val="circle"/>
            <c:size val="8"/>
            <c:spPr>
              <a:solidFill>
                <a:srgbClr val="2C658C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  <a:ea typeface="Arial"/>
                  </a:defRPr>
                </a:pPr>
                <a:endParaRPr lang="pt-BR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4K–8K</c:v>
                </c:pt>
                <c:pt idx="1">
                  <c:v>8K–16K</c:v>
                </c:pt>
                <c:pt idx="2">
                  <c:v>16K–32K</c:v>
                </c:pt>
                <c:pt idx="3">
                  <c:v>32K–64K</c:v>
                </c:pt>
                <c:pt idx="4">
                  <c:v>64K–128K</c:v>
                </c:pt>
                <c:pt idx="5">
                  <c:v>128K–256K</c:v>
                </c:pt>
                <c:pt idx="6">
                  <c:v>256K–512K</c:v>
                </c:pt>
                <c:pt idx="7">
                  <c:v>512K–1M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8"/>
                <c:pt idx="0">
                  <c:v>97.3</c:v>
                </c:pt>
                <c:pt idx="1">
                  <c:v>91.4</c:v>
                </c:pt>
                <c:pt idx="2">
                  <c:v>97.2</c:v>
                </c:pt>
                <c:pt idx="3">
                  <c:v>90.5</c:v>
                </c:pt>
                <c:pt idx="4">
                  <c:v>86</c:v>
                </c:pt>
                <c:pt idx="5">
                  <c:v>79.3</c:v>
                </c:pt>
                <c:pt idx="6">
                  <c:v>57.5</c:v>
                </c:pt>
                <c:pt idx="7">
                  <c:v>36.6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333-4A3B-A544-449B98ACD8DB}"/>
            </c:ext>
          </c:extLst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GPT-5.5</c:v>
                </c:pt>
              </c:strCache>
            </c:strRef>
          </c:tx>
          <c:spPr>
            <a:ln w="38160">
              <a:solidFill>
                <a:srgbClr val="1B8457"/>
              </a:solidFill>
              <a:round/>
            </a:ln>
          </c:spPr>
          <c:marker>
            <c:symbol val="circle"/>
            <c:size val="8"/>
            <c:spPr>
              <a:solidFill>
                <a:srgbClr val="1B8457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  <a:ea typeface="Arial"/>
                  </a:defRPr>
                </a:pPr>
                <a:endParaRPr lang="pt-BR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4K–8K</c:v>
                </c:pt>
                <c:pt idx="1">
                  <c:v>8K–16K</c:v>
                </c:pt>
                <c:pt idx="2">
                  <c:v>16K–32K</c:v>
                </c:pt>
                <c:pt idx="3">
                  <c:v>32K–64K</c:v>
                </c:pt>
                <c:pt idx="4">
                  <c:v>64K–128K</c:v>
                </c:pt>
                <c:pt idx="5">
                  <c:v>128K–256K</c:v>
                </c:pt>
                <c:pt idx="6">
                  <c:v>256K–512K</c:v>
                </c:pt>
                <c:pt idx="7">
                  <c:v>512K–1M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8"/>
                <c:pt idx="0">
                  <c:v>98.1</c:v>
                </c:pt>
                <c:pt idx="1">
                  <c:v>93</c:v>
                </c:pt>
                <c:pt idx="2">
                  <c:v>96.5</c:v>
                </c:pt>
                <c:pt idx="3">
                  <c:v>90</c:v>
                </c:pt>
                <c:pt idx="4">
                  <c:v>83.1</c:v>
                </c:pt>
                <c:pt idx="5">
                  <c:v>87.5</c:v>
                </c:pt>
                <c:pt idx="6">
                  <c:v>81.5</c:v>
                </c:pt>
                <c:pt idx="7">
                  <c:v>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333-4A3B-A544-449B98ACD8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0">
              <a:noFill/>
            </a:ln>
          </c:spPr>
        </c:hiLowLines>
        <c:marker val="1"/>
        <c:smooth val="0"/>
        <c:axId val="51839535"/>
        <c:axId val="99158259"/>
      </c:lineChart>
      <c:catAx>
        <c:axId val="51839535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lang="pt-BR" sz="1200" b="1" u="none" strike="noStrike">
                    <a:solidFill>
                      <a:srgbClr val="666666"/>
                    </a:solidFill>
                    <a:uFillTx/>
                    <a:latin typeface="Calibri"/>
                    <a:ea typeface="Calibri"/>
                  </a:rPr>
                  <a:t>Tamanho do contexto (tokens)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low"/>
        <c:spPr>
          <a:ln w="12600">
            <a:solidFill>
              <a:srgbClr val="C3C3C3"/>
            </a:solidFill>
            <a:round/>
          </a:ln>
        </c:spPr>
        <c:txPr>
          <a:bodyPr/>
          <a:lstStyle/>
          <a:p>
            <a:pPr>
              <a:defRPr sz="1100" b="0" u="none" strike="noStrike">
                <a:solidFill>
                  <a:srgbClr val="666666"/>
                </a:solidFill>
                <a:uFillTx/>
                <a:latin typeface="Calibri"/>
                <a:ea typeface="Calibri"/>
              </a:defRPr>
            </a:pPr>
            <a:endParaRPr lang="pt-BR"/>
          </a:p>
        </c:txPr>
        <c:crossAx val="99158259"/>
        <c:crosses val="autoZero"/>
        <c:auto val="1"/>
        <c:lblAlgn val="ctr"/>
        <c:lblOffset val="100"/>
        <c:noMultiLvlLbl val="0"/>
      </c:catAx>
      <c:valAx>
        <c:axId val="99158259"/>
        <c:scaling>
          <c:orientation val="minMax"/>
          <c:max val="100"/>
          <c:min val="0"/>
        </c:scaling>
        <c:delete val="0"/>
        <c:axPos val="l"/>
        <c:majorGridlines>
          <c:spPr>
            <a:ln w="9360">
              <a:solidFill>
                <a:srgbClr val="E5E7EB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lang="pt-BR" sz="1200" b="1" u="none" strike="noStrike">
                    <a:solidFill>
                      <a:srgbClr val="666666"/>
                    </a:solidFill>
                    <a:uFillTx/>
                    <a:latin typeface="Calibri"/>
                    <a:ea typeface="Calibri"/>
                  </a:rPr>
                  <a:t>Acerto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0\%" sourceLinked="0"/>
        <c:majorTickMark val="out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1200" b="0" u="none" strike="noStrike">
                <a:solidFill>
                  <a:srgbClr val="666666"/>
                </a:solidFill>
                <a:uFillTx/>
                <a:latin typeface="Calibri"/>
                <a:ea typeface="Calibri"/>
              </a:defRPr>
            </a:pPr>
            <a:endParaRPr lang="pt-BR"/>
          </a:p>
        </c:txPr>
        <c:crossAx val="51839535"/>
        <c:crosses val="autoZero"/>
        <c:crossBetween val="between"/>
        <c:majorUnit val="20"/>
      </c:valAx>
      <c:spPr>
        <a:noFill/>
        <a:ln w="0">
          <a:noFill/>
        </a:ln>
      </c:spPr>
    </c:plotArea>
    <c:legend>
      <c:legendPos val="t"/>
      <c:overlay val="0"/>
      <c:spPr>
        <a:noFill/>
        <a:ln w="0">
          <a:noFill/>
        </a:ln>
      </c:spPr>
      <c:txPr>
        <a:bodyPr/>
        <a:lstStyle/>
        <a:p>
          <a:pPr>
            <a:defRPr sz="1400" b="0" u="none" strike="noStrike">
              <a:solidFill>
                <a:srgbClr val="333333"/>
              </a:solidFill>
              <a:uFillTx/>
              <a:latin typeface="Calibri"/>
              <a:ea typeface="Calibri"/>
            </a:defRPr>
          </a:pPr>
          <a:endParaRPr lang="pt-BR"/>
        </a:p>
      </c:txPr>
    </c:legend>
    <c:plotVisOnly val="1"/>
    <c:dispBlanksAs val="zero"/>
    <c:showDLblsOverMax val="1"/>
  </c:chart>
  <c:spPr>
    <a:noFill/>
    <a:ln w="0">
      <a:noFill/>
    </a:ln>
  </c:sp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2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3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4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5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BE0BF52-1F48-45A8-8730-73C4402CAA3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Abertura. A imagem-chave é o loop do agente: observa, decide, age e verifica o resultado. É o fio condutor dos dois encontros. Substitua nome, departamento, instituição e data. Pergunta de partida: o que faz uma IA deixar de ser apenas um chatbot e passar a agir como um agente?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PlaceHolder 3"/>
          <p:cNvSpPr>
            <a:spLocks noGrp="1"/>
          </p:cNvSpPr>
          <p:nvPr>
            <p:ph type="sldNum" idx="6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Apresente o percurso. Encontro 1: fundamentos (LLM, harness, contexto). Encontro 2: ferramentas práticas (rules, skills, MCP, specs). Fechamos juntos com uma prática que usa tudo. Cada encontro tem 3h15 com 30 min de intervalo.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PlaceHolder 3"/>
          <p:cNvSpPr>
            <a:spLocks noGrp="1"/>
          </p:cNvSpPr>
          <p:nvPr>
            <p:ph type="sldNum" idx="6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 objetivo não é decorar nomes de ferramentas. É sair com um raciocínio: o agente só é tão bom quanto o contexto que recebe, e rules, skills, MCP e specs são mecanismos para entregar esse contexto. Esse objetivo orienta toda a estrutura.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PlaceHolder 3"/>
          <p:cNvSpPr>
            <a:spLocks noGrp="1"/>
          </p:cNvSpPr>
          <p:nvPr>
            <p:ph type="sldNum" idx="6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Abertura: a IA que você usa no dia a dia (ChatGPT, Claude Code, Cursor) é só a ponta do iceberg. Abaixo da linha d’água estão os modelos, o harness e o contexto (rules, skills, MCP, memória, subagentes, ferramentas) e, no fundo, os fundamentos (transformers, tokenização, matemática). Hoje o foco é o meio: do modelo ao harness, onde mais se influencia o resultado.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PlaceHolder 3"/>
          <p:cNvSpPr>
            <a:spLocks noGrp="1"/>
          </p:cNvSpPr>
          <p:nvPr>
            <p:ph type="sldNum" idx="7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Escala ilustrativa baseada na referência enviada. L0 (Hater, 0%): não usa IA no fluxo; pessoas planejam, codificam, testam e revisam. L1 (Copy/Paste, 5%): copia respostas do ChatGPT e usa autocomplete ocasionalmente; o trabalho continua majoritariamente manual. L2 (Babá, 30%): usa modo agente, mas aprova cada etapa e acompanha a execução. L3 (Gerente, 80%): humanos especificam, planejam e fazem a revisão final; a IA executa o plano. L4 (Fábrica, 100%): pipelines autônomos cuidam de correções, QA, protótipos e fluxos repetitivos; a equipe atua no harness. Os percentuais são ilustrações da imagem, não medições de produtividade ou um padrão universal. [Sources] Captura de tela 2026-10-08 200353.png, referência fornecida pelo usuário.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Exemplo didático, não uma escala científica de maturidade. Os níveis ilustram modos de delegar trabalho; os traços substituem percentuais sem base de medição.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PlaceHolder 3"/>
          <p:cNvSpPr>
            <a:spLocks noGrp="1"/>
          </p:cNvSpPr>
          <p:nvPr>
            <p:ph type="sldNum" idx="7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Apresente este slide como uma proposta de atuação do dev com IA, e não como uma descrição universal de cargos. Feature lead significa conduzir uma funcionalidade do problema ao resultado, em colaboração com produto, design e o time. A análise de negócio define necessidades, regras e critérios de aceite. A liderança técnica define arquitetura, riscos e padrões de qualidade. O enabler de IA prepara contexto, instruções, ferramentas e verificações para que os agentes executem tarefas úteis. São três dimensões da atuação, não uma sequência rígida nem três cargos obrigatórios. Exemplo: em uma feature de controle financeiro, o dev esclarece as regras de lançamentos, decide a estrutura da solução e orienta o agente a implementar com testes. Ele revisa o código e valida a feature contra os critérios definidos. Os fundamentos de programação continuam necessários para orientar e avaliar a execução.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PlaceHolder 3"/>
          <p:cNvSpPr>
            <a:spLocks noGrp="1"/>
          </p:cNvSpPr>
          <p:nvPr>
            <p:ph type="sldNum" idx="6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Divisor do Dia 1. Pergunta central: como saímos de uma LLM que gera texto para um sistema capaz de agir? Percurso: como a LLM funciona o suficiente, o que é um agente, o harness e o context engineering, fechando com uma pequena prática.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PlaceHolder 3"/>
          <p:cNvSpPr>
            <a:spLocks noGrp="1"/>
          </p:cNvSpPr>
          <p:nvPr>
            <p:ph type="sldNum" idx="7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Stack Exchange Inc. (2026), AI tool usage, Stack Overflow Developer Survey 2026, seção 2.1 AI usage. https://survey.stackoverflow.co/2026/ai/data#ai-usage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Pergunta: Do you currently use AI tools or AI agents in your role at work? n=17.464. 17,2% responderam que não usam IA; portanto, 82,8% (aproximadamente 83%) usam ao menos uma ferramenta. 65,9% selecionaram AI coding assistants or coding agents (aproximadamente 66%). Respostas de múltipla seleção. ODbL 1.0.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PlaceHolder 3"/>
          <p:cNvSpPr>
            <a:spLocks noGrp="1"/>
          </p:cNvSpPr>
          <p:nvPr>
            <p:ph type="sldNum" idx="7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de vocabulário. A pergunta “O que é saldo mensal?” entra como texto; a LLM gera uma explicação em texto. A resposta no slide é ilustrativa e plausível, não a saída garantida de uma execução. O modelo não consultou contas nem construiu um gerenciador financeiro.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 o tema financeiro como fio condutor. Mais adiante, mostre que uma aplicação precisa de interface, dados e ferramentas para registrar lançamentos e calcular um saldo real.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PlaceHolder 3"/>
          <p:cNvSpPr>
            <a:spLocks noGrp="1"/>
          </p:cNvSpPr>
          <p:nvPr>
            <p:ph type="sldNum" idx="7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Tokens são pedaços de texto, não necessariamente palavras. Contexto, custo e limites são medidos em tokens. A divisão mostrada é ilustrativa: cada modelo tem seu tokenizador. Leitura sugerida: OpenAI, &amp;apos;Como entender e contar tokens&amp;apos;.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PlaceHolder 3"/>
          <p:cNvSpPr>
            <a:spLocks noGrp="1"/>
          </p:cNvSpPr>
          <p:nvPr>
            <p:ph type="sldNum" idx="7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 ponte do bloco 2 para o harness. A LLM gera a próxima saída. Ao somar contexto e instruções, ferramentas e um loop de execução, obtemos um agente: observa, decide, age e observa de novo. O nome do que reúne tudo isso é harness. Se quiser formalizar: um agente pode ser descrito por cinco elementos (objetivo, estado, contexto, ferramentas e ações); o contexto é o que acompanhamos nos dois encontros.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Explique a analogia com autocomplete. Os percentuais são inventados apenas para esta aula; não representam a saída de um modelo. O token escolhido entra no contexto da próxima previsão. Pergunta de recuperação: se o modelo gera um token por vez, como consegue escrever um programa inteiro?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PlaceHolder 3"/>
          <p:cNvSpPr>
            <a:spLocks noGrp="1"/>
          </p:cNvSpPr>
          <p:nvPr>
            <p:ph type="sldNum" idx="7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Raciocinar, para uma LLM, é gerar tokens intermediários antes da resposta, ou seja, o mesmo mecanismo token a token do slide anterior. Quem raciocina é o modelo, e essa capacidade vem do treinamento. O nível de esforço (baixo, médio, alto) é um parâmetro enviado na chamada: o harness ou o usuário o escolhe, e o modelo pensa mais ou menos. Esses tokens ocupam a janela de contexto e custam como os demais, então esforço alto é uma decisão de custo e de contexto. Mais adiante, no harness, distinguimos esse raciocínio interno do raciocínio agentivo (o loop de várias etapas). O nível de esforço é o assunto do próximo slide.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PlaceHolder 3"/>
          <p:cNvSpPr>
            <a:spLocks noGrp="1"/>
          </p:cNvSpPr>
          <p:nvPr>
            <p:ph type="sldNum" idx="7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Os provedores expõem o esforço como um parâmetro com poucos níveis. Em geral: low, medium, high, xhigh e max; a OpenAI também documenta none e minimal em alguns modelos. Os valores aceitos e o padrão dependem do modelo: por exemplo, a documentação da Anthropic indica high como padrão na maioria dos modelos e medium em alguns, e a da OpenAI cita medium como padrão em vários modelos. Na Anthropic, o esforço afeta todos os tokens da resposta (texto, chamadas de ferramenta e pensamento) e é uma orientação, não uma garantia de quantidade de tokens. Recomendação da própria OpenAI: use xhigh só quando seus testes mostrarem benefício que justifique custo e latência. Regra prática para a turma: comece em medium e suba se a tarefa for difícil. Fontes: documentação de reasoning da OpenAI (developers.openai.com/api/docs/guides/reasoning) e documentação de effort da Anthropic (platform.claude.com/docs/en/build-with-claude/effort). Confirme os valores atuais antes da aula, pois mudam entre modelos.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9" name="PlaceHolder 3"/>
          <p:cNvSpPr>
            <a:spLocks noGrp="1"/>
          </p:cNvSpPr>
          <p:nvPr>
            <p:ph type="sldNum" idx="7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Tabela de modelos para codificação verificada em 8 de outubro de 2026. Preços em dólares por 1 milhão de tokens de entrada e saída na tarifa padrão paga da API; não incluem cache, batch, modo rápido, ferramentas ou impostos. Contexto arredondado: OpenAI 1.050.000 tokens; Anthropic 1.000.000; Google 1.048.576. A OpenAI cobra mais quando o prompt supera 272 mil tokens. O preço do Gemini 3.8 Flash é introdutório até 31 de dezembro de 2026. A tabela não representa ranking de desempenho entre fornecedores. [Sources] https://developers.openai.com/api/docs/models/gpt-6-astra ; https://developers.openai.com/api/docs/models/gpt-6.1-sol ; https://developers.openai.com/api/docs/models/gpt-6-luna ; https://platform.claude.com/docs/en/models/opus-5-5/overview ; https://platform.claude.com/docs/en/models/sonnet-5-5/overview ; https://ai.google.dev/gemini-api/docs/models/gemini-3.8-flash ; https://ai.google.dev/gemini-api/docs/pricing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PlaceHolder 3"/>
          <p:cNvSpPr>
            <a:spLocks noGrp="1"/>
          </p:cNvSpPr>
          <p:nvPr>
            <p:ph type="sldNum" idx="7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 janela de contexto é tudo o que o modelo enxerga em uma chamada. O que ficou de fora, como o resto do repositório ou conversas antigas, não existe para ele. Aqui nasce o problema que vamos tratar em context engineering. Leitura sugerida: Anthropic, &amp;apos;Effective context engineering for AI agents&amp;apos;.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PlaceHolder 3"/>
          <p:cNvSpPr>
            <a:spLocks noGrp="1"/>
          </p:cNvSpPr>
          <p:nvPr>
            <p:ph type="sldNum" idx="8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Dinâmica ao vivo: no terminal, faça uma chamada direta à API do OpenRouter (POST /api/v1/chat/completions) com um único message: “Meu nome é Thiago.”. Em seguida, faça uma NOVA chamada, em requisição separada, só com “Qual é o meu nome?”. O modelo não sabe: nada foi guardado entre as chamadas. Depois repita a segunda chamada reenviando o array messages completo (pergunta 1, resposta 1, pergunta 2): agora ele responde. Conclusão: o “histórico” é reenviado pelo cliente (o harness) a cada chamada; o modelo não guarda estado.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Analogia de API stateless: duas chamadas independentes não compartilham automaticamente a informação “Meu nome é Ana”. A aplicação pode armazenar e reenviar o histórico. Pergunta de recuperação: por que um chatbot parece lembrar a conversa?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PlaceHolder 3"/>
          <p:cNvSpPr>
            <a:spLocks noGrp="1"/>
          </p:cNvSpPr>
          <p:nvPr>
            <p:ph type="sldNum" idx="8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Degradação de contexto com dados reais. Fonte: tabela de avaliação publicada pela OpenAI no lançamento do GPT-5.5 (abril de 2026), benchmark OpenAI MRCR v2 8-needle: o modelo precisa recuperar uma de oito &amp;apos;agulhas&amp;apos; quase idênticas escondidas em conversas de tamanhos diferentes. Leitura: no GPT-5.4, o acerto vai de 97,3% (4K a 8K tokens) para 36,6% (512K a 1M). O GPT-5.5 melhorou, mas também cai: 98,1% para 74,0%. Ressalvas honestas: o benchmark mede uma habilidade específica (distinguir itens parecidos em contexto longo), não a qualidade geral; a queda não é perfeitamente monótona (no GPT-5.5, 128K a 256K supera 64K a 128K); os modelos melhoram a cada versão. A tese continua: contexto maior não é automaticamente contexto melhor. Os números foram transcritos de reproduções da tabela e conferidos entre fontes; abra a página oficial para confirmar antes da aula. Fonte oficial: openai.com/index/introducing-gpt-5-5/. Leitura complementar: Anthropic, &amp;apos;Effective context engineering for AI agents&amp;apos;.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PlaceHolder 3"/>
          <p:cNvSpPr>
            <a:spLocks noGrp="1"/>
          </p:cNvSpPr>
          <p:nvPr>
            <p:ph type="sldNum" idx="8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Aqui está o porquê de o modelo sozinho não ser um agente. Ele recebe texto e devolve texto. Não acessa o disco, o terminal, a internet. Também não guarda memória entre chamadas: cada chamada começa do zero, com o que for enviado no contexto. Isso cria a necessidade do harness.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PlaceHolder 3"/>
          <p:cNvSpPr>
            <a:spLocks noGrp="1"/>
          </p:cNvSpPr>
          <p:nvPr>
            <p:ph type="sldNum" idx="8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Rode main_5.ts com OPENROUTER_API_KEY e OPENROUTER_MODEL configurados. O script cria um arquivo temporário codigo.txt com um código aleatório. Na primeira chamada ao OpenRouter, envia o caminho, a definição da função ler_arquivo e tool_choice para forçar essa função. Mostre tool_calls: o modelo solicita ler_arquivo(caminho), mas ainda não acessou o arquivo. O programa valida o caminho e executa readFile. Em seguida, adiciona uma mensagem role: tool com o conteúdo lido e faz a segunda chamada com tool_choice: none. Mostre a resposta final e a comparação com o código real.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Pergunta à turma: quem leu o arquivo? O código local, não a LLM. Nesta demonstração a tool é definida pela aplicação (type: function); o OpenRouter transmite o pedido e a resposta. Fonte do roteiro: main_5.ts, neste projeto.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PlaceHolder 3"/>
          <p:cNvSpPr>
            <a:spLocks noGrp="1"/>
          </p:cNvSpPr>
          <p:nvPr>
            <p:ph type="sldNum" idx="8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Compare as três colunas. LLM e chatbot geram texto e conversam. O que separa o agente são as três últimas linhas: usa ferramentas, age em várias etapas e persegue um objetivo. Obs: 'chatbot' aqui significa a interface conversacional simples, sem autonomia.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 tabela é uma comparação didática, não uma fronteira técnica rígida. “Pode” indica que um chatbot pode incorporar ferramentas, etapas e objetivo. O mesmo produto pode combinar interface de chat e comportamento agêntico.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PlaceHolder 3"/>
          <p:cNvSpPr>
            <a:spLocks noGrp="1"/>
          </p:cNvSpPr>
          <p:nvPr>
            <p:ph type="sldNum" idx="8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Este é o loop agentivo. O modelo decide a próxima ação a partir do que observa; a ação é executada por uma ferramenta; o resultado volta ao contexto e o ciclo recomeça, até o objetivo ser cumprido. Não é uma única resposta, são várias iterações.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PlaceHolder 3"/>
          <p:cNvSpPr>
            <a:spLocks noGrp="1"/>
          </p:cNvSpPr>
          <p:nvPr>
            <p:ph type="sldNum" idx="8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Demonstração ao vivo: faça a mesma pergunta (&amp;apos;por que meus testes estão falhando?&amp;apos;) primeiro em um chat simples e depois em um agente com acesso ao projeto. Os textos do slide são ilustrativos do que a turma deve observar; adapte ao exemplo real que você rodar.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PlaceHolder 3"/>
          <p:cNvSpPr>
            <a:spLocks noGrp="1"/>
          </p:cNvSpPr>
          <p:nvPr>
            <p:ph type="sldNum" idx="8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Defina harness como tudo o que cerca o modelo: prompt de sistema, ferramentas, memória e contexto, permissões e execução, tudo ligado pelo loop agentivo. Claude Code e Codex são exemplos. O modelo só gera texto; o harness faz o resto acontecer.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Compare o harness com um runtime ou orquestrador: ele oferece ferramentas, permissões e estado, além de organizar interações sucessivas com o modelo.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PlaceHolder 3"/>
          <p:cNvSpPr>
            <a:spLocks noGrp="1"/>
          </p:cNvSpPr>
          <p:nvPr>
            <p:ph type="sldNum" idx="8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Percorra a sequência de cima para baixo. O harness envia contexto e ferramentas ao modelo; o modelo pede uma ação; o harness verifica permissões, executa no mundo real (arquivos, terminal) e devolve o resultado, que vira contexto na próxima chamada.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PlaceHolder 3"/>
          <p:cNvSpPr>
            <a:spLocks noGrp="1"/>
          </p:cNvSpPr>
          <p:nvPr>
            <p:ph type="sldNum" idx="8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Abra o Excalidraw e construa o fluxo com a turma: usuário envia um pedido; o harness monta o contexto; o modelo responde ou solicita uma ferramenta; o harness verifica permissões e executa; o resultado volta ao contexto para o próximo passo. Pergunte ao longo do desenho quem decide, quem executa e o que retorna ao modelo.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PlaceHolder 3"/>
          <p:cNvSpPr>
            <a:spLocks noGrp="1"/>
          </p:cNvSpPr>
          <p:nvPr>
            <p:ph type="sldNum" idx="9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4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480" cy="480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NOVO. Só o modelo (ou só o harness) quase nunca basta. Sem a técnica certa e sem contexto adequado à tarefa, vem retrabalho, frustração e perda de produtividade. À esquerda, o que o modelo faz bem sozinho: ele conhece as linguagens e os frameworks. À direita, o que só existe na sua organização: um processo, uma regra de negócio, a estratégia de como você quer implementar. Se isso não estiver no contexto, o modelo escolhe. Pode dar certo, pode não dar. Esse é o ponto de partida para falar de context engineering.</a:t>
            </a:r>
          </a:p>
        </p:txBody>
      </p:sp>
      <p:sp>
        <p:nvSpPr>
          <p:cNvPr id="948" name="PlaceHolder 3"/>
          <p:cNvSpPr>
            <a:spLocks noGrp="1"/>
          </p:cNvSpPr>
          <p:nvPr>
            <p:ph type="sldNum" idx="91"/>
          </p:nvPr>
        </p:nvSpPr>
        <p:spPr>
          <a:xfrm>
            <a:off x="4278960" y="10157400"/>
            <a:ext cx="3278520" cy="532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00A6981-CC9E-44B9-B7C5-14BF502CA68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26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5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480" cy="480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NOVO. Antes, algo como 20 a 30% do tempo ia para o problema e 70 a 80% para a codificação (estimativa de quem apresenta). Como vou entregar o que preciso? Essa parte do 'como' já foi delegada à IA. Por isso o profissional de software tem mais valor na entrega: ele sabe o que é necessário para entregar com responsabilidade, com qualidade e com comportamento adequado em produção. Atuamos como mistura de analista de negócio e líder técnico. A barra de 'Hoje' é ilustrativa, sem escala: o ponto é a inversão da ênfase. Antes de chegar no problema, existe a estrutura: context engineering.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arquitetura, a escolha da solução e a revisão continuam sendo responsabilidades do desenvolvedor. Delegar implementação não elimina essas decisões.</a:t>
            </a:r>
          </a:p>
        </p:txBody>
      </p:sp>
      <p:sp>
        <p:nvSpPr>
          <p:cNvPr id="951" name="PlaceHolder 3"/>
          <p:cNvSpPr>
            <a:spLocks noGrp="1"/>
          </p:cNvSpPr>
          <p:nvPr>
            <p:ph type="sldNum" idx="92"/>
          </p:nvPr>
        </p:nvSpPr>
        <p:spPr>
          <a:xfrm>
            <a:off x="4278960" y="10157400"/>
            <a:ext cx="3278520" cy="532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C53917F-03F3-4D3F-8B08-A3C7FDFFCD8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27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5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480" cy="480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MELHORADO (substitui o slide 25 do v2). Context engineering e harness engineering são termos muito próximos. A ideia é guiar a LLM na direção desejada. Várias fontes competem pela janela: instruções, histórico, arquivos, resultados de ferramentas, documentação. Alguém precisa decidir o que entra, na quantidade e no momento adequados. Quantidade e momento importam porque a janela é limitada e, mesmo quando é grande, ocupar tudo tem custo: tempo de inferência e atenção (próximo slide).</a:t>
            </a:r>
          </a:p>
        </p:txBody>
      </p:sp>
      <p:sp>
        <p:nvSpPr>
          <p:cNvPr id="954" name="PlaceHolder 3"/>
          <p:cNvSpPr>
            <a:spLocks noGrp="1"/>
          </p:cNvSpPr>
          <p:nvPr>
            <p:ph type="sldNum" idx="93"/>
          </p:nvPr>
        </p:nvSpPr>
        <p:spPr>
          <a:xfrm>
            <a:off x="4278960" y="10157400"/>
            <a:ext cx="3278520" cy="532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AFE4DE1-F30E-4C0B-A76A-8515FF67500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28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5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480" cy="480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MELHORADO (substitui o slide 26 do v2, que só mostrava o crescimento). Tudo o que está no contexto precisa ser processado: tokenizar, calcular embeddings e calcular a atenção de cada token em relação aos outros. Isso é físico, e tem custo de tempo. Quando há muita coisa irrelevante, o resultado degrada: o modelo dá atenção a aspectos errados ou mistura informações. A analogia: duas ou três pessoas falando com você ao mesmo tempo, e você responde errado a cada uma. Escala de referência: um milhão de tokens é muita informação, da ordem de uma coleção de livros. Se precisar citar, prefira 'aproximadamente 750 mil palavras'.</a:t>
            </a:r>
          </a:p>
        </p:txBody>
      </p:sp>
      <p:sp>
        <p:nvSpPr>
          <p:cNvPr id="957" name="PlaceHolder 3"/>
          <p:cNvSpPr>
            <a:spLocks noGrp="1"/>
          </p:cNvSpPr>
          <p:nvPr>
            <p:ph type="sldNum" idx="94"/>
          </p:nvPr>
        </p:nvSpPr>
        <p:spPr>
          <a:xfrm>
            <a:off x="4278960" y="10157400"/>
            <a:ext cx="3278520" cy="532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859DF86-064F-4361-B0E1-9DE6FAAA8DC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29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Três técnicas gerais, independentes de ferramenta. Selecionar: só entra o que a tarefa exige. Comprimir: histórico longo vira resumo. Externalizar: estado e notas ficam em arquivos e são relidos quando necessário. Esses princípios reaparecem no Encontro 2 em rules, skills e specs. As três técnicas respondem à degradação de contexto vista no bloco de LLM.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PlaceHolder 3"/>
          <p:cNvSpPr>
            <a:spLocks noGrp="1"/>
          </p:cNvSpPr>
          <p:nvPr>
            <p:ph type="sldNum" idx="9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480" cy="480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NOVO. Context e harness engineering, acima de tudo, são a criação de guias e sensores. Guias são feed forward: informação que damos para dar direção antes de o agente agir. Sensores são feedback: algo que criamos para que a saída seja devidamente avaliada. A ideia é antecipar a saída indesejada e prevenir o problema. O laço de baixo é o ponto central: com sensores, o agente se autocorrige sem que você precise detectar o erro e instruí-lo.</a:t>
            </a:r>
          </a:p>
        </p:txBody>
      </p:sp>
      <p:sp>
        <p:nvSpPr>
          <p:cNvPr id="963" name="PlaceHolder 3"/>
          <p:cNvSpPr>
            <a:spLocks noGrp="1"/>
          </p:cNvSpPr>
          <p:nvPr>
            <p:ph type="sldNum" idx="96"/>
          </p:nvPr>
        </p:nvSpPr>
        <p:spPr>
          <a:xfrm>
            <a:off x="4278960" y="10157400"/>
            <a:ext cx="3278520" cy="532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3207439-631A-4657-AED5-4C25586A127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31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6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480" cy="480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NOVO (complementa o slide de rules do Encontro 2). Guias são informações básicas: comandos, portas, dependências. É o AGENTS.md ou o CLAUDE.md. Se você não diz que o projeto roda na porta 3001, o agente tenta a 3000, falha, tenta a 3001, e é forçado a ler vários arquivos, trazendo para o contexto coisas desnecessárias: package.json, arquivos de variáveis de ambiente que nem deveriam ser lidos o tempo todo. Se o projeto usa Yarn e a IA usa npm, é o mesmo problema. Os system prompts dos harnesses já orientam, mas dar essa informação em 100, 200 ou 300 tokens resolve e evita a leitura de um arquivo muito maior.</a:t>
            </a:r>
          </a:p>
        </p:txBody>
      </p:sp>
      <p:sp>
        <p:nvSpPr>
          <p:cNvPr id="966" name="PlaceHolder 3"/>
          <p:cNvSpPr>
            <a:spLocks noGrp="1"/>
          </p:cNvSpPr>
          <p:nvPr>
            <p:ph type="sldNum" idx="97"/>
          </p:nvPr>
        </p:nvSpPr>
        <p:spPr>
          <a:xfrm>
            <a:off x="4278960" y="10157400"/>
            <a:ext cx="3278520" cy="532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AF6A7BC-BEBA-4DC5-8B92-4ECC87D9EBB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32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480" cy="480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NOVO. Padrões de código são relevantes porque não é o quê, é o como. A LLM escreve em qualquer linguagem e usa qualquer framework, mas existe a sua maneira de usar. Sem padrões, começam a aparecer coisas que destoam. Estrutura de pastas importa porque a LLM tenta inferir onde colocar arquivos. Estratégias de design, camadas, interações síncronas e assíncronas, como se escreve SQL, testes, boas práticas e antipatterns. Dizer o que você NÃO quer é fundamental. Exemplo: migrações de banco. Peça para não rodar automaticamente, pois podem destruir o dump de desenvolvimento. Você revisa e roda. Não dá para ler tudo: com PRs de 5.000 linhas e vários por dia, a confiança vem dos guias. Mas a responsabilidade pelo código continua sendo sua.</a:t>
            </a:r>
          </a:p>
        </p:txBody>
      </p:sp>
      <p:sp>
        <p:nvSpPr>
          <p:cNvPr id="969" name="PlaceHolder 3"/>
          <p:cNvSpPr>
            <a:spLocks noGrp="1"/>
          </p:cNvSpPr>
          <p:nvPr>
            <p:ph type="sldNum" idx="98"/>
          </p:nvPr>
        </p:nvSpPr>
        <p:spPr>
          <a:xfrm>
            <a:off x="4278960" y="10157400"/>
            <a:ext cx="3278520" cy="532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4063966-10D3-41A7-A165-5C28D188178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33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7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480" cy="480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NOVO. Tudo depende da criticidade do software. No checkout de um grande e-commerce ou num módulo de frenagem de carro, um problema causa perda de milhões ou risco à vida. Software médico, hospitalar, financeiro e de cálculo de impostos demanda muita atenção. Em gestão de projetos ou troca de mensagens, a margem para corrigir depois é maior. Regra prática: ajuste o rigor dos guias, dos sensores e da revisão à criticidade do que está sendo entregue.</a:t>
            </a:r>
          </a:p>
        </p:txBody>
      </p:sp>
      <p:sp>
        <p:nvSpPr>
          <p:cNvPr id="972" name="PlaceHolder 3"/>
          <p:cNvSpPr>
            <a:spLocks noGrp="1"/>
          </p:cNvSpPr>
          <p:nvPr>
            <p:ph type="sldNum" idx="99"/>
          </p:nvPr>
        </p:nvSpPr>
        <p:spPr>
          <a:xfrm>
            <a:off x="4278960" y="10157400"/>
            <a:ext cx="3278520" cy="532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66E4AB7-8ADD-44D9-8CB9-8EE732A975A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34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7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480" cy="480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NOVO. Sensores são tudo o que ajuda a LLM a entender se os tokens que ela produziu fazem sentido. A LLM só gera tokens e edita arquivos: não tem compilador embarcado e não executa o seu código. Nós podemos navegar no browser, olhar o banco e os logs. Pense no sensor do carro que avisa que a porta ficou aberta. Para a LLM, é o indicador de problema (ou de que tudo vai bem) para que ela se autocorrija. Cada vez que a LLM escreve algumas linhas, elas podem estar erradas e se acumular. Sem um mecanismo mínimo de detecção, nós somos o gargalo. Não faz sentido eu dizer 'tentei rodar e não funcionou', ou que a query falhou porque a coluna estava errada, a chave estrangeira não era aquela, faltava índice. Não é mais o nosso papel.</a:t>
            </a:r>
          </a:p>
        </p:txBody>
      </p:sp>
      <p:sp>
        <p:nvSpPr>
          <p:cNvPr id="975" name="PlaceHolder 3"/>
          <p:cNvSpPr>
            <a:spLocks noGrp="1"/>
          </p:cNvSpPr>
          <p:nvPr>
            <p:ph type="sldNum" idx="100"/>
          </p:nvPr>
        </p:nvSpPr>
        <p:spPr>
          <a:xfrm>
            <a:off x="4278960" y="10157400"/>
            <a:ext cx="3278520" cy="532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394783B-4D6B-4E5D-8E94-5F8C8D12ABE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35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7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480" cy="480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NOVO. O básico é a capacidade de executar testes automatizados: eles evitam regressão e validam se o que foi implementado funciona, retroalimentando a LLM de forma autônoma no processo agêntico. Compiladores e transpiladores, e linters, pegam erros de sintaxe e regras. O navegador (headless, ou Playwright/WebDriver via CLI) permite testar a aplicação web. Logs: monitorar a saída padrão do servidor dá feedback imediato de erros. Banco de dados: executar queries, validar planos de execução e entender tabelas grandes. Quanto mais sensores existirem, melhor: alguns são ao mesmo tempo guia e sensor (o teste, por exemplo). Os nomes das ferramentas são exemplos.</a:t>
            </a:r>
          </a:p>
        </p:txBody>
      </p:sp>
      <p:sp>
        <p:nvSpPr>
          <p:cNvPr id="978" name="PlaceHolder 3"/>
          <p:cNvSpPr>
            <a:spLocks noGrp="1"/>
          </p:cNvSpPr>
          <p:nvPr>
            <p:ph type="sldNum" idx="101"/>
          </p:nvPr>
        </p:nvSpPr>
        <p:spPr>
          <a:xfrm>
            <a:off x="4278960" y="10157400"/>
            <a:ext cx="3278520" cy="532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2A3D6F5-4FEB-4CCF-B2A4-866E6382A8E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36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8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480" cy="480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NOVO (pode substituir ou complementar o slide de resumo do Encontro 1). O guia e o sensor juntos proporcionam o menor índice de retrabalho e a maior capacidade de paralelismo, alavancando a produtividade. Guias informam antes de o agente agir. Sensores avaliam depois. A criticidade do software define quanto rigor aplicar a cada um. Retome: o objetivo é o agente trabalhar sem supervisão. Sem guia e sem sensor, você fica no meio do caminho e perde o ganho.</a:t>
            </a:r>
          </a:p>
        </p:txBody>
      </p:sp>
      <p:sp>
        <p:nvSpPr>
          <p:cNvPr id="981" name="PlaceHolder 3"/>
          <p:cNvSpPr>
            <a:spLocks noGrp="1"/>
          </p:cNvSpPr>
          <p:nvPr>
            <p:ph type="sldNum" idx="102"/>
          </p:nvPr>
        </p:nvSpPr>
        <p:spPr>
          <a:xfrm>
            <a:off x="4278960" y="10157400"/>
            <a:ext cx="3278520" cy="532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DDC57A3-DF85-49B5-A259-7F7B37A9809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37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8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Abra um quadro em branco no Excalidraw e desenhe com a turma a estrutura do exemplo do user harness. Comece pelo pedido do usuário e pelo harness; acrescente as instruções, os arquivos selecionados e os resultados de ferramentas que entram no contexto antes de cada chamada ao modelo. Pergunte em cada etapa o que entra, quando entra e quem decide. Termine relacionando o desenho aos guias e sensores apresentados nos slides anteriores.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PlaceHolder 3"/>
          <p:cNvSpPr>
            <a:spLocks noGrp="1"/>
          </p:cNvSpPr>
          <p:nvPr>
            <p:ph type="sldNum" idx="10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C6387-A37A-FADB-0053-9B801998D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PlaceHolder 1">
            <a:extLst>
              <a:ext uri="{FF2B5EF4-FFF2-40B4-BE49-F238E27FC236}">
                <a16:creationId xmlns:a16="http://schemas.microsoft.com/office/drawing/2014/main" id="{36FE4C87-F853-B6C8-F95E-5EBBD52A0D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86" name="PlaceHolder 2">
            <a:extLst>
              <a:ext uri="{FF2B5EF4-FFF2-40B4-BE49-F238E27FC236}">
                <a16:creationId xmlns:a16="http://schemas.microsoft.com/office/drawing/2014/main" id="{84B9312E-EC5C-980C-472B-F8E707B1FC6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Atividade de 10 minutos. Comece com “Crie um gerenciador financeiro pessoal”. Peça à turma que enumere decisões ausentes: telas, tipos de lançamento, cálculo do saldo, persistência, validações, stack e testes. Depois mostre o pedido com contexto como um recorte de implementação. Quem tiver agente testa localmente; os demais comparam a execução projetada.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Esta é a primeira iteração do pedido. A prática final retoma o mesmo produto e acrescenta spec, regras, ferramentas e revisão.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PlaceHolder 3">
            <a:extLst>
              <a:ext uri="{FF2B5EF4-FFF2-40B4-BE49-F238E27FC236}">
                <a16:creationId xmlns:a16="http://schemas.microsoft.com/office/drawing/2014/main" id="{85AEFC97-785F-BD72-F9BD-43169B14AC8E}"/>
              </a:ext>
            </a:extLst>
          </p:cNvPr>
          <p:cNvSpPr>
            <a:spLocks noGrp="1"/>
          </p:cNvSpPr>
          <p:nvPr>
            <p:ph type="sldNum" idx="10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0480349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C6387-A37A-FADB-0053-9B801998D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PlaceHolder 1">
            <a:extLst>
              <a:ext uri="{FF2B5EF4-FFF2-40B4-BE49-F238E27FC236}">
                <a16:creationId xmlns:a16="http://schemas.microsoft.com/office/drawing/2014/main" id="{36FE4C87-F853-B6C8-F95E-5EBBD52A0D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86" name="PlaceHolder 2">
            <a:extLst>
              <a:ext uri="{FF2B5EF4-FFF2-40B4-BE49-F238E27FC236}">
                <a16:creationId xmlns:a16="http://schemas.microsoft.com/office/drawing/2014/main" id="{84B9312E-EC5C-980C-472B-F8E707B1FC6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Convide os participantes a acessar o formulário da atividade usando o QR code. O endereço também é clicável: https://forms.gle/i2i2JLhWn9RxTtuQ8.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PlaceHolder 3">
            <a:extLst>
              <a:ext uri="{FF2B5EF4-FFF2-40B4-BE49-F238E27FC236}">
                <a16:creationId xmlns:a16="http://schemas.microsoft.com/office/drawing/2014/main" id="{85AEFC97-785F-BD72-F9BD-43169B14AC8E}"/>
              </a:ext>
            </a:extLst>
          </p:cNvPr>
          <p:cNvSpPr>
            <a:spLocks noGrp="1"/>
          </p:cNvSpPr>
          <p:nvPr>
            <p:ph type="sldNum" idx="10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0480349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8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Fechamento do primeiro encontro: a LLM gera a próxima saída em texto; o harness oferece ferramentas, verifica permissões e executa ações; context engineering seleciona as informações que chegam ao modelo. O agente usa resultados de ferramentas no próximo passo e repete o ciclo.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PlaceHolder 3"/>
          <p:cNvSpPr>
            <a:spLocks noGrp="1"/>
          </p:cNvSpPr>
          <p:nvPr>
            <p:ph type="sldNum" idx="10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9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Divisor do Dia 2. Abra com o recap do Dia 1 (próximo slide). Pergunta central: como damos contexto e capacidades a um agente e o colocamos para trabalhar? Percurso: rules, skills, tools e MCP, memória e subagentes, specs e a prática final.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Plano sugerido do Dia 2: 10 min revisão; 30 min rules/skills; 35 min tools/MCP/memória; 30 min intervalo; 35 min SDD; 45 min prática integrada; 10 min encerramento.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PlaceHolder 3"/>
          <p:cNvSpPr>
            <a:spLocks noGrp="1"/>
          </p:cNvSpPr>
          <p:nvPr>
            <p:ph type="sldNum" idx="10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9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Retomada antes da prática: peça que os participantes expliquem o papel da LLM, do harness e do contexto no gerenciador financeiro. Destaque que as três peças atuam no mesmo ciclo, e que o resultado de uma ação pode alimentar o próximo passo.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6" name="PlaceHolder 3"/>
          <p:cNvSpPr>
            <a:spLocks noGrp="1"/>
          </p:cNvSpPr>
          <p:nvPr>
            <p:ph type="sldNum" idx="10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9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Início do Encontro 2. Em vez de apresentar rules, skills e MCP como tecnologias soltas, apresente a pergunta: como damos contexto e capacidade a um agente? Cada mecanismo responde a uma parte: instruções persistentes, conhecimento e procedimentos, capacidades externas, contexto de trabalhos longos (memória e subagentes) e o trabalho a realizar (spec e plano).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PlaceHolder 3"/>
          <p:cNvSpPr>
            <a:spLocks noGrp="1"/>
          </p:cNvSpPr>
          <p:nvPr>
            <p:ph type="sldNum" idx="10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0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Referência: https://agents.md/ e https://github.com/agentsmd/agents.md. O formato aberto complementa o README com instruções operacionais. Exemplo didático: confirme os scripts no package.json antes de copiar os comandos. Peça ao agente que explique quais instruções está aplicando; confira a execução e o diff.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2" name="PlaceHolder 3"/>
          <p:cNvSpPr>
            <a:spLocks noGrp="1"/>
          </p:cNvSpPr>
          <p:nvPr>
            <p:ph type="sldNum" idx="10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0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Fonte: https://agents.md/, seções How to use e FAQ. Demonstre uma regra local para a API e outra comum na raiz. A precedência ilustrada trata de instruções do projeto; permissões e políticas do harness continuam aplicáveis. O carregamento depende do cliente e de sua configuração. AGENTS.md orienta a execução, mas testes e revisão comprovam a entrega.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PlaceHolder 3"/>
          <p:cNvSpPr>
            <a:spLocks noGrp="1"/>
          </p:cNvSpPr>
          <p:nvPr>
            <p:ph type="sldNum" idx="1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0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Contraste com rules. Rules estão sempre presentes. Skills mantêm apenas nome e descrição curta no contexto; quando a tarefa combina com a descrição, o harness carrega as instruções completas. Isso economiza contexto, reduz a degradação e permite ter muitos procedimentos disponíveis.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8" name="PlaceHolder 3"/>
          <p:cNvSpPr>
            <a:spLocks noGrp="1"/>
          </p:cNvSpPr>
          <p:nvPr>
            <p:ph type="sldNum" idx="1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1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 skill pode incluir pastas opcionais além de SKILL.md. references guarda documentação; resources reúne materiais; templates contém modelos; scripts contém código executável. Os nomes resources e templates são opções de organização, não campos obrigatórios do formato. A especificação recomenda scripts, references e assets; assets pode reunir templates e outros recursos. SKILL.md aponta para arquivos relativos à pasta da skill, e os apoios são consultados conforme a necessidade. Fonte: https://agentskills.io/specification. O exemplo usa templates/spec.md para orientar a criação da spec.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1" name="PlaceHolder 3"/>
          <p:cNvSpPr>
            <a:spLocks noGrp="1"/>
          </p:cNvSpPr>
          <p:nvPr>
            <p:ph type="sldNum" idx="1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1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 modelo nunca executa nada. Ele vê a descrição das tools e, quando decide usar uma, devolve um pedido estruturado. O harness executa de verdade e devolve o resultado. A qualidade da descrição influencia quando o modelo escolhe a tool. Exemplo ilustrativo e simplificado.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PlaceHolder 3"/>
          <p:cNvSpPr>
            <a:spLocks noGrp="1"/>
          </p:cNvSpPr>
          <p:nvPr>
            <p:ph type="sldNum" idx="1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Sem um padrão, cada agente precisa de uma integração com cada serviço: N vezes M. Com o Model Context Protocol, cada agente fala MCP e cada serviço expõe um servidor MCP: N mais M. Em termos práticos, um servidor MCP expõe tools que qualquer agente compatível pode usar.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PlaceHolder 3"/>
          <p:cNvSpPr>
            <a:spLocks noGrp="1"/>
          </p:cNvSpPr>
          <p:nvPr>
            <p:ph type="sldNum" idx="1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1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Lista curta para começar. Skills oficiais da Anthropic (repositório anthropics/skills): documentos (docx, pptx, xlsx, pdf), frontend-design, webapp-testing, mcp-builder e skill-creator. MCPs: GitHub oficial (use o modo somente leitura e limite os toolsets), Playwright da Microsoft (controla o navegador pela árvore de acessibilidade, bom para validar UI no QA), Context7 (documentação atual por versão) e os servidores de referência Fetch e Memory. Skills da sua equipe, como as do fluxo PRD até Review, costumam valer mais do que as genéricas. Cuidado: cada MCP adiciona ferramentas e contexto; instale só o que usa e com o menor escopo possível. No Claude Code, servidores de projeto ficam no .mcp.json versionado no repositório.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0" name="PlaceHolder 3"/>
          <p:cNvSpPr>
            <a:spLocks noGrp="1"/>
          </p:cNvSpPr>
          <p:nvPr>
            <p:ph type="sldNum" idx="1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2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 contexto de uma sessão termina com ela. Para continuar depois, o agente grava notas, decisões e progresso em um arquivo e relê no início da próxima sessão. É a técnica de externalizar contexto aplicada ao trabalho de longa duração.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3" name="PlaceHolder 3"/>
          <p:cNvSpPr>
            <a:spLocks noGrp="1"/>
          </p:cNvSpPr>
          <p:nvPr>
            <p:ph type="sldNum" idx="1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2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 agente principal delega tarefas a subagentes, cada um com sua janela de contexto. Os detalhes (arquivos lidos, tentativas) ficam no subagente; o contexto principal recebe apenas o resultado. É uma forma de gerir contexto, não de ganhar mais inteligência, e protege o contexto principal da degradação.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PlaceHolder 3"/>
          <p:cNvSpPr>
            <a:spLocks noGrp="1"/>
          </p:cNvSpPr>
          <p:nvPr>
            <p:ph type="sldNum" idx="1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2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Fluxo de desenvolvimento com agente: especificar, planejar, implementar, testar, revisar. O humano concentra esforço nas duas pontas, definir bem o trabalho e validar o resultado; o agente executa a parte central. Isso introduz o Spec Driven Development. Quanto melhor a especificação, menos retrabalho na implementação.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9" name="PlaceHolder 3"/>
          <p:cNvSpPr>
            <a:spLocks noGrp="1"/>
          </p:cNvSpPr>
          <p:nvPr>
            <p:ph type="sldNum" idx="1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3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Abra o bloco de Spec Driven Development retomando o pedido vago “Crie um gerenciador financeiro pessoal”. Sem spec, o agente precisa escolher telas, tipos de lançamento, regras de saldo, persistência e testes. Com a spec, a turma revisa esse comportamento antes do código.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2" name="PlaceHolder 3"/>
          <p:cNvSpPr>
            <a:spLocks noGrp="1"/>
          </p:cNvSpPr>
          <p:nvPr>
            <p:ph type="sldNum" idx="1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3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Definição: a spec é um artefato estruturado, orientado a comportamento, que serve de fonte de verdade para humano e agente. Cuidado para não confundir com rules: as rules (AGENTS.md, CLAUDE.md) valem sempre; a spec vale para uma feature. Böckeler observa que o termo ainda é difuso e que muita gente chama de spec um prompt detalhado.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5" name="PlaceHolder 3"/>
          <p:cNvSpPr>
            <a:spLocks noGrp="1"/>
          </p:cNvSpPr>
          <p:nvPr>
            <p:ph type="sldNum" idx="1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3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Modelo de Rodrigo Branas (Formação em IA, pasta spec-driven-development). Seis etapas, cada uma é uma skill com um template: PRD, TechSpec, Tasks, execução de task, QA e review. As três primeiras são do humano com ajuda da IA; as três últimas a IA executa e você valida. A IA faz perguntas antes de redigir o PRD e a TechSpec e espera aprovação da lista de tasks.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Fluxo de seis etapas de Rodrigo Branas, usado como exemplo; SDD não exige esta sequência universal.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8" name="PlaceHolder 3"/>
          <p:cNvSpPr>
            <a:spLocks noGrp="1"/>
          </p:cNvSpPr>
          <p:nvPr>
            <p:ph type="sldNum" idx="1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4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Mostre a ligação entre os documentos no gerenciador financeiro. PRD: critérios CA-01 e CA-02 para valor positivo e zero. TechSpec: testes TI-01 e TI-02 para a rota de lançamentos. Tasks: contrato da API, formulário/API e testes/saldo. Os trechos são adaptados do material do Branas.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1" name="PlaceHolder 3"/>
          <p:cNvSpPr>
            <a:spLocks noGrp="1"/>
          </p:cNvSpPr>
          <p:nvPr>
            <p:ph type="sldNum" idx="1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4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Rastreabilidade: o critério de aceitação do PRD é o fio condutor. A TechSpec associa casos de teste a cada critério, as tasks referenciam esses casos, o código traz os testes e o QA só aprova quando todo critério foi verificado, com evidências salvas na pasta evidences. É isso que torna a revisão possível: você confere critérios, não só código.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4" name="PlaceHolder 3"/>
          <p:cNvSpPr>
            <a:spLocks noGrp="1"/>
          </p:cNvSpPr>
          <p:nvPr>
            <p:ph type="sldNum" idx="1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4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Quando usar: o GitHub aponta projeto novo, feature em sistema existente (o caso mais poderoso) e modernização de legado. O spec-driven.md acrescenta cenários com requisitos que mudam. Quando evitar: Böckeler relata que o Kiro transformou um bug em 4 histórias e 16 critérios, que ela chamou de marreta para quebrar uma noz, e que o spec-kit foi exagero para uma feature de 3 a 5 pontos. Ajuste o tamanho do processo ao tamanho do problema.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7" name="PlaceHolder 3"/>
          <p:cNvSpPr>
            <a:spLocks noGrp="1"/>
          </p:cNvSpPr>
          <p:nvPr>
            <p:ph type="sldNum" idx="1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4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Pergunta prática do processo: devo limpar a janela de contexto entre as tasks? Na medição do Branas com 5 tasks, rodar cada uma isolada somou 650k e 16M de cache; rodar todas em sequência somou 240k e 10M de cache. Vantagens de não limpar: reuso de cache e menos releitura. Desvantagens: contexto maior, compactação, mais tempo de inferência e mistura de skills. É uma medição de um caso, não uma regra geral; o ponto é decidir com dados.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Material de apoio: esta medição é um experimento específico do autor. Não gastar tempo de aula com números de tokens se a prática estiver apertada.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0" name="PlaceHolder 3"/>
          <p:cNvSpPr>
            <a:spLocks noGrp="1"/>
          </p:cNvSpPr>
          <p:nvPr>
            <p:ph type="sldNum" idx="1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5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Limites, segundo Böckeler: specs verbosas e repetitivas são cansativas de revisar; agentes ignoram instruções e dão falsa sensação de controle; a mesma spec pode gerar códigos diferentes. Por isso a validação continua sendo por testes e critérios de aceite, o assunto do próximo slide.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3" name="PlaceHolder 3"/>
          <p:cNvSpPr>
            <a:spLocks noGrp="1"/>
          </p:cNvSpPr>
          <p:nvPr>
            <p:ph type="sldNum" idx="1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Agentes podem afirmar com segurança algo errado e podem passar nos testes errados. O fluxo saudável é: o agente produz uma mudança, você lê o diff, os testes e critérios de aceite rodam, e você aceita ou devolve com feedback. A spec e os critérios de aceite do slide anterior tornam essa revisão objetiva.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6" name="PlaceHolder 3"/>
          <p:cNvSpPr>
            <a:spLocks noGrp="1"/>
          </p:cNvSpPr>
          <p:nvPr>
            <p:ph type="sldNum" idx="1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Tabela de síntese do dia, depois de specs e revisão. Rules: sempre no contexto, para o que nunca muda. Skills: sob demanda, para procedimentos reutilizáveis. Tools e MCP: quando o modelo as chama, para agir fora do modelo. Spec e plano: durante a tarefa, para dizer o que construir agora. Memória: relida no início da sessão, para continuar entre sessões. Subagentes: só o resumo volta, para isolar tarefas em contextos próprios. Em seguida vem a prática final, que usa todos eles.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9" name="PlaceHolder 3"/>
          <p:cNvSpPr>
            <a:spLocks noGrp="1"/>
          </p:cNvSpPr>
          <p:nvPr>
            <p:ph type="sldNum" idx="1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Início da prática principal. Entregue o pedido propositalmente vago “Crie um gerenciador financeiro pessoal”. Pergunte se o agente tem contexto suficiente. A turma deve levantar telas, tipos de lançamento, validações, cálculo do saldo, persistência, testes e convenções. Registre as perguntas: elas alimentam a spec.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2" name="PlaceHolder 3"/>
          <p:cNvSpPr>
            <a:spLocks noGrp="1"/>
          </p:cNvSpPr>
          <p:nvPr>
            <p:ph type="sldNum" idx="1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6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Prática 1: escreva AGENTS.md na raiz usando comandos reais do projeto. Peça ao agente que identifique o guia aplicável. Depois conecte os MCPs escolhidos, confira ferramentas e instale a skill fornecida. Evidência: guia reconhecido, checks executáveis, conexão funcionando e skill disponível. Fonte para AGENTS.md: https://agents.md/.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5" name="PlaceHolder 3"/>
          <p:cNvSpPr>
            <a:spLocks noGrp="1"/>
          </p:cNvSpPr>
          <p:nvPr>
            <p:ph type="sldNum" idx="1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Segundo slide de prática. Use o projeto configurado no slide anterior e a skill pronta fornecida pelo instrutor para conduzir o fluxo proposto. PRD: definir o comportamento e critérios para receitas, despesas e saldo mensal. Spec: decidir implementação e testes. Tasks: dividir o trabalho em etapas executáveis. Revise PRD, spec e tasks antes de pedir a execução. Em seguida, o agente implementa as tasks. QA: testar os critérios e registrar evidências. Review: ler o diff, avaliar a mudança e aceitar ou devolver feedback. A implementação acontece entre Tasks e QA. Os nomes de arquivo no slide são ilustrativos; siga os templates da skill fornecida.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8" name="PlaceHolder 3"/>
          <p:cNvSpPr>
            <a:spLocks noGrp="1"/>
          </p:cNvSpPr>
          <p:nvPr>
            <p:ph type="sldNum" idx="13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7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Feche retomando a mensagem central: o contexto orienta o modelo, o harness permite ações com ferramentas e a pessoa continua responsável por definir o trabalho e validar a entrega. Agradeça à turma.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1" name="PlaceHolder 3"/>
          <p:cNvSpPr>
            <a:spLocks noGrp="1"/>
          </p:cNvSpPr>
          <p:nvPr>
            <p:ph type="sldNum" idx="13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E Conteu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9CFFCA5F-93C1-4A64-9DC0-B92B215A8D8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E Divi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30605B8-30C7-4122-96B3-987701B9F1D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E Abert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E Conteudo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2AAE5C3-FBF6-4728-9347-DFEC46727EF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Relationship Id="rId3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Relationship Id="rId3" Type="http://schemas.openxmlformats.org/officeDocument/2006/relationships/image" Target="../media/image2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4.xml"/><Relationship Id="rId3" Type="http://schemas.openxmlformats.org/officeDocument/2006/relationships/image" Target="../media/image2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5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3160" cy="27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Agentes de IA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Image 0"/>
          <p:cNvPicPr/>
          <p:nvPr/>
        </p:nvPicPr>
        <p:blipFill>
          <a:blip r:embed="rId3"/>
          <a:stretch/>
        </p:blipFill>
        <p:spPr>
          <a:xfrm>
            <a:off x="9829800" y="6437520"/>
            <a:ext cx="1016640" cy="19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sldNum" idx="1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65BADAE-8393-4BF2-BF18-CBCA6A90D063}" type="slidenum">
              <a: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/>
          <p:cNvSpPr/>
          <p:nvPr/>
        </p:nvSpPr>
        <p:spPr>
          <a:xfrm>
            <a:off x="548640" y="6400800"/>
            <a:ext cx="5483160" cy="27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  <a:ea typeface="Calibri"/>
              </a:rPr>
              <a:t>Agentes de IA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" name="Image 0"/>
          <p:cNvPicPr/>
          <p:nvPr/>
        </p:nvPicPr>
        <p:blipFill>
          <a:blip r:embed="rId3"/>
          <a:stretch/>
        </p:blipFill>
        <p:spPr>
          <a:xfrm>
            <a:off x="9829800" y="6437520"/>
            <a:ext cx="1016640" cy="19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sldNum" idx="2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6638B14-E7C5-4E5B-B0F8-D6B43EF07D0D}" type="slidenum">
              <a: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0"/>
          <p:cNvPicPr/>
          <p:nvPr/>
        </p:nvPicPr>
        <p:blipFill>
          <a:blip r:embed="rId3"/>
          <a:stretch/>
        </p:blipFill>
        <p:spPr>
          <a:xfrm>
            <a:off x="640080" y="5806440"/>
            <a:ext cx="2314800" cy="45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548640" y="6400800"/>
            <a:ext cx="5483160" cy="27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Agentes de IA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" name="Image 0"/>
          <p:cNvPicPr/>
          <p:nvPr/>
        </p:nvPicPr>
        <p:blipFill>
          <a:blip r:embed="rId3"/>
          <a:stretch/>
        </p:blipFill>
        <p:spPr>
          <a:xfrm>
            <a:off x="9829800" y="6437520"/>
            <a:ext cx="1016640" cy="19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sldNum" idx="3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5AA88B5-CBFC-4096-A9D2-A40393C5EFF4}" type="slidenum">
              <a: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forms.gle/i2i2JLhWn9RxTtuQ8" TargetMode="External"/><Relationship Id="rId4" Type="http://schemas.openxmlformats.org/officeDocument/2006/relationships/image" Target="../media/image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40080" y="1097280"/>
            <a:ext cx="5483160" cy="2557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Agentes de IA:  fundamentos, arquitetura e prática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Text 1"/>
          <p:cNvSpPr/>
          <p:nvPr/>
        </p:nvSpPr>
        <p:spPr>
          <a:xfrm>
            <a:off x="640080" y="4114800"/>
            <a:ext cx="5483160" cy="136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Thiago Siqueira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Em dois encontros, vamos sair de como um agente funciona para como trabalhar com ele.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Shape 1"/>
          <p:cNvSpPr/>
          <p:nvPr/>
        </p:nvSpPr>
        <p:spPr>
          <a:xfrm>
            <a:off x="548640" y="2148840"/>
            <a:ext cx="3380040" cy="319716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30" name="Text 2"/>
          <p:cNvSpPr/>
          <p:nvPr/>
        </p:nvSpPr>
        <p:spPr>
          <a:xfrm>
            <a:off x="822960" y="2423160"/>
            <a:ext cx="2831400" cy="31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Encontro 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822960" y="2880360"/>
            <a:ext cx="2831400" cy="91116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9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LLM  →  Harness  →  Contexto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4"/>
          <p:cNvSpPr/>
          <p:nvPr/>
        </p:nvSpPr>
        <p:spPr>
          <a:xfrm>
            <a:off x="822960" y="4069080"/>
            <a:ext cx="2831400" cy="68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Como agentes funcionam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5"/>
          <p:cNvSpPr/>
          <p:nvPr/>
        </p:nvSpPr>
        <p:spPr>
          <a:xfrm>
            <a:off x="822960" y="4754880"/>
            <a:ext cx="2831400" cy="72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Modelo, harness e context engineering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6"/>
          <p:cNvSpPr/>
          <p:nvPr/>
        </p:nvSpPr>
        <p:spPr>
          <a:xfrm>
            <a:off x="4005000" y="3337560"/>
            <a:ext cx="310680" cy="360"/>
          </a:xfrm>
          <a:prstGeom prst="line">
            <a:avLst/>
          </a:prstGeom>
          <a:ln w="19050">
            <a:solidFill>
              <a:srgbClr val="6666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35" name="Shape 7"/>
          <p:cNvSpPr/>
          <p:nvPr/>
        </p:nvSpPr>
        <p:spPr>
          <a:xfrm>
            <a:off x="4389120" y="2148840"/>
            <a:ext cx="3380040" cy="319716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36" name="Text 8"/>
          <p:cNvSpPr/>
          <p:nvPr/>
        </p:nvSpPr>
        <p:spPr>
          <a:xfrm>
            <a:off x="4663440" y="2423160"/>
            <a:ext cx="2831400" cy="31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Encontro 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9"/>
          <p:cNvSpPr/>
          <p:nvPr/>
        </p:nvSpPr>
        <p:spPr>
          <a:xfrm>
            <a:off x="4663440" y="2880360"/>
            <a:ext cx="2831400" cy="91116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9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Rules · Skills · MCP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0"/>
          <p:cNvSpPr/>
          <p:nvPr/>
        </p:nvSpPr>
        <p:spPr>
          <a:xfrm>
            <a:off x="4663440" y="4069080"/>
            <a:ext cx="2831400" cy="68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Como trabalhar com agentes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1"/>
          <p:cNvSpPr/>
          <p:nvPr/>
        </p:nvSpPr>
        <p:spPr>
          <a:xfrm>
            <a:off x="4663440" y="4754880"/>
            <a:ext cx="2831400" cy="72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Instruções, conhecimento, ferramentas e specs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2"/>
          <p:cNvSpPr/>
          <p:nvPr/>
        </p:nvSpPr>
        <p:spPr>
          <a:xfrm>
            <a:off x="7845480" y="3337560"/>
            <a:ext cx="310680" cy="360"/>
          </a:xfrm>
          <a:prstGeom prst="line">
            <a:avLst/>
          </a:prstGeom>
          <a:ln w="19050">
            <a:solidFill>
              <a:srgbClr val="6666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41" name="Shape 13"/>
          <p:cNvSpPr/>
          <p:nvPr/>
        </p:nvSpPr>
        <p:spPr>
          <a:xfrm>
            <a:off x="8229600" y="2148840"/>
            <a:ext cx="3380040" cy="319716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42" name="Text 14"/>
          <p:cNvSpPr/>
          <p:nvPr/>
        </p:nvSpPr>
        <p:spPr>
          <a:xfrm>
            <a:off x="8503920" y="2423160"/>
            <a:ext cx="2831400" cy="31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Prática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5"/>
          <p:cNvSpPr/>
          <p:nvPr/>
        </p:nvSpPr>
        <p:spPr>
          <a:xfrm>
            <a:off x="8503920" y="2880360"/>
            <a:ext cx="2831400" cy="91116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9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Pedido vago → processo estruturado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6"/>
          <p:cNvSpPr/>
          <p:nvPr/>
        </p:nvSpPr>
        <p:spPr>
          <a:xfrm>
            <a:off x="8503920" y="4069080"/>
            <a:ext cx="2831400" cy="68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Da ideia à entrega verificável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7"/>
          <p:cNvSpPr/>
          <p:nvPr/>
        </p:nvSpPr>
        <p:spPr>
          <a:xfrm>
            <a:off x="8503920" y="4754880"/>
            <a:ext cx="2831400" cy="72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Contexto, critérios, plano, execução e revisão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ldNum" idx="7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7C884A9-5EE7-4100-AF8D-9A224F4C1743}" type="slidenum">
              <a: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2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Ao final, você vai entender por que o contexto define a qualidade do agente e como entregá-lo.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Text 1"/>
          <p:cNvSpPr/>
          <p:nvPr/>
        </p:nvSpPr>
        <p:spPr>
          <a:xfrm>
            <a:off x="548640" y="2103120"/>
            <a:ext cx="4934520" cy="228276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4160" tIns="254160" rIns="254160" bIns="2541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Entender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Por que o mesmo agente dá respostas melhores quando recebe as informações certas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6675120" y="2103120"/>
            <a:ext cx="4934520" cy="2282760"/>
          </a:xfrm>
          <a:prstGeom prst="roundRect">
            <a:avLst>
              <a:gd name="adj" fmla="val 32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4160" tIns="254160" rIns="254160" bIns="2541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Saber usar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Rules, skills, MCP e specs para dar contexto e capacidade ao agente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5623560" y="3246120"/>
            <a:ext cx="914400" cy="360"/>
          </a:xfrm>
          <a:prstGeom prst="line">
            <a:avLst/>
          </a:prstGeom>
          <a:ln w="2540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51" name="Text 4"/>
          <p:cNvSpPr/>
          <p:nvPr/>
        </p:nvSpPr>
        <p:spPr>
          <a:xfrm>
            <a:off x="548640" y="4846320"/>
            <a:ext cx="11061000" cy="54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A razão vem antes da ferramenta: quem entende o porquê escolhe melhor o como.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ldNum" idx="8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FC61B75-C4B7-4BEF-A955-60C3247CDC21}" type="slidenum">
              <a: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3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ceberg IA" descr="Iceberg com quatro camadas: ferramentas acima da linha d’água; modelos, harness e contexto (foco do curso) e fundamentos abaixo"/>
          <p:cNvPicPr/>
          <p:nvPr/>
        </p:nvPicPr>
        <p:blipFill>
          <a:blip r:embed="rId3"/>
          <a:stretch/>
        </p:blipFill>
        <p:spPr>
          <a:xfrm>
            <a:off x="0" y="0"/>
            <a:ext cx="1218960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4897440" cy="169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Ferramentas são só a ponta do iceberg.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ldNum" idx="9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DE8F7D8-7005-4548-B01A-D201C191E1DA}" type="slidenum">
              <a: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4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Cinco modos de usar IA ilustram diferentes níveis de delegação.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Text 1"/>
          <p:cNvSpPr/>
          <p:nvPr/>
        </p:nvSpPr>
        <p:spPr>
          <a:xfrm>
            <a:off x="548640" y="2926080"/>
            <a:ext cx="2008440" cy="118548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L0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Manual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—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"/>
          <p:cNvSpPr/>
          <p:nvPr/>
        </p:nvSpPr>
        <p:spPr>
          <a:xfrm>
            <a:off x="2596680" y="3520440"/>
            <a:ext cx="178200" cy="360"/>
          </a:xfrm>
          <a:prstGeom prst="line">
            <a:avLst/>
          </a:prstGeom>
          <a:ln w="22225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8920" tIns="-44640" rIns="8892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59" name="Text 3"/>
          <p:cNvSpPr/>
          <p:nvPr/>
        </p:nvSpPr>
        <p:spPr>
          <a:xfrm>
            <a:off x="2811960" y="2926080"/>
            <a:ext cx="2008440" cy="118548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L1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Copiar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—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4"/>
          <p:cNvSpPr/>
          <p:nvPr/>
        </p:nvSpPr>
        <p:spPr>
          <a:xfrm>
            <a:off x="4860000" y="3520440"/>
            <a:ext cx="178200" cy="360"/>
          </a:xfrm>
          <a:prstGeom prst="line">
            <a:avLst/>
          </a:prstGeom>
          <a:ln w="22225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8920" tIns="-44640" rIns="8892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 5"/>
          <p:cNvSpPr/>
          <p:nvPr/>
        </p:nvSpPr>
        <p:spPr>
          <a:xfrm>
            <a:off x="5074920" y="2926080"/>
            <a:ext cx="2008440" cy="118548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L2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Assistir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—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6"/>
          <p:cNvSpPr/>
          <p:nvPr/>
        </p:nvSpPr>
        <p:spPr>
          <a:xfrm>
            <a:off x="7122960" y="3520440"/>
            <a:ext cx="178200" cy="360"/>
          </a:xfrm>
          <a:prstGeom prst="line">
            <a:avLst/>
          </a:prstGeom>
          <a:ln w="22225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8920" tIns="-44640" rIns="8892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 7"/>
          <p:cNvSpPr/>
          <p:nvPr/>
        </p:nvSpPr>
        <p:spPr>
          <a:xfrm>
            <a:off x="7338240" y="2926080"/>
            <a:ext cx="2008440" cy="118548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L3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Delegar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—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8"/>
          <p:cNvSpPr/>
          <p:nvPr/>
        </p:nvSpPr>
        <p:spPr>
          <a:xfrm>
            <a:off x="9386280" y="3520440"/>
            <a:ext cx="178200" cy="360"/>
          </a:xfrm>
          <a:prstGeom prst="line">
            <a:avLst/>
          </a:prstGeom>
          <a:ln w="22225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8920" tIns="-44640" rIns="8892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 9"/>
          <p:cNvSpPr/>
          <p:nvPr/>
        </p:nvSpPr>
        <p:spPr>
          <a:xfrm>
            <a:off x="9601200" y="2926080"/>
            <a:ext cx="2008440" cy="118548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L4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Automatizar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—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0"/>
          <p:cNvSpPr/>
          <p:nvPr/>
        </p:nvSpPr>
        <p:spPr>
          <a:xfrm>
            <a:off x="548640" y="4389120"/>
            <a:ext cx="4274640" cy="360"/>
          </a:xfrm>
          <a:prstGeom prst="line">
            <a:avLst/>
          </a:prstGeom>
          <a:ln w="25400">
            <a:solidFill>
              <a:srgbClr val="1B84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 11"/>
          <p:cNvSpPr/>
          <p:nvPr/>
        </p:nvSpPr>
        <p:spPr>
          <a:xfrm>
            <a:off x="548640" y="4498920"/>
            <a:ext cx="4271760" cy="63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Execução humana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2"/>
          <p:cNvSpPr/>
          <p:nvPr/>
        </p:nvSpPr>
        <p:spPr>
          <a:xfrm>
            <a:off x="5074920" y="4389120"/>
            <a:ext cx="4274640" cy="360"/>
          </a:xfrm>
          <a:prstGeom prst="line">
            <a:avLst/>
          </a:prstGeom>
          <a:ln w="25400">
            <a:solidFill>
              <a:srgbClr val="2C65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 13"/>
          <p:cNvSpPr/>
          <p:nvPr/>
        </p:nvSpPr>
        <p:spPr>
          <a:xfrm>
            <a:off x="5074920" y="4498920"/>
            <a:ext cx="4271760" cy="63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IA executa com direção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4"/>
          <p:cNvSpPr/>
          <p:nvPr/>
        </p:nvSpPr>
        <p:spPr>
          <a:xfrm>
            <a:off x="9601200" y="4389120"/>
            <a:ext cx="2011680" cy="360"/>
          </a:xfrm>
          <a:prstGeom prst="line">
            <a:avLst/>
          </a:prstGeom>
          <a:ln w="25400">
            <a:solidFill>
              <a:srgbClr val="1B84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 15"/>
          <p:cNvSpPr/>
          <p:nvPr/>
        </p:nvSpPr>
        <p:spPr>
          <a:xfrm>
            <a:off x="9601200" y="4498920"/>
            <a:ext cx="2008440" cy="63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Fluxo autônomo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ldNum" idx="10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0365296-9C64-42BD-9B70-728CC27FC79B}" type="slidenum">
              <a: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5</a:t>
            </a:fld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E41AC1A8-E896-E95A-4FCC-1D09A3E087A0}"/>
              </a:ext>
            </a:extLst>
          </p:cNvPr>
          <p:cNvSpPr txBox="1"/>
          <p:nvPr/>
        </p:nvSpPr>
        <p:spPr>
          <a:xfrm>
            <a:off x="546100" y="381000"/>
            <a:ext cx="110998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200" b="1">
                <a:solidFill>
                  <a:srgbClr val="333333"/>
                </a:solidFill>
                <a:latin typeface="Calibri" panose="020F0502020204030204" pitchFamily="34" charset="0"/>
              </a:rPr>
              <a:t>Com IA, o dev combina liderança técnica e análise de negócio para conduzir a entrega.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50D5CE-E4CC-E917-7FF8-B921B04C90C2}"/>
              </a:ext>
            </a:extLst>
          </p:cNvPr>
          <p:cNvSpPr txBox="1"/>
          <p:nvPr/>
        </p:nvSpPr>
        <p:spPr>
          <a:xfrm>
            <a:off x="546100" y="1765300"/>
            <a:ext cx="11099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 b="1">
                <a:solidFill>
                  <a:srgbClr val="666666"/>
                </a:solidFill>
                <a:latin typeface="Calibri" panose="020F0502020204030204" pitchFamily="34" charset="0"/>
              </a:rPr>
              <a:t>FEATURE LEAD · DO PROBLEMA AO RESULTADO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3083698-70AD-CC90-BD49-97CF2D3F9AAF}"/>
              </a:ext>
            </a:extLst>
          </p:cNvPr>
          <p:cNvSpPr/>
          <p:nvPr/>
        </p:nvSpPr>
        <p:spPr>
          <a:xfrm>
            <a:off x="546100" y="2667000"/>
            <a:ext cx="3378200" cy="1739900"/>
          </a:xfrm>
          <a:prstGeom prst="roundRect">
            <a:avLst/>
          </a:prstGeom>
          <a:solidFill>
            <a:srgbClr val="2C65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9C02EB-092D-9ED6-386F-1A96C019AAC6}"/>
              </a:ext>
            </a:extLst>
          </p:cNvPr>
          <p:cNvSpPr txBox="1"/>
          <p:nvPr/>
        </p:nvSpPr>
        <p:spPr>
          <a:xfrm>
            <a:off x="762000" y="2921000"/>
            <a:ext cx="2946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300" b="1">
                <a:solidFill>
                  <a:srgbClr val="FFFFFF"/>
                </a:solidFill>
                <a:latin typeface="Calibri" panose="020F0502020204030204" pitchFamily="34" charset="0"/>
              </a:rPr>
              <a:t>Analista de negócio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DC0EA3-D852-1006-B149-A18FBAE538B9}"/>
              </a:ext>
            </a:extLst>
          </p:cNvPr>
          <p:cNvSpPr txBox="1"/>
          <p:nvPr/>
        </p:nvSpPr>
        <p:spPr>
          <a:xfrm>
            <a:off x="762000" y="3479800"/>
            <a:ext cx="2946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>
                <a:solidFill>
                  <a:srgbClr val="FFFFFF"/>
                </a:solidFill>
                <a:latin typeface="Calibri" panose="020F0502020204030204" pitchFamily="34" charset="0"/>
              </a:rPr>
              <a:t>Define o problema, o valor
e os critérios de aceite.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8A759F4-B3F3-B3A4-A965-BDA3927863D4}"/>
              </a:ext>
            </a:extLst>
          </p:cNvPr>
          <p:cNvSpPr/>
          <p:nvPr/>
        </p:nvSpPr>
        <p:spPr>
          <a:xfrm>
            <a:off x="4406900" y="2667000"/>
            <a:ext cx="3378200" cy="1739900"/>
          </a:xfrm>
          <a:prstGeom prst="roundRect">
            <a:avLst/>
          </a:prstGeom>
          <a:solidFill>
            <a:srgbClr val="2C65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3C496B-3253-6D6A-132D-CA7F62EB30AA}"/>
              </a:ext>
            </a:extLst>
          </p:cNvPr>
          <p:cNvSpPr txBox="1"/>
          <p:nvPr/>
        </p:nvSpPr>
        <p:spPr>
          <a:xfrm>
            <a:off x="4622800" y="2921000"/>
            <a:ext cx="2946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300" b="1">
                <a:solidFill>
                  <a:srgbClr val="FFFFFF"/>
                </a:solidFill>
                <a:latin typeface="Calibri" panose="020F0502020204030204" pitchFamily="34" charset="0"/>
              </a:rPr>
              <a:t>Líder técnico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C48C01-1B88-2788-1F3D-D3D69A28023E}"/>
              </a:ext>
            </a:extLst>
          </p:cNvPr>
          <p:cNvSpPr txBox="1"/>
          <p:nvPr/>
        </p:nvSpPr>
        <p:spPr>
          <a:xfrm>
            <a:off x="4622800" y="3479800"/>
            <a:ext cx="2946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>
                <a:solidFill>
                  <a:srgbClr val="FFFFFF"/>
                </a:solidFill>
                <a:latin typeface="Calibri" panose="020F0502020204030204" pitchFamily="34" charset="0"/>
              </a:rPr>
              <a:t>Decide a arquitetura e
valida a qualidade técnica.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5D64100-9FBC-7D7F-F7AB-D08C56B9E0D8}"/>
              </a:ext>
            </a:extLst>
          </p:cNvPr>
          <p:cNvSpPr/>
          <p:nvPr/>
        </p:nvSpPr>
        <p:spPr>
          <a:xfrm>
            <a:off x="8267700" y="2667000"/>
            <a:ext cx="3378200" cy="1739900"/>
          </a:xfrm>
          <a:prstGeom prst="roundRect">
            <a:avLst/>
          </a:prstGeom>
          <a:solidFill>
            <a:srgbClr val="1B84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FA6620-9717-E6ED-DE0A-D7CCC5D3274C}"/>
              </a:ext>
            </a:extLst>
          </p:cNvPr>
          <p:cNvSpPr txBox="1"/>
          <p:nvPr/>
        </p:nvSpPr>
        <p:spPr>
          <a:xfrm>
            <a:off x="8483600" y="2921000"/>
            <a:ext cx="2946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300" b="1">
                <a:solidFill>
                  <a:srgbClr val="FFFFFF"/>
                </a:solidFill>
                <a:latin typeface="Calibri" panose="020F0502020204030204" pitchFamily="34" charset="0"/>
              </a:rPr>
              <a:t>Enabler de IA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69E4B4-7C31-5529-9576-3D64D9DC97C4}"/>
              </a:ext>
            </a:extLst>
          </p:cNvPr>
          <p:cNvSpPr txBox="1"/>
          <p:nvPr/>
        </p:nvSpPr>
        <p:spPr>
          <a:xfrm>
            <a:off x="8483600" y="3479800"/>
            <a:ext cx="2946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>
                <a:solidFill>
                  <a:srgbClr val="FFFFFF"/>
                </a:solidFill>
                <a:latin typeface="Calibri" panose="020F0502020204030204" pitchFamily="34" charset="0"/>
              </a:rPr>
              <a:t>Dá contexto aos agentes,
delega e verifica a execução.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C26B04-DD46-1E29-DFE8-EB1FF5C9C016}"/>
              </a:ext>
            </a:extLst>
          </p:cNvPr>
          <p:cNvSpPr txBox="1"/>
          <p:nvPr/>
        </p:nvSpPr>
        <p:spPr>
          <a:xfrm>
            <a:off x="546100" y="4965700"/>
            <a:ext cx="11099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500" b="1">
                <a:solidFill>
                  <a:srgbClr val="1B8457"/>
                </a:solidFill>
                <a:latin typeface="Calibri" panose="020F0502020204030204" pitchFamily="34" charset="0"/>
              </a:rPr>
              <a:t>O dev conecta negócio, tecnologia e IA para entregar valor.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065ED8-9615-D89D-F0BF-D09A7AB32202}"/>
              </a:ext>
            </a:extLst>
          </p:cNvPr>
          <p:cNvSpPr txBox="1"/>
          <p:nvPr/>
        </p:nvSpPr>
        <p:spPr>
          <a:xfrm>
            <a:off x="546100" y="5588000"/>
            <a:ext cx="1109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>
                <a:solidFill>
                  <a:srgbClr val="333333"/>
                </a:solidFill>
                <a:latin typeface="Calibri" panose="020F0502020204030204" pitchFamily="34" charset="0"/>
              </a:rPr>
              <a:t>Conduz a feature de ponta a ponta: define o que fazer, orienta como fazer e valida o resultado.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B04E1258-86DF-A88B-A912-999CC4F29921}"/>
              </a:ext>
            </a:extLst>
          </p:cNvPr>
          <p:cNvSpPr txBox="1">
            <a:spLocks/>
          </p:cNvSpPr>
          <p:nvPr/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pt-BR"/>
            </a:defPPr>
            <a:lvl1pPr marL="0" indent="0" algn="r" defTabSz="914400" rtl="0" eaLnBrk="1" latinLnBrk="0" hangingPunct="1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 kern="1200">
                <a:solidFill>
                  <a:schemeClr val="accent3"/>
                </a:solidFill>
                <a:effectLst/>
                <a:uFillTx/>
                <a:latin typeface="Calibri"/>
                <a:ea typeface="Calibri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365296-9C64-42BD-9B70-728CC27FC79B}" type="slidenum">
              <a:rPr lang="pt-BR" smtClean="0"/>
              <a:pPr/>
              <a:t>6</a:t>
            </a:fld>
            <a:endParaRPr lang="pt-BR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21943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No primeiro encontro, vamos entender como uma LLM se transforma em um agente.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 1"/>
          <p:cNvSpPr/>
          <p:nvPr/>
        </p:nvSpPr>
        <p:spPr>
          <a:xfrm>
            <a:off x="548640" y="2103120"/>
            <a:ext cx="3837240" cy="127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8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Dia 1</a:t>
            </a:r>
            <a:endParaRPr lang="en-U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"/>
          <p:cNvSpPr/>
          <p:nvPr/>
        </p:nvSpPr>
        <p:spPr>
          <a:xfrm>
            <a:off x="548640" y="3429000"/>
            <a:ext cx="3837240" cy="45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0" u="none" strike="noStrike">
                <a:solidFill>
                  <a:schemeClr val="lt2"/>
                </a:solidFill>
                <a:effectLst/>
                <a:uFillTx/>
                <a:latin typeface="Calibri"/>
                <a:ea typeface="Calibri"/>
              </a:rPr>
              <a:t>18:45 às 22:00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3"/>
          <p:cNvSpPr/>
          <p:nvPr/>
        </p:nvSpPr>
        <p:spPr>
          <a:xfrm>
            <a:off x="5120640" y="2340720"/>
            <a:ext cx="6489000" cy="65520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3040" tIns="203040" rIns="203040" bIns="203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1   </a:t>
            </a:r>
            <a:r>
              <a:rPr lang="pt-BR" sz="22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LLM e agente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4"/>
          <p:cNvSpPr/>
          <p:nvPr/>
        </p:nvSpPr>
        <p:spPr>
          <a:xfrm>
            <a:off x="5120640" y="3182040"/>
            <a:ext cx="6489000" cy="65520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3040" tIns="203040" rIns="203040" bIns="203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2   </a:t>
            </a:r>
            <a:r>
              <a:rPr lang="pt-BR" sz="22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Harness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5"/>
          <p:cNvSpPr/>
          <p:nvPr/>
        </p:nvSpPr>
        <p:spPr>
          <a:xfrm>
            <a:off x="5120640" y="4023360"/>
            <a:ext cx="6489000" cy="65520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3040" tIns="203040" rIns="203040" bIns="203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3   </a:t>
            </a:r>
            <a:r>
              <a:rPr lang="pt-BR" sz="22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Context engineering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6"/>
          <p:cNvSpPr/>
          <p:nvPr/>
        </p:nvSpPr>
        <p:spPr>
          <a:xfrm>
            <a:off x="5120640" y="4864680"/>
            <a:ext cx="6489000" cy="65520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3040" tIns="203040" rIns="203040" bIns="203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4   Prática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ldNum" idx="11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84BE81C-C6CA-4EAB-808F-2CA0BA604D4D}" type="slidenum">
              <a: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  <a:ea typeface="Calibri"/>
              </a:rPr>
              <a:t>7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83% usam ao menos uma ferramenta de IA no trabalho.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 1"/>
          <p:cNvSpPr/>
          <p:nvPr/>
        </p:nvSpPr>
        <p:spPr>
          <a:xfrm>
            <a:off x="548640" y="2103120"/>
            <a:ext cx="4934520" cy="228276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4160" tIns="254160" rIns="254160" bIns="2541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83%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usam ao menos uma ferramenta de IA em seu trabalho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"/>
          <p:cNvSpPr/>
          <p:nvPr/>
        </p:nvSpPr>
        <p:spPr>
          <a:xfrm>
            <a:off x="6675120" y="2103120"/>
            <a:ext cx="4934520" cy="2282760"/>
          </a:xfrm>
          <a:prstGeom prst="roundRect">
            <a:avLst>
              <a:gd name="adj" fmla="val 32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4160" tIns="254160" rIns="254160" bIns="2541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66%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usam assistentes ou agentes de código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3"/>
          <p:cNvSpPr/>
          <p:nvPr/>
        </p:nvSpPr>
        <p:spPr>
          <a:xfrm>
            <a:off x="5623560" y="3246120"/>
            <a:ext cx="914400" cy="360"/>
          </a:xfrm>
          <a:prstGeom prst="line">
            <a:avLst/>
          </a:prstGeom>
          <a:ln w="2540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 4"/>
          <p:cNvSpPr/>
          <p:nvPr/>
        </p:nvSpPr>
        <p:spPr>
          <a:xfrm>
            <a:off x="548640" y="4846320"/>
            <a:ext cx="11061000" cy="54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Stack Overflow Developer Survey 2026 · n = 17.464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12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57C0579-00EB-4E2A-A752-FE5E20006B4F}" type="slidenum">
              <a: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8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Uma LLM é um modelo que gera texto a partir do texto que recebe.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 1"/>
          <p:cNvSpPr/>
          <p:nvPr/>
        </p:nvSpPr>
        <p:spPr>
          <a:xfrm>
            <a:off x="548640" y="2286000"/>
            <a:ext cx="3654360" cy="16426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3040" tIns="203040" rIns="203040" bIns="2030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 que é saldo mensal?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"/>
          <p:cNvSpPr/>
          <p:nvPr/>
        </p:nvSpPr>
        <p:spPr>
          <a:xfrm>
            <a:off x="5029200" y="2286000"/>
            <a:ext cx="2008440" cy="1642680"/>
          </a:xfrm>
          <a:prstGeom prst="roundRect">
            <a:avLst>
              <a:gd name="adj" fmla="val 4444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LLM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7863840" y="2286000"/>
            <a:ext cx="3745800" cy="16426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3040" tIns="203040" rIns="203040" bIns="2030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É a diferença entre receitas e despesas do mês.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4"/>
          <p:cNvSpPr/>
          <p:nvPr/>
        </p:nvSpPr>
        <p:spPr>
          <a:xfrm>
            <a:off x="4297680" y="3108960"/>
            <a:ext cx="640080" cy="360"/>
          </a:xfrm>
          <a:prstGeom prst="line">
            <a:avLst/>
          </a:prstGeom>
          <a:ln w="2540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92" name="Shape 5"/>
          <p:cNvSpPr/>
          <p:nvPr/>
        </p:nvSpPr>
        <p:spPr>
          <a:xfrm>
            <a:off x="7132320" y="3108960"/>
            <a:ext cx="640080" cy="360"/>
          </a:xfrm>
          <a:prstGeom prst="line">
            <a:avLst/>
          </a:prstGeom>
          <a:ln w="2540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 6"/>
          <p:cNvSpPr/>
          <p:nvPr/>
        </p:nvSpPr>
        <p:spPr>
          <a:xfrm>
            <a:off x="548640" y="4069080"/>
            <a:ext cx="3654360" cy="27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texto entra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7"/>
          <p:cNvSpPr/>
          <p:nvPr/>
        </p:nvSpPr>
        <p:spPr>
          <a:xfrm>
            <a:off x="7863840" y="4069080"/>
            <a:ext cx="3745800" cy="27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texto sai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8"/>
          <p:cNvSpPr/>
          <p:nvPr/>
        </p:nvSpPr>
        <p:spPr>
          <a:xfrm>
            <a:off x="548640" y="5029200"/>
            <a:ext cx="11061000" cy="54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sldNum" idx="13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42B7A56-7DC5-4607-9850-9CEB087112DA}" type="slidenum">
              <a: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9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 modelo não lê palavras: ele recebe uma sequência de tokens.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 1"/>
          <p:cNvSpPr/>
          <p:nvPr/>
        </p:nvSpPr>
        <p:spPr>
          <a:xfrm>
            <a:off x="548640" y="1691640"/>
            <a:ext cx="548316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O que você vê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"/>
          <p:cNvSpPr/>
          <p:nvPr/>
        </p:nvSpPr>
        <p:spPr>
          <a:xfrm>
            <a:off x="548640" y="2148840"/>
            <a:ext cx="1734120" cy="7282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905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Agentes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2468880" y="2148840"/>
            <a:ext cx="819720" cy="7282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905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3474720" y="2148840"/>
            <a:ext cx="819720" cy="7282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905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4480560" y="2148840"/>
            <a:ext cx="1917000" cy="7282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905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executam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6583680" y="2148840"/>
            <a:ext cx="1642680" cy="7282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905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tarefas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7"/>
          <p:cNvSpPr/>
          <p:nvPr/>
        </p:nvSpPr>
        <p:spPr>
          <a:xfrm>
            <a:off x="4114800" y="3063240"/>
            <a:ext cx="360" cy="640080"/>
          </a:xfrm>
          <a:prstGeom prst="line">
            <a:avLst/>
          </a:prstGeom>
          <a:ln w="2540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 8"/>
          <p:cNvSpPr/>
          <p:nvPr/>
        </p:nvSpPr>
        <p:spPr>
          <a:xfrm>
            <a:off x="4297680" y="3154680"/>
            <a:ext cx="2739960" cy="40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tokenização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9"/>
          <p:cNvSpPr/>
          <p:nvPr/>
        </p:nvSpPr>
        <p:spPr>
          <a:xfrm>
            <a:off x="548640" y="3703320"/>
            <a:ext cx="548316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O que o modelo recebe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0"/>
          <p:cNvSpPr/>
          <p:nvPr/>
        </p:nvSpPr>
        <p:spPr>
          <a:xfrm>
            <a:off x="548640" y="4160520"/>
            <a:ext cx="728280" cy="72828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Ag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1"/>
          <p:cNvSpPr/>
          <p:nvPr/>
        </p:nvSpPr>
        <p:spPr>
          <a:xfrm>
            <a:off x="1353240" y="4160520"/>
            <a:ext cx="1094040" cy="72828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entes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2"/>
          <p:cNvSpPr/>
          <p:nvPr/>
        </p:nvSpPr>
        <p:spPr>
          <a:xfrm>
            <a:off x="2523600" y="4160520"/>
            <a:ext cx="728280" cy="72828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de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3"/>
          <p:cNvSpPr/>
          <p:nvPr/>
        </p:nvSpPr>
        <p:spPr>
          <a:xfrm>
            <a:off x="3328560" y="4160520"/>
            <a:ext cx="728280" cy="72828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IA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4"/>
          <p:cNvSpPr/>
          <p:nvPr/>
        </p:nvSpPr>
        <p:spPr>
          <a:xfrm>
            <a:off x="4133160" y="4160520"/>
            <a:ext cx="1002600" cy="72828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exec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5"/>
          <p:cNvSpPr/>
          <p:nvPr/>
        </p:nvSpPr>
        <p:spPr>
          <a:xfrm>
            <a:off x="5212080" y="4160520"/>
            <a:ext cx="1094040" cy="72828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utam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6"/>
          <p:cNvSpPr/>
          <p:nvPr/>
        </p:nvSpPr>
        <p:spPr>
          <a:xfrm>
            <a:off x="6382440" y="4160520"/>
            <a:ext cx="1459800" cy="72828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tarefas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7"/>
          <p:cNvSpPr/>
          <p:nvPr/>
        </p:nvSpPr>
        <p:spPr>
          <a:xfrm>
            <a:off x="7918560" y="4160520"/>
            <a:ext cx="545400" cy="7282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8"/>
          <p:cNvSpPr/>
          <p:nvPr/>
        </p:nvSpPr>
        <p:spPr>
          <a:xfrm>
            <a:off x="548640" y="5257800"/>
            <a:ext cx="11061000" cy="40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Custo, limites e janela de contexto são medidos em tokens.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9"/>
          <p:cNvSpPr/>
          <p:nvPr/>
        </p:nvSpPr>
        <p:spPr>
          <a:xfrm>
            <a:off x="548640" y="5760720"/>
            <a:ext cx="11061000" cy="27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Divisão ilustrativa: cada modelo usa seu próprio tokenizador.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ldNum" idx="14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4B51979-F0CC-458B-8D55-A8EFBF77C245}" type="slidenum">
              <a: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10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 LLM gera um token de cada vez e repete a previsão.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 1"/>
          <p:cNvSpPr/>
          <p:nvPr/>
        </p:nvSpPr>
        <p:spPr>
          <a:xfrm>
            <a:off x="548640" y="2606040"/>
            <a:ext cx="1825560" cy="16426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Contexto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"/>
          <p:cNvSpPr/>
          <p:nvPr/>
        </p:nvSpPr>
        <p:spPr>
          <a:xfrm>
            <a:off x="548640" y="4389120"/>
            <a:ext cx="1825560" cy="63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A capital da França é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3"/>
          <p:cNvSpPr/>
          <p:nvPr/>
        </p:nvSpPr>
        <p:spPr>
          <a:xfrm>
            <a:off x="2377440" y="2606040"/>
            <a:ext cx="477000" cy="164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4"/>
          <p:cNvSpPr/>
          <p:nvPr/>
        </p:nvSpPr>
        <p:spPr>
          <a:xfrm>
            <a:off x="2857680" y="2606040"/>
            <a:ext cx="1825560" cy="16426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Próximo token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5"/>
          <p:cNvSpPr/>
          <p:nvPr/>
        </p:nvSpPr>
        <p:spPr>
          <a:xfrm>
            <a:off x="2857680" y="4389120"/>
            <a:ext cx="1825560" cy="63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Paris 91% · demais 9%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4686480" y="2606040"/>
            <a:ext cx="477000" cy="164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7"/>
          <p:cNvSpPr/>
          <p:nvPr/>
        </p:nvSpPr>
        <p:spPr>
          <a:xfrm>
            <a:off x="5166360" y="2606040"/>
            <a:ext cx="1825560" cy="16426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Escolha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8"/>
          <p:cNvSpPr/>
          <p:nvPr/>
        </p:nvSpPr>
        <p:spPr>
          <a:xfrm>
            <a:off x="5166360" y="4389120"/>
            <a:ext cx="1825560" cy="63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Paris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9"/>
          <p:cNvSpPr/>
          <p:nvPr/>
        </p:nvSpPr>
        <p:spPr>
          <a:xfrm>
            <a:off x="6995160" y="2606040"/>
            <a:ext cx="477000" cy="164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0"/>
          <p:cNvSpPr/>
          <p:nvPr/>
        </p:nvSpPr>
        <p:spPr>
          <a:xfrm>
            <a:off x="7475400" y="2606040"/>
            <a:ext cx="1825560" cy="16426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Novo contexto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1"/>
          <p:cNvSpPr/>
          <p:nvPr/>
        </p:nvSpPr>
        <p:spPr>
          <a:xfrm>
            <a:off x="7475400" y="4389120"/>
            <a:ext cx="1825560" cy="63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A capital da França é Paris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2"/>
          <p:cNvSpPr/>
          <p:nvPr/>
        </p:nvSpPr>
        <p:spPr>
          <a:xfrm>
            <a:off x="9304200" y="2606040"/>
            <a:ext cx="477000" cy="164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3"/>
          <p:cNvSpPr/>
          <p:nvPr/>
        </p:nvSpPr>
        <p:spPr>
          <a:xfrm>
            <a:off x="9784080" y="2606040"/>
            <a:ext cx="1825560" cy="1642680"/>
          </a:xfrm>
          <a:prstGeom prst="roundRect">
            <a:avLst>
              <a:gd name="adj" fmla="val 4444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Repete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4"/>
          <p:cNvSpPr/>
          <p:nvPr/>
        </p:nvSpPr>
        <p:spPr>
          <a:xfrm>
            <a:off x="9784080" y="4389120"/>
            <a:ext cx="1825560" cy="63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até concluir a resposta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ldNum" idx="15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43BB6C1-FDA5-45BC-B62E-07448DCAC294}" type="slidenum">
              <a: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11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Um modelo de raciocínio gera tokens de pensamento antes de dar a resposta final.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 1"/>
          <p:cNvSpPr/>
          <p:nvPr/>
        </p:nvSpPr>
        <p:spPr>
          <a:xfrm>
            <a:off x="548640" y="1920240"/>
            <a:ext cx="456876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Sem raciocínio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"/>
          <p:cNvSpPr/>
          <p:nvPr/>
        </p:nvSpPr>
        <p:spPr>
          <a:xfrm>
            <a:off x="548640" y="2377440"/>
            <a:ext cx="2099880" cy="91116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Pergunta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3"/>
          <p:cNvSpPr/>
          <p:nvPr/>
        </p:nvSpPr>
        <p:spPr>
          <a:xfrm>
            <a:off x="3200400" y="2377440"/>
            <a:ext cx="1551240" cy="91116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LLM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4"/>
          <p:cNvSpPr/>
          <p:nvPr/>
        </p:nvSpPr>
        <p:spPr>
          <a:xfrm>
            <a:off x="9509760" y="2377440"/>
            <a:ext cx="2099880" cy="91116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Resposta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5"/>
          <p:cNvSpPr/>
          <p:nvPr/>
        </p:nvSpPr>
        <p:spPr>
          <a:xfrm>
            <a:off x="2743200" y="2834640"/>
            <a:ext cx="365760" cy="360"/>
          </a:xfrm>
          <a:prstGeom prst="line">
            <a:avLst/>
          </a:prstGeom>
          <a:ln w="2540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40" name="Shape 6"/>
          <p:cNvSpPr/>
          <p:nvPr/>
        </p:nvSpPr>
        <p:spPr>
          <a:xfrm>
            <a:off x="4846320" y="2834640"/>
            <a:ext cx="4572000" cy="360"/>
          </a:xfrm>
          <a:prstGeom prst="line">
            <a:avLst/>
          </a:prstGeom>
          <a:ln w="2540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 7"/>
          <p:cNvSpPr/>
          <p:nvPr/>
        </p:nvSpPr>
        <p:spPr>
          <a:xfrm>
            <a:off x="548640" y="3657600"/>
            <a:ext cx="456876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Com raciocínio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8"/>
          <p:cNvSpPr/>
          <p:nvPr/>
        </p:nvSpPr>
        <p:spPr>
          <a:xfrm>
            <a:off x="548640" y="4114800"/>
            <a:ext cx="2099880" cy="91116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Pergunta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9"/>
          <p:cNvSpPr/>
          <p:nvPr/>
        </p:nvSpPr>
        <p:spPr>
          <a:xfrm>
            <a:off x="3200400" y="4114800"/>
            <a:ext cx="1551240" cy="91116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LLM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0"/>
          <p:cNvSpPr/>
          <p:nvPr/>
        </p:nvSpPr>
        <p:spPr>
          <a:xfrm>
            <a:off x="9509760" y="4114800"/>
            <a:ext cx="2099880" cy="91116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Resposta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1"/>
          <p:cNvSpPr/>
          <p:nvPr/>
        </p:nvSpPr>
        <p:spPr>
          <a:xfrm>
            <a:off x="2743200" y="4572000"/>
            <a:ext cx="365760" cy="360"/>
          </a:xfrm>
          <a:prstGeom prst="line">
            <a:avLst/>
          </a:prstGeom>
          <a:ln w="2540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 12"/>
          <p:cNvSpPr/>
          <p:nvPr/>
        </p:nvSpPr>
        <p:spPr>
          <a:xfrm>
            <a:off x="5303520" y="4114800"/>
            <a:ext cx="3654360" cy="91116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rgbClr val="1B8457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tokens de raciocínio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3"/>
          <p:cNvSpPr/>
          <p:nvPr/>
        </p:nvSpPr>
        <p:spPr>
          <a:xfrm>
            <a:off x="4846320" y="4572000"/>
            <a:ext cx="365760" cy="360"/>
          </a:xfrm>
          <a:prstGeom prst="line">
            <a:avLst/>
          </a:prstGeom>
          <a:ln w="2540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48" name="Shape 14"/>
          <p:cNvSpPr/>
          <p:nvPr/>
        </p:nvSpPr>
        <p:spPr>
          <a:xfrm>
            <a:off x="9052560" y="4572000"/>
            <a:ext cx="365760" cy="360"/>
          </a:xfrm>
          <a:prstGeom prst="line">
            <a:avLst/>
          </a:prstGeom>
          <a:ln w="2540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 15"/>
          <p:cNvSpPr/>
          <p:nvPr/>
        </p:nvSpPr>
        <p:spPr>
          <a:xfrm>
            <a:off x="548640" y="5394960"/>
            <a:ext cx="11061000" cy="54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O tratamento e a cobrança desses tokens variam conforme o modelo e a API.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sldNum" idx="16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6D2B9E0-4C9B-4E48-A915-3BB1A335211A}" type="slidenum">
              <a: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12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Os níveis de esforço, de low a max, trocam qualidade de raciocínio por custo e latência.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 1"/>
          <p:cNvSpPr/>
          <p:nvPr/>
        </p:nvSpPr>
        <p:spPr>
          <a:xfrm>
            <a:off x="548640" y="1920240"/>
            <a:ext cx="2063160" cy="113976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low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"/>
          <p:cNvSpPr/>
          <p:nvPr/>
        </p:nvSpPr>
        <p:spPr>
          <a:xfrm>
            <a:off x="548640" y="3200400"/>
            <a:ext cx="2063160" cy="68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tarefas rápidas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3"/>
          <p:cNvSpPr/>
          <p:nvPr/>
        </p:nvSpPr>
        <p:spPr>
          <a:xfrm>
            <a:off x="2797920" y="1920240"/>
            <a:ext cx="2063160" cy="1139760"/>
          </a:xfrm>
          <a:prstGeom prst="roundRect">
            <a:avLst>
              <a:gd name="adj" fmla="val 6400"/>
            </a:avLst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medium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4"/>
          <p:cNvSpPr/>
          <p:nvPr/>
        </p:nvSpPr>
        <p:spPr>
          <a:xfrm>
            <a:off x="2797920" y="3200400"/>
            <a:ext cx="2063160" cy="68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uso geral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5"/>
          <p:cNvSpPr/>
          <p:nvPr/>
        </p:nvSpPr>
        <p:spPr>
          <a:xfrm>
            <a:off x="5047560" y="1920240"/>
            <a:ext cx="2063160" cy="1139760"/>
          </a:xfrm>
          <a:prstGeom prst="roundRect">
            <a:avLst>
              <a:gd name="adj" fmla="val 64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high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6"/>
          <p:cNvSpPr/>
          <p:nvPr/>
        </p:nvSpPr>
        <p:spPr>
          <a:xfrm>
            <a:off x="5047560" y="3200400"/>
            <a:ext cx="2063160" cy="68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problemas difíceis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7"/>
          <p:cNvSpPr/>
          <p:nvPr/>
        </p:nvSpPr>
        <p:spPr>
          <a:xfrm>
            <a:off x="7296840" y="1920240"/>
            <a:ext cx="2063160" cy="113976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xhigh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8"/>
          <p:cNvSpPr/>
          <p:nvPr/>
        </p:nvSpPr>
        <p:spPr>
          <a:xfrm>
            <a:off x="7296840" y="3200400"/>
            <a:ext cx="2063160" cy="68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tarefas longas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9"/>
          <p:cNvSpPr/>
          <p:nvPr/>
        </p:nvSpPr>
        <p:spPr>
          <a:xfrm>
            <a:off x="9546480" y="1920240"/>
            <a:ext cx="2063160" cy="1139760"/>
          </a:xfrm>
          <a:prstGeom prst="roundRect">
            <a:avLst>
              <a:gd name="adj" fmla="val 6400"/>
            </a:avLst>
          </a:prstGeom>
          <a:solidFill>
            <a:schemeClr val="tx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max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0"/>
          <p:cNvSpPr/>
          <p:nvPr/>
        </p:nvSpPr>
        <p:spPr>
          <a:xfrm>
            <a:off x="9546480" y="3200400"/>
            <a:ext cx="2063160" cy="68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maior gasto de tokens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1"/>
          <p:cNvSpPr/>
          <p:nvPr/>
        </p:nvSpPr>
        <p:spPr>
          <a:xfrm>
            <a:off x="548640" y="4160520"/>
            <a:ext cx="11064240" cy="360"/>
          </a:xfrm>
          <a:prstGeom prst="line">
            <a:avLst/>
          </a:prstGeom>
          <a:ln w="2540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 12"/>
          <p:cNvSpPr/>
          <p:nvPr/>
        </p:nvSpPr>
        <p:spPr>
          <a:xfrm>
            <a:off x="548640" y="4297680"/>
            <a:ext cx="1106100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mais raciocínio, mais custo e mais latência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3"/>
          <p:cNvSpPr/>
          <p:nvPr/>
        </p:nvSpPr>
        <p:spPr>
          <a:xfrm>
            <a:off x="548640" y="5074920"/>
            <a:ext cx="11061000" cy="40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Os níveis disponíveis variam por modelo e provedor.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4"/>
          <p:cNvSpPr/>
          <p:nvPr/>
        </p:nvSpPr>
        <p:spPr>
          <a:xfrm>
            <a:off x="548640" y="5852160"/>
            <a:ext cx="11061000" cy="27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Fontes: documentação de reasoning da OpenAI; documentação de effort da Anthropic.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sldNum" idx="17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2090F7F-2D84-418B-9C13-427F91E0FFA3}" type="slidenum">
              <a: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13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Modelos atuais para codificação combinam contexto amplo com preços muito diferentes.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68" name="Table 0"/>
          <p:cNvGraphicFramePr/>
          <p:nvPr/>
        </p:nvGraphicFramePr>
        <p:xfrm>
          <a:off x="548640" y="1828800"/>
          <a:ext cx="11064240" cy="4095000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5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MODELO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FABRICANTE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CONTEXTO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ENTRADA / 1M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SAÍDA / 1M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Claude Opus 5.5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Anthropic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US$ 4,00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US$ 20,00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Claude Sonnet 5.5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Anthropic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US$ 2,00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US$ 10,00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GPT-6 Astra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OpenAI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1,05M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US$ 10,00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US$ 50,00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GPT-6.1 Sol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OpenAI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1,05M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US$ 2,00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US$ 10,00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GPT-6 Luna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OpenAI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1,05M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US$ 0,10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US$ 0,50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Gemini 3.8 Flash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Google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1,05M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US$ 0,75*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US$ 3,75*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9" name="PlaceHolder 2"/>
          <p:cNvSpPr>
            <a:spLocks noGrp="1"/>
          </p:cNvSpPr>
          <p:nvPr>
            <p:ph type="sldNum" idx="18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2A33BDE-3A27-4D99-B1D0-4AF395F2B589}" type="slidenum">
              <a: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14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Preço e data"/>
          <p:cNvSpPr/>
          <p:nvPr/>
        </p:nvSpPr>
        <p:spPr>
          <a:xfrm>
            <a:off x="548640" y="5989320"/>
            <a:ext cx="11061000" cy="27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Preços padrão por 1M tokens · consulta em outubro de 2026 · Gemini: valor introdutório.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 modelo só trabalha com o que está na janela de contexto.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Shape 1"/>
          <p:cNvSpPr/>
          <p:nvPr/>
        </p:nvSpPr>
        <p:spPr>
          <a:xfrm>
            <a:off x="548640" y="1783080"/>
            <a:ext cx="6214680" cy="4340160"/>
          </a:xfrm>
          <a:prstGeom prst="roundRect">
            <a:avLst>
              <a:gd name="adj" fmla="val 1684"/>
            </a:avLst>
          </a:prstGeom>
          <a:solidFill>
            <a:schemeClr val="bg1"/>
          </a:solidFill>
          <a:ln w="31750">
            <a:solidFill>
              <a:srgbClr val="1B84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 2"/>
          <p:cNvSpPr/>
          <p:nvPr/>
        </p:nvSpPr>
        <p:spPr>
          <a:xfrm>
            <a:off x="822960" y="1920240"/>
            <a:ext cx="5483160" cy="40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Janela de contexto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"/>
          <p:cNvSpPr/>
          <p:nvPr/>
        </p:nvSpPr>
        <p:spPr>
          <a:xfrm>
            <a:off x="822960" y="2468880"/>
            <a:ext cx="5666040" cy="68256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Instruções do sistema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"/>
          <p:cNvSpPr/>
          <p:nvPr/>
        </p:nvSpPr>
        <p:spPr>
          <a:xfrm>
            <a:off x="822960" y="3355920"/>
            <a:ext cx="5666040" cy="68256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Histórico da conversa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822960" y="4242960"/>
            <a:ext cx="5666040" cy="68256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Arquivos que foram lidos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6"/>
          <p:cNvSpPr/>
          <p:nvPr/>
        </p:nvSpPr>
        <p:spPr>
          <a:xfrm>
            <a:off x="822960" y="5129640"/>
            <a:ext cx="5666040" cy="68256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Pedido atual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7"/>
          <p:cNvSpPr/>
          <p:nvPr/>
        </p:nvSpPr>
        <p:spPr>
          <a:xfrm>
            <a:off x="7406640" y="1920240"/>
            <a:ext cx="4203000" cy="40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O modelo não vê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8"/>
          <p:cNvSpPr/>
          <p:nvPr/>
        </p:nvSpPr>
        <p:spPr>
          <a:xfrm>
            <a:off x="7406640" y="2468880"/>
            <a:ext cx="4203000" cy="68256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9050">
            <a:solidFill>
              <a:srgbClr val="666666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Resto do repositório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9"/>
          <p:cNvSpPr/>
          <p:nvPr/>
        </p:nvSpPr>
        <p:spPr>
          <a:xfrm>
            <a:off x="7406640" y="3355920"/>
            <a:ext cx="4203000" cy="68256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9050">
            <a:solidFill>
              <a:srgbClr val="666666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Conversas antigas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0"/>
          <p:cNvSpPr/>
          <p:nvPr/>
        </p:nvSpPr>
        <p:spPr>
          <a:xfrm>
            <a:off x="7406640" y="4242960"/>
            <a:ext cx="4203000" cy="68256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9050">
            <a:solidFill>
              <a:srgbClr val="666666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Documentação não carregada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1"/>
          <p:cNvSpPr/>
          <p:nvPr/>
        </p:nvSpPr>
        <p:spPr>
          <a:xfrm>
            <a:off x="7406640" y="5129640"/>
            <a:ext cx="4203000" cy="81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 que está fora da janela não existe para o modelo.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sldNum" idx="19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8D15A4E-80C4-415A-A324-E09F18F7D904}" type="slidenum">
              <a: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15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Em cada chamada, o modelo recebe apenas o contexto enviado pela aplicação.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 1"/>
          <p:cNvSpPr/>
          <p:nvPr/>
        </p:nvSpPr>
        <p:spPr>
          <a:xfrm>
            <a:off x="548640" y="1783080"/>
            <a:ext cx="2649240" cy="40824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Demonstração ao vivo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Chamada 1 label"/>
          <p:cNvSpPr/>
          <p:nvPr/>
        </p:nvSpPr>
        <p:spPr>
          <a:xfrm>
            <a:off x="548640" y="2331720"/>
            <a:ext cx="4597560" cy="417600"/>
          </a:xfrm>
          <a:prstGeom prst="roundRect">
            <a:avLst>
              <a:gd name="adj" fmla="val 6667"/>
            </a:avLst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2000" b="1" u="none" strike="noStrike">
                <a:solidFill>
                  <a:srgbClr val="1B8457"/>
                </a:solidFill>
                <a:effectLst/>
                <a:uFillTx/>
                <a:latin typeface="Calibri"/>
                <a:ea typeface="Calibri"/>
              </a:rPr>
              <a:t>Chamada 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Chamada 1 pedido"/>
          <p:cNvSpPr/>
          <p:nvPr/>
        </p:nvSpPr>
        <p:spPr>
          <a:xfrm>
            <a:off x="548640" y="2788920"/>
            <a:ext cx="4597560" cy="82044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“Meu nome é Thiago.”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88" name="Chamada 1 seta"/>
          <p:cNvCxnSpPr/>
          <p:nvPr/>
        </p:nvCxnSpPr>
        <p:spPr>
          <a:xfrm>
            <a:off x="2848320" y="3680280"/>
            <a:ext cx="2520" cy="322560"/>
          </a:xfrm>
          <a:prstGeom prst="straightConnector1">
            <a:avLst/>
          </a:prstGeom>
          <a:ln w="19050">
            <a:solidFill>
              <a:srgbClr val="333333"/>
            </a:solidFill>
            <a:round/>
            <a:tailEnd type="triangle" w="med" len="med"/>
          </a:ln>
        </p:spPr>
      </p:cxnSp>
      <p:sp>
        <p:nvSpPr>
          <p:cNvPr id="189" name="Chamada 2 label"/>
          <p:cNvSpPr/>
          <p:nvPr/>
        </p:nvSpPr>
        <p:spPr>
          <a:xfrm>
            <a:off x="7012080" y="2331720"/>
            <a:ext cx="4597560" cy="417600"/>
          </a:xfrm>
          <a:prstGeom prst="roundRect">
            <a:avLst>
              <a:gd name="adj" fmla="val 6667"/>
            </a:avLst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2000" b="1" u="none" strike="noStrike">
                <a:solidFill>
                  <a:srgbClr val="1B8457"/>
                </a:solidFill>
                <a:effectLst/>
                <a:uFillTx/>
                <a:latin typeface="Calibri"/>
                <a:ea typeface="Calibri"/>
              </a:rPr>
              <a:t>Chamada 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Chamada 2 pedido"/>
          <p:cNvSpPr/>
          <p:nvPr/>
        </p:nvSpPr>
        <p:spPr>
          <a:xfrm>
            <a:off x="7012080" y="2788920"/>
            <a:ext cx="4597560" cy="82044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“Qual é o meu nome?”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91" name="Chamada 2 seta"/>
          <p:cNvCxnSpPr/>
          <p:nvPr/>
        </p:nvCxnSpPr>
        <p:spPr>
          <a:xfrm>
            <a:off x="9312120" y="3680280"/>
            <a:ext cx="2520" cy="322560"/>
          </a:xfrm>
          <a:prstGeom prst="straightConnector1">
            <a:avLst/>
          </a:prstGeom>
          <a:ln w="19050">
            <a:solidFill>
              <a:srgbClr val="333333"/>
            </a:solidFill>
            <a:round/>
            <a:tailEnd type="triangle" w="med" len="med"/>
          </a:ln>
        </p:spPr>
      </p:cxnSp>
      <p:sp>
        <p:nvSpPr>
          <p:cNvPr id="192" name="Resposta 1"/>
          <p:cNvSpPr/>
          <p:nvPr/>
        </p:nvSpPr>
        <p:spPr>
          <a:xfrm>
            <a:off x="548640" y="4069080"/>
            <a:ext cx="4597560" cy="729000"/>
          </a:xfrm>
          <a:prstGeom prst="roundRect">
            <a:avLst>
              <a:gd name="adj" fmla="val 6667"/>
            </a:avLst>
          </a:prstGeom>
          <a:solidFill>
            <a:srgbClr val="1B84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Resposta do modelo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Resposta 2"/>
          <p:cNvSpPr/>
          <p:nvPr/>
        </p:nvSpPr>
        <p:spPr>
          <a:xfrm>
            <a:off x="7012080" y="4069080"/>
            <a:ext cx="4597560" cy="7290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9050">
            <a:solidFill>
              <a:srgbClr val="666666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Resposta do modelo: 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4" name="Divisor"/>
          <p:cNvCxnSpPr/>
          <p:nvPr/>
        </p:nvCxnSpPr>
        <p:spPr>
          <a:xfrm>
            <a:off x="6095880" y="2331720"/>
            <a:ext cx="2520" cy="2471400"/>
          </a:xfrm>
          <a:prstGeom prst="straightConnector1">
            <a:avLst/>
          </a:prstGeom>
          <a:ln w="19050">
            <a:solidFill>
              <a:srgbClr val="666666"/>
            </a:solidFill>
            <a:prstDash val="dash"/>
            <a:round/>
          </a:ln>
        </p:spPr>
      </p:cxnSp>
      <p:sp>
        <p:nvSpPr>
          <p:cNvPr id="195" name="Divisor label"/>
          <p:cNvSpPr/>
          <p:nvPr/>
        </p:nvSpPr>
        <p:spPr>
          <a:xfrm>
            <a:off x="5226120" y="3200400"/>
            <a:ext cx="1737360" cy="71748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6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nada é guardado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6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entre as chamadas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7"/>
          <p:cNvSpPr/>
          <p:nvPr/>
        </p:nvSpPr>
        <p:spPr>
          <a:xfrm>
            <a:off x="548640" y="5120640"/>
            <a:ext cx="11061000" cy="72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Quem guarda o histórico: o modelo ou quem chama a API?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sldNum" idx="20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E23D417-8251-4B6B-B73F-0EAA33F21976}" type="slidenum">
              <a: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16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Mesmo nos modelos recentes, achar a informação certa fica mais difícil quanto maior o contexto.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99" name="Chart 0"/>
          <p:cNvGraphicFramePr/>
          <p:nvPr/>
        </p:nvGraphicFramePr>
        <p:xfrm>
          <a:off x="457200" y="1645920"/>
          <a:ext cx="8134920" cy="420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0" name="Text 1"/>
          <p:cNvSpPr/>
          <p:nvPr/>
        </p:nvSpPr>
        <p:spPr>
          <a:xfrm>
            <a:off x="8961120" y="2377440"/>
            <a:ext cx="2648520" cy="81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GPT-5.4 cai de 97,3% para 36,6%.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"/>
          <p:cNvSpPr/>
          <p:nvPr/>
        </p:nvSpPr>
        <p:spPr>
          <a:xfrm>
            <a:off x="8961120" y="3657600"/>
            <a:ext cx="2648520" cy="81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GPT-5.5 cai de 98,1% para 74,0%.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"/>
          <p:cNvSpPr/>
          <p:nvPr/>
        </p:nvSpPr>
        <p:spPr>
          <a:xfrm>
            <a:off x="548640" y="5943600"/>
            <a:ext cx="11061000" cy="27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Fonte: OpenAI, “Introducing GPT-5.5” (abril de 2026), OpenAI MRCR v2 8-needle.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sldNum" idx="21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346140F-61E8-464D-BA3C-D7F72CC1BED5}" type="slidenum">
              <a: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17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Sozinha, a LLM só troca texto: não acessa arquivos, terminal nem internet.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 1"/>
          <p:cNvSpPr/>
          <p:nvPr/>
        </p:nvSpPr>
        <p:spPr>
          <a:xfrm>
            <a:off x="548640" y="3337560"/>
            <a:ext cx="2374200" cy="109404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Texto entra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2"/>
          <p:cNvSpPr/>
          <p:nvPr/>
        </p:nvSpPr>
        <p:spPr>
          <a:xfrm>
            <a:off x="3017520" y="3886200"/>
            <a:ext cx="914400" cy="360"/>
          </a:xfrm>
          <a:prstGeom prst="line">
            <a:avLst/>
          </a:prstGeom>
          <a:ln w="2540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 3"/>
          <p:cNvSpPr/>
          <p:nvPr/>
        </p:nvSpPr>
        <p:spPr>
          <a:xfrm>
            <a:off x="4023360" y="2971800"/>
            <a:ext cx="2557080" cy="182556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LLM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gera texto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4"/>
          <p:cNvSpPr/>
          <p:nvPr/>
        </p:nvSpPr>
        <p:spPr>
          <a:xfrm>
            <a:off x="8229600" y="1965960"/>
            <a:ext cx="3380040" cy="77400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9050">
            <a:solidFill>
              <a:srgbClr val="666666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Arquivos do projeto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5"/>
          <p:cNvSpPr/>
          <p:nvPr/>
        </p:nvSpPr>
        <p:spPr>
          <a:xfrm>
            <a:off x="8229600" y="2788920"/>
            <a:ext cx="3380040" cy="27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sem acesso direto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6"/>
          <p:cNvSpPr/>
          <p:nvPr/>
        </p:nvSpPr>
        <p:spPr>
          <a:xfrm flipV="1">
            <a:off x="6675120" y="2354400"/>
            <a:ext cx="1463040" cy="1531800"/>
          </a:xfrm>
          <a:prstGeom prst="line">
            <a:avLst/>
          </a:prstGeom>
          <a:ln w="15875">
            <a:solidFill>
              <a:srgbClr val="666666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 7"/>
          <p:cNvSpPr/>
          <p:nvPr/>
        </p:nvSpPr>
        <p:spPr>
          <a:xfrm>
            <a:off x="8229600" y="3429000"/>
            <a:ext cx="3380040" cy="77400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9050">
            <a:solidFill>
              <a:srgbClr val="666666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Terminal e testes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8"/>
          <p:cNvSpPr/>
          <p:nvPr/>
        </p:nvSpPr>
        <p:spPr>
          <a:xfrm>
            <a:off x="8229600" y="4251960"/>
            <a:ext cx="3380040" cy="27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sem acesso direto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9"/>
          <p:cNvSpPr/>
          <p:nvPr/>
        </p:nvSpPr>
        <p:spPr>
          <a:xfrm flipV="1">
            <a:off x="6675120" y="3817440"/>
            <a:ext cx="1463040" cy="68760"/>
          </a:xfrm>
          <a:prstGeom prst="line">
            <a:avLst/>
          </a:prstGeom>
          <a:ln w="15875">
            <a:solidFill>
              <a:srgbClr val="666666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760" rIns="90000" bIns="2376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 10"/>
          <p:cNvSpPr/>
          <p:nvPr/>
        </p:nvSpPr>
        <p:spPr>
          <a:xfrm>
            <a:off x="8229600" y="4892040"/>
            <a:ext cx="3380040" cy="77400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9050">
            <a:solidFill>
              <a:srgbClr val="666666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APIs e internet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1"/>
          <p:cNvSpPr/>
          <p:nvPr/>
        </p:nvSpPr>
        <p:spPr>
          <a:xfrm>
            <a:off x="8229600" y="5715000"/>
            <a:ext cx="3380040" cy="27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sem acesso direto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2"/>
          <p:cNvSpPr/>
          <p:nvPr/>
        </p:nvSpPr>
        <p:spPr>
          <a:xfrm>
            <a:off x="6675120" y="3886200"/>
            <a:ext cx="1463040" cy="1394280"/>
          </a:xfrm>
          <a:prstGeom prst="line">
            <a:avLst/>
          </a:prstGeom>
          <a:ln w="15875">
            <a:solidFill>
              <a:srgbClr val="666666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sldNum" idx="22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61997F2-6606-49A7-BE8B-63B8952FDC17}" type="slidenum">
              <a: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18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 modelo pede ler_arquivo; o programa lê o arquivo e devolve o conteúdo.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 1"/>
          <p:cNvSpPr/>
          <p:nvPr/>
        </p:nvSpPr>
        <p:spPr>
          <a:xfrm>
            <a:off x="548640" y="1783080"/>
            <a:ext cx="2649240" cy="40824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Demonstração ao vivo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Chamada 1 label"/>
          <p:cNvSpPr/>
          <p:nvPr/>
        </p:nvSpPr>
        <p:spPr>
          <a:xfrm>
            <a:off x="548640" y="2331720"/>
            <a:ext cx="4597560" cy="417600"/>
          </a:xfrm>
          <a:prstGeom prst="roundRect">
            <a:avLst>
              <a:gd name="adj" fmla="val 6667"/>
            </a:avLst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2000" b="1" u="none" strike="noStrike">
                <a:solidFill>
                  <a:srgbClr val="1B8457"/>
                </a:solidFill>
                <a:effectLst/>
                <a:uFillTx/>
                <a:latin typeface="Calibri"/>
                <a:ea typeface="Calibri"/>
              </a:rPr>
              <a:t>Chamada 1 · OpenRouter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Chamada 1 pedido"/>
          <p:cNvSpPr/>
          <p:nvPr/>
        </p:nvSpPr>
        <p:spPr>
          <a:xfrm>
            <a:off x="548640" y="2788920"/>
            <a:ext cx="4597560" cy="82044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“Leia codigo.txt com ler_arquivo.”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22" name="Chamada 1 seta"/>
          <p:cNvCxnSpPr/>
          <p:nvPr/>
        </p:nvCxnSpPr>
        <p:spPr>
          <a:xfrm>
            <a:off x="2848320" y="3680280"/>
            <a:ext cx="2520" cy="322560"/>
          </a:xfrm>
          <a:prstGeom prst="straightConnector1">
            <a:avLst/>
          </a:prstGeom>
          <a:ln w="19050">
            <a:solidFill>
              <a:srgbClr val="333333"/>
            </a:solidFill>
            <a:round/>
            <a:tailEnd type="triangle" w="med" len="med"/>
          </a:ln>
        </p:spPr>
      </p:cxnSp>
      <p:sp>
        <p:nvSpPr>
          <p:cNvPr id="223" name="Chamada 2 label"/>
          <p:cNvSpPr/>
          <p:nvPr/>
        </p:nvSpPr>
        <p:spPr>
          <a:xfrm>
            <a:off x="7012080" y="2331720"/>
            <a:ext cx="4597560" cy="417600"/>
          </a:xfrm>
          <a:prstGeom prst="roundRect">
            <a:avLst>
              <a:gd name="adj" fmla="val 6667"/>
            </a:avLst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2000" b="1" u="none" strike="noStrike">
                <a:solidFill>
                  <a:srgbClr val="1B8457"/>
                </a:solidFill>
                <a:effectLst/>
                <a:uFillTx/>
                <a:latin typeface="Calibri"/>
                <a:ea typeface="Calibri"/>
              </a:rPr>
              <a:t>Chamada 2 · OpenRouter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Chamada 2 pedido"/>
          <p:cNvSpPr/>
          <p:nvPr/>
        </p:nvSpPr>
        <p:spPr>
          <a:xfrm>
            <a:off x="7012080" y="2788920"/>
            <a:ext cx="4597560" cy="82044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tool: código lido do arquivo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25" name="Chamada 2 seta"/>
          <p:cNvCxnSpPr/>
          <p:nvPr/>
        </p:nvCxnSpPr>
        <p:spPr>
          <a:xfrm>
            <a:off x="9312120" y="3680280"/>
            <a:ext cx="2520" cy="322560"/>
          </a:xfrm>
          <a:prstGeom prst="straightConnector1">
            <a:avLst/>
          </a:prstGeom>
          <a:ln w="19050">
            <a:solidFill>
              <a:srgbClr val="333333"/>
            </a:solidFill>
            <a:round/>
            <a:tailEnd type="triangle" w="med" len="med"/>
          </a:ln>
        </p:spPr>
      </p:cxnSp>
      <p:sp>
        <p:nvSpPr>
          <p:cNvPr id="226" name="Resposta 1"/>
          <p:cNvSpPr/>
          <p:nvPr/>
        </p:nvSpPr>
        <p:spPr>
          <a:xfrm>
            <a:off x="548640" y="4069080"/>
            <a:ext cx="4597560" cy="729000"/>
          </a:xfrm>
          <a:prstGeom prst="roundRect">
            <a:avLst>
              <a:gd name="adj" fmla="val 6667"/>
            </a:avLst>
          </a:prstGeom>
          <a:solidFill>
            <a:srgbClr val="1B84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Modelo pede ler_arquivo(caminho)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Resposta 2"/>
          <p:cNvSpPr/>
          <p:nvPr/>
        </p:nvSpPr>
        <p:spPr>
          <a:xfrm>
            <a:off x="7012080" y="4069080"/>
            <a:ext cx="4597560" cy="7290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9050">
            <a:solidFill>
              <a:srgbClr val="666666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Modelo responde com o código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8" name="Divisor"/>
          <p:cNvCxnSpPr/>
          <p:nvPr/>
        </p:nvCxnSpPr>
        <p:spPr>
          <a:xfrm>
            <a:off x="6095880" y="2331720"/>
            <a:ext cx="2520" cy="2471400"/>
          </a:xfrm>
          <a:prstGeom prst="straightConnector1">
            <a:avLst/>
          </a:prstGeom>
          <a:ln w="19050">
            <a:solidFill>
              <a:srgbClr val="666666"/>
            </a:solidFill>
            <a:prstDash val="dash"/>
            <a:round/>
          </a:ln>
        </p:spPr>
      </p:cxnSp>
      <p:sp>
        <p:nvSpPr>
          <p:cNvPr id="229" name="Divisor label"/>
          <p:cNvSpPr/>
          <p:nvPr/>
        </p:nvSpPr>
        <p:spPr>
          <a:xfrm>
            <a:off x="5226120" y="3200400"/>
            <a:ext cx="1737360" cy="71748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6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programa executa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6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readFile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7"/>
          <p:cNvSpPr/>
          <p:nvPr/>
        </p:nvSpPr>
        <p:spPr>
          <a:xfrm>
            <a:off x="548640" y="5120640"/>
            <a:ext cx="11061000" cy="72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Quem leu o arquivo: o modelo ou o programa?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sldNum" idx="23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C784D10-3E8C-4F72-B0CD-C3F8697770E4}" type="slidenum">
              <a: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19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Chatbot prioriza a conversa; agente organiza ações para atingir um objetivo.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33" name="Table 0"/>
          <p:cNvGraphicFramePr/>
          <p:nvPr/>
        </p:nvGraphicFramePr>
        <p:xfrm>
          <a:off x="548640" y="2103120"/>
          <a:ext cx="7863840" cy="36201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36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LLM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Chatbot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Agente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Gera texto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000" b="0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Sim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000" b="0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Sim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000" b="0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Sim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Mantém uma conversa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000" b="0" u="none" strike="noStrike">
                          <a:solidFill>
                            <a:schemeClr val="accent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Não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000" b="0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Sim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000" b="0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Sim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Usa ferramentas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000" b="0" u="none" strike="noStrike">
                          <a:solidFill>
                            <a:schemeClr val="accent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Não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000" b="0" u="none" strike="noStrike">
                          <a:solidFill>
                            <a:schemeClr val="accent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Pode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000" b="0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Sim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Age em várias etapas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000" b="0" u="none" strike="noStrike">
                          <a:solidFill>
                            <a:schemeClr val="accent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Não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000" b="0" u="none" strike="noStrike">
                          <a:solidFill>
                            <a:schemeClr val="accent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Pode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000" b="0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Sim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Persegue um objetivo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000" b="0" u="none" strike="noStrike">
                          <a:solidFill>
                            <a:schemeClr val="accent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Não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000" b="0" u="none" strike="noStrike">
                          <a:solidFill>
                            <a:schemeClr val="accent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Pode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000" b="0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Sim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4" name="Text 1"/>
          <p:cNvSpPr/>
          <p:nvPr/>
        </p:nvSpPr>
        <p:spPr>
          <a:xfrm>
            <a:off x="8869680" y="3291840"/>
            <a:ext cx="2739960" cy="182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Um chatbot também pode usar ferramentas e agir como agente.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sldNum" idx="24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8C1030B-1756-4F6A-A96F-D05E4A9A9243}" type="slidenum">
              <a: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20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Um agente funciona em um ciclo: observa, decide, age e verifica o resultado.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7" name="Text 1"/>
          <p:cNvSpPr/>
          <p:nvPr/>
        </p:nvSpPr>
        <p:spPr>
          <a:xfrm>
            <a:off x="1005840" y="1828800"/>
            <a:ext cx="4203000" cy="136836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Observa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BR" sz="17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lê o contexto e os resultados anteriores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2"/>
          <p:cNvSpPr/>
          <p:nvPr/>
        </p:nvSpPr>
        <p:spPr>
          <a:xfrm>
            <a:off x="6949440" y="1828800"/>
            <a:ext cx="4203000" cy="136836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Decide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BR" sz="17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o modelo escolhe a próxima ação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3"/>
          <p:cNvSpPr/>
          <p:nvPr/>
        </p:nvSpPr>
        <p:spPr>
          <a:xfrm>
            <a:off x="6949440" y="4434840"/>
            <a:ext cx="4203000" cy="136836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Age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BR" sz="17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chama uma ferramenta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4"/>
          <p:cNvSpPr/>
          <p:nvPr/>
        </p:nvSpPr>
        <p:spPr>
          <a:xfrm>
            <a:off x="1005840" y="4434840"/>
            <a:ext cx="4203000" cy="136836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Verifica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BR" sz="17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o resultado volta ao contexto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5"/>
          <p:cNvSpPr/>
          <p:nvPr/>
        </p:nvSpPr>
        <p:spPr>
          <a:xfrm>
            <a:off x="5303520" y="2514600"/>
            <a:ext cx="1554480" cy="360"/>
          </a:xfrm>
          <a:prstGeom prst="line">
            <a:avLst/>
          </a:prstGeom>
          <a:ln w="2540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42" name="Shape 6"/>
          <p:cNvSpPr/>
          <p:nvPr/>
        </p:nvSpPr>
        <p:spPr>
          <a:xfrm>
            <a:off x="9052560" y="3291840"/>
            <a:ext cx="360" cy="1051560"/>
          </a:xfrm>
          <a:prstGeom prst="line">
            <a:avLst/>
          </a:prstGeom>
          <a:ln w="2540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43" name="Shape 7"/>
          <p:cNvSpPr/>
          <p:nvPr/>
        </p:nvSpPr>
        <p:spPr>
          <a:xfrm flipH="1">
            <a:off x="5303520" y="5120640"/>
            <a:ext cx="1554480" cy="360"/>
          </a:xfrm>
          <a:prstGeom prst="line">
            <a:avLst/>
          </a:prstGeom>
          <a:ln w="2540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44" name="Shape 8"/>
          <p:cNvSpPr/>
          <p:nvPr/>
        </p:nvSpPr>
        <p:spPr>
          <a:xfrm flipV="1">
            <a:off x="3108960" y="3291840"/>
            <a:ext cx="360" cy="1051560"/>
          </a:xfrm>
          <a:prstGeom prst="line">
            <a:avLst/>
          </a:prstGeom>
          <a:ln w="2540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 9"/>
          <p:cNvSpPr/>
          <p:nvPr/>
        </p:nvSpPr>
        <p:spPr>
          <a:xfrm>
            <a:off x="4251960" y="3611880"/>
            <a:ext cx="3654360" cy="40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até cumprir o objetivo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sldNum" idx="25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B03B760-4695-45FF-BA32-502F847C765E}" type="slidenum">
              <a: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21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Com ferramentas, o agente investiga e corrige o erro em vez de só listar hipóteses.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8" name="Text 1"/>
          <p:cNvSpPr/>
          <p:nvPr/>
        </p:nvSpPr>
        <p:spPr>
          <a:xfrm>
            <a:off x="548640" y="1691640"/>
            <a:ext cx="511740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Só a LLM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"/>
          <p:cNvSpPr/>
          <p:nvPr/>
        </p:nvSpPr>
        <p:spPr>
          <a:xfrm>
            <a:off x="548640" y="2194560"/>
            <a:ext cx="5208840" cy="347148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28600" tIns="228600" rIns="228600" bIns="2286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Você: Por que meus testes estão falhando?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LLM: Pode ser um problema de configuração, de dependências ou de lógica. Verifique as mensagens de erro…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3"/>
          <p:cNvSpPr/>
          <p:nvPr/>
        </p:nvSpPr>
        <p:spPr>
          <a:xfrm>
            <a:off x="6309360" y="1691640"/>
            <a:ext cx="530028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Agente com ferramentas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4"/>
          <p:cNvSpPr/>
          <p:nvPr/>
        </p:nvSpPr>
        <p:spPr>
          <a:xfrm>
            <a:off x="6309360" y="2194560"/>
            <a:ext cx="5300280" cy="582120"/>
          </a:xfrm>
          <a:prstGeom prst="roundRect">
            <a:avLst>
              <a:gd name="adj" fmla="val 9375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52280" tIns="152280" rIns="152280" bIns="152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1   </a:t>
            </a: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Lê o package.json e os testes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5"/>
          <p:cNvSpPr/>
          <p:nvPr/>
        </p:nvSpPr>
        <p:spPr>
          <a:xfrm>
            <a:off x="6309360" y="2917080"/>
            <a:ext cx="5300280" cy="582120"/>
          </a:xfrm>
          <a:prstGeom prst="roundRect">
            <a:avLst>
              <a:gd name="adj" fmla="val 9375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52280" tIns="152280" rIns="152280" bIns="152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2   </a:t>
            </a: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Roda os testes no terminal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6"/>
          <p:cNvSpPr/>
          <p:nvPr/>
        </p:nvSpPr>
        <p:spPr>
          <a:xfrm>
            <a:off x="6309360" y="3639240"/>
            <a:ext cx="5300280" cy="582120"/>
          </a:xfrm>
          <a:prstGeom prst="roundRect">
            <a:avLst>
              <a:gd name="adj" fmla="val 9375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52280" tIns="152280" rIns="152280" bIns="152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3   </a:t>
            </a: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Localiza o erro na saída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7"/>
          <p:cNvSpPr/>
          <p:nvPr/>
        </p:nvSpPr>
        <p:spPr>
          <a:xfrm>
            <a:off x="6309360" y="4361760"/>
            <a:ext cx="5300280" cy="582120"/>
          </a:xfrm>
          <a:prstGeom prst="roundRect">
            <a:avLst>
              <a:gd name="adj" fmla="val 9375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52280" tIns="152280" rIns="152280" bIns="152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4   </a:t>
            </a: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Corrige o arquivo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8"/>
          <p:cNvSpPr/>
          <p:nvPr/>
        </p:nvSpPr>
        <p:spPr>
          <a:xfrm>
            <a:off x="6309360" y="5083920"/>
            <a:ext cx="5300280" cy="582120"/>
          </a:xfrm>
          <a:prstGeom prst="roundRect">
            <a:avLst>
              <a:gd name="adj" fmla="val 9375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52280" tIns="152280" rIns="152280" bIns="152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5   </a:t>
            </a: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Roda os testes de novo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9"/>
          <p:cNvSpPr/>
          <p:nvPr/>
        </p:nvSpPr>
        <p:spPr>
          <a:xfrm>
            <a:off x="548640" y="5897880"/>
            <a:ext cx="11061000" cy="27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Exemplo ilustrativo; a demonstração real acontece ao vivo.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 type="sldNum" idx="26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A5C3FD6-110A-4CC9-BB64-162EF81C1EE8}" type="slidenum">
              <a: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22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 modelo só gera texto; o harness é o sistema ao redor que faz o resto acontecer.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9" name="Shape 1"/>
          <p:cNvSpPr/>
          <p:nvPr/>
        </p:nvSpPr>
        <p:spPr>
          <a:xfrm>
            <a:off x="548640" y="1783080"/>
            <a:ext cx="7586280" cy="4294440"/>
          </a:xfrm>
          <a:prstGeom prst="roundRect">
            <a:avLst>
              <a:gd name="adj" fmla="val 1702"/>
            </a:avLst>
          </a:prstGeom>
          <a:solidFill>
            <a:schemeClr val="bg1"/>
          </a:solidFill>
          <a:ln w="31750">
            <a:solidFill>
              <a:srgbClr val="2C65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 2"/>
          <p:cNvSpPr/>
          <p:nvPr/>
        </p:nvSpPr>
        <p:spPr>
          <a:xfrm>
            <a:off x="868680" y="1920240"/>
            <a:ext cx="3654360" cy="40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Harness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3"/>
          <p:cNvSpPr/>
          <p:nvPr/>
        </p:nvSpPr>
        <p:spPr>
          <a:xfrm>
            <a:off x="868680" y="2514600"/>
            <a:ext cx="2191320" cy="11854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Prompt de sistema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(System Prompt)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4"/>
          <p:cNvSpPr/>
          <p:nvPr/>
        </p:nvSpPr>
        <p:spPr>
          <a:xfrm>
            <a:off x="3246120" y="2514600"/>
            <a:ext cx="2191320" cy="11854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Ferramentas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5"/>
          <p:cNvSpPr/>
          <p:nvPr/>
        </p:nvSpPr>
        <p:spPr>
          <a:xfrm>
            <a:off x="5623560" y="2514600"/>
            <a:ext cx="2191320" cy="11854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Memória e contexto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6"/>
          <p:cNvSpPr/>
          <p:nvPr/>
        </p:nvSpPr>
        <p:spPr>
          <a:xfrm>
            <a:off x="868680" y="3931920"/>
            <a:ext cx="2191320" cy="11854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Permissões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7"/>
          <p:cNvSpPr/>
          <p:nvPr/>
        </p:nvSpPr>
        <p:spPr>
          <a:xfrm>
            <a:off x="3246120" y="3931920"/>
            <a:ext cx="2191320" cy="118548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LLM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8"/>
          <p:cNvSpPr/>
          <p:nvPr/>
        </p:nvSpPr>
        <p:spPr>
          <a:xfrm>
            <a:off x="5623560" y="3931920"/>
            <a:ext cx="2191320" cy="11854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Execução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9"/>
          <p:cNvSpPr/>
          <p:nvPr/>
        </p:nvSpPr>
        <p:spPr>
          <a:xfrm>
            <a:off x="868680" y="5440680"/>
            <a:ext cx="694620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O loop agentivo conecta todas as peças.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0"/>
          <p:cNvSpPr/>
          <p:nvPr/>
        </p:nvSpPr>
        <p:spPr>
          <a:xfrm>
            <a:off x="8686800" y="2926080"/>
            <a:ext cx="2922840" cy="164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6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Claude Code e Codex são exemplos de harness.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sldNum" idx="27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B185E78-47CE-40A7-9739-F35B36C031D9}" type="slidenum">
              <a: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23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 modelo propõe uma ação e o harness decide se e como executá-la.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1" name="Text 1"/>
          <p:cNvSpPr/>
          <p:nvPr/>
        </p:nvSpPr>
        <p:spPr>
          <a:xfrm>
            <a:off x="594360" y="1783080"/>
            <a:ext cx="3105720" cy="59112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Modelo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2"/>
          <p:cNvSpPr/>
          <p:nvPr/>
        </p:nvSpPr>
        <p:spPr>
          <a:xfrm>
            <a:off x="2148840" y="2423160"/>
            <a:ext cx="360" cy="3611880"/>
          </a:xfrm>
          <a:prstGeom prst="line">
            <a:avLst/>
          </a:prstGeom>
          <a:ln w="15875">
            <a:solidFill>
              <a:srgbClr val="C3C3C3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73" name="Text 3"/>
          <p:cNvSpPr/>
          <p:nvPr/>
        </p:nvSpPr>
        <p:spPr>
          <a:xfrm>
            <a:off x="4544640" y="1783080"/>
            <a:ext cx="3105720" cy="59112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Harness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4"/>
          <p:cNvSpPr/>
          <p:nvPr/>
        </p:nvSpPr>
        <p:spPr>
          <a:xfrm>
            <a:off x="6098760" y="2423160"/>
            <a:ext cx="360" cy="3611880"/>
          </a:xfrm>
          <a:prstGeom prst="line">
            <a:avLst/>
          </a:prstGeom>
          <a:ln w="15875">
            <a:solidFill>
              <a:srgbClr val="C3C3C3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 5"/>
          <p:cNvSpPr/>
          <p:nvPr/>
        </p:nvSpPr>
        <p:spPr>
          <a:xfrm>
            <a:off x="8485560" y="1783080"/>
            <a:ext cx="3105720" cy="59112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Mundo: arquivos e terminal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6"/>
          <p:cNvSpPr/>
          <p:nvPr/>
        </p:nvSpPr>
        <p:spPr>
          <a:xfrm>
            <a:off x="10040040" y="2423160"/>
            <a:ext cx="360" cy="3611880"/>
          </a:xfrm>
          <a:prstGeom prst="line">
            <a:avLst/>
          </a:prstGeom>
          <a:ln w="15875">
            <a:solidFill>
              <a:srgbClr val="C3C3C3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77" name="Shape 7"/>
          <p:cNvSpPr/>
          <p:nvPr/>
        </p:nvSpPr>
        <p:spPr>
          <a:xfrm flipH="1">
            <a:off x="2148480" y="2926080"/>
            <a:ext cx="3950280" cy="360"/>
          </a:xfrm>
          <a:prstGeom prst="line">
            <a:avLst/>
          </a:prstGeom>
          <a:ln w="22225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78" name="Text 8"/>
          <p:cNvSpPr/>
          <p:nvPr/>
        </p:nvSpPr>
        <p:spPr>
          <a:xfrm>
            <a:off x="2148840" y="2560320"/>
            <a:ext cx="394704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contexto + ferramentas disponíveis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9"/>
          <p:cNvSpPr/>
          <p:nvPr/>
        </p:nvSpPr>
        <p:spPr>
          <a:xfrm>
            <a:off x="2148840" y="3566160"/>
            <a:ext cx="3949920" cy="360"/>
          </a:xfrm>
          <a:prstGeom prst="line">
            <a:avLst/>
          </a:prstGeom>
          <a:ln w="22225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80" name="Text 10"/>
          <p:cNvSpPr/>
          <p:nvPr/>
        </p:nvSpPr>
        <p:spPr>
          <a:xfrm>
            <a:off x="2148840" y="3200400"/>
            <a:ext cx="394704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pede: read_file(app.ts)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1"/>
          <p:cNvSpPr/>
          <p:nvPr/>
        </p:nvSpPr>
        <p:spPr>
          <a:xfrm>
            <a:off x="5001840" y="3794760"/>
            <a:ext cx="2191320" cy="45396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verifica permissão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12"/>
          <p:cNvSpPr/>
          <p:nvPr/>
        </p:nvSpPr>
        <p:spPr>
          <a:xfrm>
            <a:off x="6098760" y="4709160"/>
            <a:ext cx="3941280" cy="360"/>
          </a:xfrm>
          <a:prstGeom prst="line">
            <a:avLst/>
          </a:prstGeom>
          <a:ln w="22225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83" name="Text 13"/>
          <p:cNvSpPr/>
          <p:nvPr/>
        </p:nvSpPr>
        <p:spPr>
          <a:xfrm>
            <a:off x="6099120" y="4343400"/>
            <a:ext cx="393768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executa a ação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14"/>
          <p:cNvSpPr/>
          <p:nvPr/>
        </p:nvSpPr>
        <p:spPr>
          <a:xfrm flipH="1">
            <a:off x="6098760" y="5303520"/>
            <a:ext cx="3941280" cy="360"/>
          </a:xfrm>
          <a:prstGeom prst="line">
            <a:avLst/>
          </a:prstGeom>
          <a:ln w="22225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85" name="Text 15"/>
          <p:cNvSpPr/>
          <p:nvPr/>
        </p:nvSpPr>
        <p:spPr>
          <a:xfrm>
            <a:off x="6099120" y="4937760"/>
            <a:ext cx="393768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devolve o resultado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16"/>
          <p:cNvSpPr/>
          <p:nvPr/>
        </p:nvSpPr>
        <p:spPr>
          <a:xfrm flipH="1">
            <a:off x="2148480" y="5897880"/>
            <a:ext cx="3950280" cy="360"/>
          </a:xfrm>
          <a:prstGeom prst="line">
            <a:avLst/>
          </a:prstGeom>
          <a:ln w="22225">
            <a:solidFill>
              <a:srgbClr val="1B845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 17"/>
          <p:cNvSpPr/>
          <p:nvPr/>
        </p:nvSpPr>
        <p:spPr>
          <a:xfrm>
            <a:off x="2148840" y="5532120"/>
            <a:ext cx="394704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0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o resultado vira contexto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 type="sldNum" idx="28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B52D576-AC49-4528-8CB3-1DAD18AF061C}" type="slidenum">
              <a: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24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Vamos desenhar o funcionamento do harness ao vivo.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0" name="Text 27"/>
          <p:cNvSpPr/>
          <p:nvPr/>
        </p:nvSpPr>
        <p:spPr>
          <a:xfrm>
            <a:off x="548640" y="1783080"/>
            <a:ext cx="2649240" cy="40824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Demonstração ao vivo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Canvas 2"/>
          <p:cNvSpPr/>
          <p:nvPr/>
        </p:nvSpPr>
        <p:spPr>
          <a:xfrm>
            <a:off x="548640" y="2331720"/>
            <a:ext cx="11061000" cy="246636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9050">
            <a:solidFill>
              <a:srgbClr val="666666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292" name="Canvas texto 2"/>
          <p:cNvSpPr/>
          <p:nvPr/>
        </p:nvSpPr>
        <p:spPr>
          <a:xfrm>
            <a:off x="822960" y="2788920"/>
            <a:ext cx="10513080" cy="82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6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Quadro em branco no Excalidraw: vamos desenhar o fluxo juntos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Canvas dica 2"/>
          <p:cNvSpPr/>
          <p:nvPr/>
        </p:nvSpPr>
        <p:spPr>
          <a:xfrm>
            <a:off x="822960" y="3703320"/>
            <a:ext cx="10513080" cy="54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usuário  ·  harness  ·  modelo  ·  ferramenta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28"/>
          <p:cNvSpPr/>
          <p:nvPr/>
        </p:nvSpPr>
        <p:spPr>
          <a:xfrm>
            <a:off x="548640" y="5120640"/>
            <a:ext cx="11061000" cy="72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Quem decide, quem executa e o que retorna ao modelo?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sldNum" idx="29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286F3AE-9165-4F30-893E-7CE7F04FE237}" type="slidenum">
              <a: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25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84120"/>
            <a:ext cx="11062080" cy="109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Sem regras do gerenciador financeiro, o agente precisa adivinhar decisões do projeto.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7" name="Text 1"/>
          <p:cNvSpPr/>
          <p:nvPr/>
        </p:nvSpPr>
        <p:spPr>
          <a:xfrm>
            <a:off x="548640" y="1737360"/>
            <a:ext cx="511848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O modelo decide bem sozinho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2"/>
          <p:cNvSpPr/>
          <p:nvPr/>
        </p:nvSpPr>
        <p:spPr>
          <a:xfrm>
            <a:off x="6492240" y="1737360"/>
            <a:ext cx="511848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Só você sabe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3"/>
          <p:cNvSpPr/>
          <p:nvPr/>
        </p:nvSpPr>
        <p:spPr>
          <a:xfrm>
            <a:off x="548640" y="2240280"/>
            <a:ext cx="5118480" cy="77508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Sintaxe de qualquer linguagem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4"/>
          <p:cNvSpPr/>
          <p:nvPr/>
        </p:nvSpPr>
        <p:spPr>
          <a:xfrm>
            <a:off x="548640" y="3200400"/>
            <a:ext cx="5118480" cy="77508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Uso comum de frameworks conhecidos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5"/>
          <p:cNvSpPr/>
          <p:nvPr/>
        </p:nvSpPr>
        <p:spPr>
          <a:xfrm>
            <a:off x="548640" y="4160520"/>
            <a:ext cx="5118480" cy="77508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Padrões gerais de código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6"/>
          <p:cNvSpPr/>
          <p:nvPr/>
        </p:nvSpPr>
        <p:spPr>
          <a:xfrm>
            <a:off x="6492240" y="2240280"/>
            <a:ext cx="5118480" cy="77508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9050">
            <a:solidFill>
              <a:srgbClr val="B45309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Regras de negócio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7"/>
          <p:cNvSpPr/>
          <p:nvPr/>
        </p:nvSpPr>
        <p:spPr>
          <a:xfrm>
            <a:off x="6492240" y="3200400"/>
            <a:ext cx="5118480" cy="77508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9050">
            <a:solidFill>
              <a:srgbClr val="B45309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Processos da organização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8"/>
          <p:cNvSpPr/>
          <p:nvPr/>
        </p:nvSpPr>
        <p:spPr>
          <a:xfrm>
            <a:off x="6492240" y="4160520"/>
            <a:ext cx="5118480" cy="77508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9050">
            <a:solidFill>
              <a:srgbClr val="B45309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Como você quer implementar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9"/>
          <p:cNvSpPr/>
          <p:nvPr/>
        </p:nvSpPr>
        <p:spPr>
          <a:xfrm>
            <a:off x="5669280" y="2926080"/>
            <a:ext cx="820800" cy="109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?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0"/>
          <p:cNvSpPr/>
          <p:nvPr/>
        </p:nvSpPr>
        <p:spPr>
          <a:xfrm>
            <a:off x="548640" y="5349240"/>
            <a:ext cx="11062080" cy="6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Sem essa informação no contexto, o resultado vira aposta.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 type="sldNum" idx="30"/>
          </p:nvPr>
        </p:nvSpPr>
        <p:spPr>
          <a:xfrm>
            <a:off x="11155680" y="6400800"/>
            <a:ext cx="455040" cy="27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3F684A4-B3FC-454C-9A90-26C56DA0E1BF}" type="slidenum">
              <a:rPr lang="en-US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26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84120"/>
            <a:ext cx="11062080" cy="109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 agentes, o desenvolvedor dedica mais atenção ao problema, às decisões e à validação.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9" name="Text 1"/>
          <p:cNvSpPr/>
          <p:nvPr/>
        </p:nvSpPr>
        <p:spPr>
          <a:xfrm>
            <a:off x="548640" y="2103120"/>
            <a:ext cx="1460880" cy="100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Antes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2"/>
          <p:cNvSpPr/>
          <p:nvPr/>
        </p:nvSpPr>
        <p:spPr>
          <a:xfrm>
            <a:off x="2194560" y="2103120"/>
            <a:ext cx="2352600" cy="1003680"/>
          </a:xfrm>
          <a:prstGeom prst="roundRect">
            <a:avLst>
              <a:gd name="adj" fmla="val 3636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O problema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3"/>
          <p:cNvSpPr/>
          <p:nvPr/>
        </p:nvSpPr>
        <p:spPr>
          <a:xfrm>
            <a:off x="4549320" y="2103120"/>
            <a:ext cx="7061760" cy="1003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 codificação: o como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4"/>
          <p:cNvSpPr/>
          <p:nvPr/>
        </p:nvSpPr>
        <p:spPr>
          <a:xfrm>
            <a:off x="548640" y="3657600"/>
            <a:ext cx="1460880" cy="100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Hoje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5"/>
          <p:cNvSpPr/>
          <p:nvPr/>
        </p:nvSpPr>
        <p:spPr>
          <a:xfrm>
            <a:off x="2194560" y="3657600"/>
            <a:ext cx="6779160" cy="1003680"/>
          </a:xfrm>
          <a:prstGeom prst="roundRect">
            <a:avLst>
              <a:gd name="adj" fmla="val 3636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Problema e decisões técnicas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6"/>
          <p:cNvSpPr/>
          <p:nvPr/>
        </p:nvSpPr>
        <p:spPr>
          <a:xfrm>
            <a:off x="8975880" y="3657600"/>
            <a:ext cx="2634840" cy="1003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9050">
            <a:solidFill>
              <a:srgbClr val="666666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Implementação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7"/>
          <p:cNvSpPr/>
          <p:nvPr/>
        </p:nvSpPr>
        <p:spPr>
          <a:xfrm>
            <a:off x="8975880" y="4709160"/>
            <a:ext cx="2634840" cy="31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parcialmente delegada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8"/>
          <p:cNvSpPr/>
          <p:nvPr/>
        </p:nvSpPr>
        <p:spPr>
          <a:xfrm>
            <a:off x="548640" y="5212080"/>
            <a:ext cx="11062080" cy="6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Você define arquitetura e critérios, delega etapas e valida o código entregue.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9"/>
          <p:cNvSpPr/>
          <p:nvPr/>
        </p:nvSpPr>
        <p:spPr>
          <a:xfrm>
            <a:off x="548640" y="5943600"/>
            <a:ext cx="1106208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 type="sldNum" idx="31"/>
          </p:nvPr>
        </p:nvSpPr>
        <p:spPr>
          <a:xfrm>
            <a:off x="11155680" y="6400800"/>
            <a:ext cx="455040" cy="27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BEDB1B2-6E6F-4F89-90C2-B6CE0F3D528E}" type="slidenum">
              <a:rPr lang="en-US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27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84120"/>
            <a:ext cx="11062080" cy="109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Context engineering entrega ao modelo a informação certa, na quantidade certa e no momento certo.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0" name="Text 1"/>
          <p:cNvSpPr/>
          <p:nvPr/>
        </p:nvSpPr>
        <p:spPr>
          <a:xfrm>
            <a:off x="548640" y="1828800"/>
            <a:ext cx="3106800" cy="68364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Instruções (rules)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2"/>
          <p:cNvSpPr/>
          <p:nvPr/>
        </p:nvSpPr>
        <p:spPr>
          <a:xfrm>
            <a:off x="3749040" y="2171520"/>
            <a:ext cx="777240" cy="360"/>
          </a:xfrm>
          <a:prstGeom prst="line">
            <a:avLst/>
          </a:prstGeom>
          <a:ln w="19050">
            <a:solidFill>
              <a:srgbClr val="6666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2" name="Text 3"/>
          <p:cNvSpPr/>
          <p:nvPr/>
        </p:nvSpPr>
        <p:spPr>
          <a:xfrm>
            <a:off x="548640" y="2697480"/>
            <a:ext cx="3106800" cy="68364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Histórico da conversa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4"/>
          <p:cNvSpPr/>
          <p:nvPr/>
        </p:nvSpPr>
        <p:spPr>
          <a:xfrm>
            <a:off x="3749040" y="3040200"/>
            <a:ext cx="777240" cy="360"/>
          </a:xfrm>
          <a:prstGeom prst="line">
            <a:avLst/>
          </a:prstGeom>
          <a:ln w="19050">
            <a:solidFill>
              <a:srgbClr val="6666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4" name="Text 5"/>
          <p:cNvSpPr/>
          <p:nvPr/>
        </p:nvSpPr>
        <p:spPr>
          <a:xfrm>
            <a:off x="548640" y="3566160"/>
            <a:ext cx="3106800" cy="68364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Arquivos do projeto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6"/>
          <p:cNvSpPr/>
          <p:nvPr/>
        </p:nvSpPr>
        <p:spPr>
          <a:xfrm>
            <a:off x="3749040" y="3908880"/>
            <a:ext cx="777240" cy="360"/>
          </a:xfrm>
          <a:prstGeom prst="line">
            <a:avLst/>
          </a:prstGeom>
          <a:ln w="19050">
            <a:solidFill>
              <a:srgbClr val="6666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6" name="Text 7"/>
          <p:cNvSpPr/>
          <p:nvPr/>
        </p:nvSpPr>
        <p:spPr>
          <a:xfrm>
            <a:off x="548640" y="4434840"/>
            <a:ext cx="3106800" cy="68364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Resultados de ferramentas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8"/>
          <p:cNvSpPr/>
          <p:nvPr/>
        </p:nvSpPr>
        <p:spPr>
          <a:xfrm>
            <a:off x="3749040" y="4777560"/>
            <a:ext cx="777240" cy="360"/>
          </a:xfrm>
          <a:prstGeom prst="line">
            <a:avLst/>
          </a:prstGeom>
          <a:ln w="19050">
            <a:solidFill>
              <a:srgbClr val="6666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8" name="Text 9"/>
          <p:cNvSpPr/>
          <p:nvPr/>
        </p:nvSpPr>
        <p:spPr>
          <a:xfrm>
            <a:off x="548640" y="5303520"/>
            <a:ext cx="3106800" cy="68364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Documentação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10"/>
          <p:cNvSpPr/>
          <p:nvPr/>
        </p:nvSpPr>
        <p:spPr>
          <a:xfrm>
            <a:off x="3749040" y="5646240"/>
            <a:ext cx="777240" cy="360"/>
          </a:xfrm>
          <a:prstGeom prst="line">
            <a:avLst/>
          </a:prstGeom>
          <a:ln w="19050">
            <a:solidFill>
              <a:srgbClr val="6666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0" name="Text 11"/>
          <p:cNvSpPr/>
          <p:nvPr/>
        </p:nvSpPr>
        <p:spPr>
          <a:xfrm>
            <a:off x="4617720" y="1828800"/>
            <a:ext cx="3106800" cy="4158360"/>
          </a:xfrm>
          <a:prstGeom prst="roundRect">
            <a:avLst>
              <a:gd name="adj" fmla="val 2353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Context engineering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informação certa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quantidade certa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momento certo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12"/>
          <p:cNvSpPr/>
          <p:nvPr/>
        </p:nvSpPr>
        <p:spPr>
          <a:xfrm>
            <a:off x="7818120" y="3908880"/>
            <a:ext cx="731520" cy="360"/>
          </a:xfrm>
          <a:prstGeom prst="line">
            <a:avLst/>
          </a:prstGeom>
          <a:ln w="2540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2" name="Text 13"/>
          <p:cNvSpPr/>
          <p:nvPr/>
        </p:nvSpPr>
        <p:spPr>
          <a:xfrm>
            <a:off x="8641080" y="2743200"/>
            <a:ext cx="2969640" cy="2329560"/>
          </a:xfrm>
          <a:prstGeom prst="roundRect">
            <a:avLst>
              <a:gd name="adj" fmla="val 3137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Janela de contexto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↓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LLM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 type="sldNum" idx="32"/>
          </p:nvPr>
        </p:nvSpPr>
        <p:spPr>
          <a:xfrm>
            <a:off x="11155680" y="6400800"/>
            <a:ext cx="455040" cy="27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3646286-D768-4C9A-BFF0-E81AEACC24F9}" type="slidenum">
              <a:rPr lang="en-US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28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84120"/>
            <a:ext cx="11062080" cy="109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Contexto irrelevante aumenta custo e pode dificultar o foco do modelo.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5" name="Shape 1"/>
          <p:cNvSpPr/>
          <p:nvPr/>
        </p:nvSpPr>
        <p:spPr>
          <a:xfrm>
            <a:off x="822960" y="4937760"/>
            <a:ext cx="729360" cy="546480"/>
          </a:xfrm>
          <a:prstGeom prst="rect">
            <a:avLst/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6" name="Text 2"/>
          <p:cNvSpPr/>
          <p:nvPr/>
        </p:nvSpPr>
        <p:spPr>
          <a:xfrm>
            <a:off x="731520" y="5559480"/>
            <a:ext cx="912240" cy="31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Passo 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3"/>
          <p:cNvSpPr/>
          <p:nvPr/>
        </p:nvSpPr>
        <p:spPr>
          <a:xfrm>
            <a:off x="1920240" y="4937760"/>
            <a:ext cx="729360" cy="546480"/>
          </a:xfrm>
          <a:prstGeom prst="rect">
            <a:avLst/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8" name="Shape 4"/>
          <p:cNvSpPr/>
          <p:nvPr/>
        </p:nvSpPr>
        <p:spPr>
          <a:xfrm>
            <a:off x="1920240" y="4206240"/>
            <a:ext cx="729360" cy="7293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9" name="Text 5"/>
          <p:cNvSpPr/>
          <p:nvPr/>
        </p:nvSpPr>
        <p:spPr>
          <a:xfrm>
            <a:off x="1828800" y="5559480"/>
            <a:ext cx="912240" cy="31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Passo 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6"/>
          <p:cNvSpPr/>
          <p:nvPr/>
        </p:nvSpPr>
        <p:spPr>
          <a:xfrm>
            <a:off x="3017520" y="4937760"/>
            <a:ext cx="729360" cy="546480"/>
          </a:xfrm>
          <a:prstGeom prst="rect">
            <a:avLst/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1" name="Shape 7"/>
          <p:cNvSpPr/>
          <p:nvPr/>
        </p:nvSpPr>
        <p:spPr>
          <a:xfrm>
            <a:off x="3017520" y="3474720"/>
            <a:ext cx="729360" cy="1460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2" name="Text 8"/>
          <p:cNvSpPr/>
          <p:nvPr/>
        </p:nvSpPr>
        <p:spPr>
          <a:xfrm>
            <a:off x="2926080" y="5559480"/>
            <a:ext cx="912240" cy="31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Passo 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9"/>
          <p:cNvSpPr/>
          <p:nvPr/>
        </p:nvSpPr>
        <p:spPr>
          <a:xfrm>
            <a:off x="4114800" y="4937760"/>
            <a:ext cx="729360" cy="546480"/>
          </a:xfrm>
          <a:prstGeom prst="rect">
            <a:avLst/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4" name="Shape 10"/>
          <p:cNvSpPr/>
          <p:nvPr/>
        </p:nvSpPr>
        <p:spPr>
          <a:xfrm>
            <a:off x="4114800" y="2743200"/>
            <a:ext cx="729360" cy="21924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5" name="Text 11"/>
          <p:cNvSpPr/>
          <p:nvPr/>
        </p:nvSpPr>
        <p:spPr>
          <a:xfrm>
            <a:off x="4023360" y="5559480"/>
            <a:ext cx="912240" cy="31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Passo 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12"/>
          <p:cNvSpPr/>
          <p:nvPr/>
        </p:nvSpPr>
        <p:spPr>
          <a:xfrm>
            <a:off x="5212080" y="4937760"/>
            <a:ext cx="729360" cy="546480"/>
          </a:xfrm>
          <a:prstGeom prst="rect">
            <a:avLst/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7" name="Shape 13"/>
          <p:cNvSpPr/>
          <p:nvPr/>
        </p:nvSpPr>
        <p:spPr>
          <a:xfrm>
            <a:off x="5212080" y="1965960"/>
            <a:ext cx="729360" cy="29696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8" name="Text 14"/>
          <p:cNvSpPr/>
          <p:nvPr/>
        </p:nvSpPr>
        <p:spPr>
          <a:xfrm>
            <a:off x="5120640" y="5559480"/>
            <a:ext cx="912240" cy="31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Passo 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15"/>
          <p:cNvSpPr/>
          <p:nvPr/>
        </p:nvSpPr>
        <p:spPr>
          <a:xfrm>
            <a:off x="640080" y="1965960"/>
            <a:ext cx="5212080" cy="360"/>
          </a:xfrm>
          <a:prstGeom prst="line">
            <a:avLst/>
          </a:prstGeom>
          <a:ln w="25400">
            <a:solidFill>
              <a:srgbClr val="B91C1C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0" name="Text 16"/>
          <p:cNvSpPr/>
          <p:nvPr/>
        </p:nvSpPr>
        <p:spPr>
          <a:xfrm>
            <a:off x="3931920" y="1581840"/>
            <a:ext cx="1918080" cy="31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Limite da janela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17"/>
          <p:cNvSpPr/>
          <p:nvPr/>
        </p:nvSpPr>
        <p:spPr>
          <a:xfrm>
            <a:off x="822960" y="5989320"/>
            <a:ext cx="180720" cy="180720"/>
          </a:xfrm>
          <a:prstGeom prst="rect">
            <a:avLst/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2" name="Text 18"/>
          <p:cNvSpPr/>
          <p:nvPr/>
        </p:nvSpPr>
        <p:spPr>
          <a:xfrm>
            <a:off x="1097280" y="5943600"/>
            <a:ext cx="21009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Instruções e pedido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19"/>
          <p:cNvSpPr/>
          <p:nvPr/>
        </p:nvSpPr>
        <p:spPr>
          <a:xfrm>
            <a:off x="3200400" y="5989320"/>
            <a:ext cx="180720" cy="1807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4" name="Text 20"/>
          <p:cNvSpPr/>
          <p:nvPr/>
        </p:nvSpPr>
        <p:spPr>
          <a:xfrm>
            <a:off x="3474720" y="5943600"/>
            <a:ext cx="219240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Histórico e resultados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21"/>
          <p:cNvSpPr/>
          <p:nvPr/>
        </p:nvSpPr>
        <p:spPr>
          <a:xfrm>
            <a:off x="6583680" y="1965960"/>
            <a:ext cx="5027040" cy="1689480"/>
          </a:xfrm>
          <a:prstGeom prst="roundRect">
            <a:avLst>
              <a:gd name="adj" fmla="val 4324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28600" tIns="228600" rIns="228600" bIns="228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Mais lento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9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cada token novo precisa ser processado e relacionado aos demais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22"/>
          <p:cNvSpPr/>
          <p:nvPr/>
        </p:nvSpPr>
        <p:spPr>
          <a:xfrm>
            <a:off x="6583680" y="3886200"/>
            <a:ext cx="5027040" cy="1689480"/>
          </a:xfrm>
          <a:prstGeom prst="roundRect">
            <a:avLst>
              <a:gd name="adj" fmla="val 4324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28600" tIns="228600" rIns="228600" bIns="228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Atenção diluída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9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o modelo pode misturar informações ou priorizar o que é irrelevante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23"/>
          <p:cNvSpPr/>
          <p:nvPr/>
        </p:nvSpPr>
        <p:spPr>
          <a:xfrm>
            <a:off x="6583680" y="5669280"/>
            <a:ext cx="5027040" cy="45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Mais contexto nem sempre é melhor.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 type="sldNum" idx="33"/>
          </p:nvPr>
        </p:nvSpPr>
        <p:spPr>
          <a:xfrm>
            <a:off x="11155680" y="6400800"/>
            <a:ext cx="455040" cy="27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0F72CA0-0343-49EA-BA57-E932D496EF91}" type="slidenum">
              <a:rPr lang="en-US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29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Gerir contexto é selecionar, comprimir e externalizar informação.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0" name="Shape 1"/>
          <p:cNvSpPr/>
          <p:nvPr/>
        </p:nvSpPr>
        <p:spPr>
          <a:xfrm>
            <a:off x="548640" y="1783080"/>
            <a:ext cx="3471480" cy="429444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361" name="Text 2"/>
          <p:cNvSpPr/>
          <p:nvPr/>
        </p:nvSpPr>
        <p:spPr>
          <a:xfrm>
            <a:off x="822960" y="2057400"/>
            <a:ext cx="2922840" cy="45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Selecionar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3"/>
          <p:cNvSpPr/>
          <p:nvPr/>
        </p:nvSpPr>
        <p:spPr>
          <a:xfrm>
            <a:off x="822960" y="4937760"/>
            <a:ext cx="2922840" cy="91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Só entra o que a tarefa exige.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4"/>
          <p:cNvSpPr/>
          <p:nvPr/>
        </p:nvSpPr>
        <p:spPr>
          <a:xfrm>
            <a:off x="4343400" y="1783080"/>
            <a:ext cx="3471480" cy="429444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364" name="Text 5"/>
          <p:cNvSpPr/>
          <p:nvPr/>
        </p:nvSpPr>
        <p:spPr>
          <a:xfrm>
            <a:off x="4617720" y="2057400"/>
            <a:ext cx="2922840" cy="45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Comprimir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6"/>
          <p:cNvSpPr/>
          <p:nvPr/>
        </p:nvSpPr>
        <p:spPr>
          <a:xfrm>
            <a:off x="4617720" y="4937760"/>
            <a:ext cx="2922840" cy="91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 histórico longo vira um resumo.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7"/>
          <p:cNvSpPr/>
          <p:nvPr/>
        </p:nvSpPr>
        <p:spPr>
          <a:xfrm>
            <a:off x="8138160" y="1783080"/>
            <a:ext cx="3471480" cy="429444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367" name="Text 8"/>
          <p:cNvSpPr/>
          <p:nvPr/>
        </p:nvSpPr>
        <p:spPr>
          <a:xfrm>
            <a:off x="8412480" y="2057400"/>
            <a:ext cx="2922840" cy="45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Externalizar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9"/>
          <p:cNvSpPr/>
          <p:nvPr/>
        </p:nvSpPr>
        <p:spPr>
          <a:xfrm>
            <a:off x="8412480" y="4937760"/>
            <a:ext cx="2922840" cy="91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 estado fica em arquivos e é relido quando preciso.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10"/>
          <p:cNvSpPr/>
          <p:nvPr/>
        </p:nvSpPr>
        <p:spPr>
          <a:xfrm>
            <a:off x="822960" y="3108960"/>
            <a:ext cx="325800" cy="32580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370" name="Shape 11"/>
          <p:cNvSpPr/>
          <p:nvPr/>
        </p:nvSpPr>
        <p:spPr>
          <a:xfrm>
            <a:off x="1243440" y="3108960"/>
            <a:ext cx="325800" cy="3258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371" name="Shape 12"/>
          <p:cNvSpPr/>
          <p:nvPr/>
        </p:nvSpPr>
        <p:spPr>
          <a:xfrm>
            <a:off x="1664280" y="3108960"/>
            <a:ext cx="325800" cy="32580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372" name="Shape 13"/>
          <p:cNvSpPr/>
          <p:nvPr/>
        </p:nvSpPr>
        <p:spPr>
          <a:xfrm>
            <a:off x="2084760" y="3108960"/>
            <a:ext cx="325800" cy="32580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373" name="Shape 14"/>
          <p:cNvSpPr/>
          <p:nvPr/>
        </p:nvSpPr>
        <p:spPr>
          <a:xfrm>
            <a:off x="2505600" y="3108960"/>
            <a:ext cx="325800" cy="3258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374" name="Shape 15"/>
          <p:cNvSpPr/>
          <p:nvPr/>
        </p:nvSpPr>
        <p:spPr>
          <a:xfrm>
            <a:off x="2926080" y="3108960"/>
            <a:ext cx="325800" cy="32580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375" name="Shape 16"/>
          <p:cNvSpPr/>
          <p:nvPr/>
        </p:nvSpPr>
        <p:spPr>
          <a:xfrm>
            <a:off x="3346560" y="3108960"/>
            <a:ext cx="325800" cy="32580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376" name="Text 17"/>
          <p:cNvSpPr/>
          <p:nvPr/>
        </p:nvSpPr>
        <p:spPr>
          <a:xfrm>
            <a:off x="822960" y="3657600"/>
            <a:ext cx="2922840" cy="54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muita informação disponível, pouca relevante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18"/>
          <p:cNvSpPr/>
          <p:nvPr/>
        </p:nvSpPr>
        <p:spPr>
          <a:xfrm>
            <a:off x="4617720" y="2880360"/>
            <a:ext cx="2922840" cy="408240"/>
          </a:xfrm>
          <a:prstGeom prst="rect">
            <a:avLst/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histórico longo da conversa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19"/>
          <p:cNvSpPr/>
          <p:nvPr/>
        </p:nvSpPr>
        <p:spPr>
          <a:xfrm>
            <a:off x="6080760" y="3383280"/>
            <a:ext cx="360" cy="411480"/>
          </a:xfrm>
          <a:prstGeom prst="line">
            <a:avLst/>
          </a:prstGeom>
          <a:ln w="22225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379" name="Text 20"/>
          <p:cNvSpPr/>
          <p:nvPr/>
        </p:nvSpPr>
        <p:spPr>
          <a:xfrm>
            <a:off x="5486400" y="3886200"/>
            <a:ext cx="1185480" cy="4082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resumo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21"/>
          <p:cNvSpPr/>
          <p:nvPr/>
        </p:nvSpPr>
        <p:spPr>
          <a:xfrm>
            <a:off x="8412480" y="3017520"/>
            <a:ext cx="1276920" cy="8197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Contexto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22"/>
          <p:cNvSpPr/>
          <p:nvPr/>
        </p:nvSpPr>
        <p:spPr>
          <a:xfrm>
            <a:off x="10058400" y="3017520"/>
            <a:ext cx="1276920" cy="8197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9050">
            <a:solidFill>
              <a:srgbClr val="1B84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notas.md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23"/>
          <p:cNvSpPr/>
          <p:nvPr/>
        </p:nvSpPr>
        <p:spPr>
          <a:xfrm>
            <a:off x="9738360" y="3246120"/>
            <a:ext cx="274320" cy="360"/>
          </a:xfrm>
          <a:prstGeom prst="line">
            <a:avLst/>
          </a:prstGeom>
          <a:ln w="19050">
            <a:solidFill>
              <a:srgbClr val="1B845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383" name="Shape 24"/>
          <p:cNvSpPr/>
          <p:nvPr/>
        </p:nvSpPr>
        <p:spPr>
          <a:xfrm flipH="1">
            <a:off x="9738360" y="3611880"/>
            <a:ext cx="274320" cy="360"/>
          </a:xfrm>
          <a:prstGeom prst="line">
            <a:avLst/>
          </a:prstGeom>
          <a:ln w="19050">
            <a:solidFill>
              <a:srgbClr val="1B8457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384" name="Text 25"/>
          <p:cNvSpPr/>
          <p:nvPr/>
        </p:nvSpPr>
        <p:spPr>
          <a:xfrm>
            <a:off x="9509760" y="2651760"/>
            <a:ext cx="728280" cy="31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grava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26"/>
          <p:cNvSpPr/>
          <p:nvPr/>
        </p:nvSpPr>
        <p:spPr>
          <a:xfrm>
            <a:off x="9509760" y="3886200"/>
            <a:ext cx="728280" cy="27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relê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2"/>
          <p:cNvSpPr>
            <a:spLocks noGrp="1"/>
          </p:cNvSpPr>
          <p:nvPr>
            <p:ph type="sldNum" idx="34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81BF404-450D-42BD-BE2D-7D2C56D45F20}" type="slidenum">
              <a: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30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Text 450"/>
          <p:cNvSpPr/>
          <p:nvPr/>
        </p:nvSpPr>
        <p:spPr>
          <a:xfrm>
            <a:off x="4617720" y="4389120"/>
            <a:ext cx="2922840" cy="39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5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o essencial, em menos espaço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84120"/>
            <a:ext cx="11062080" cy="109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Context engineering é criar guias que orientam o agente e sensores que avaliam o que ele produz.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9" name="Text 1"/>
          <p:cNvSpPr/>
          <p:nvPr/>
        </p:nvSpPr>
        <p:spPr>
          <a:xfrm>
            <a:off x="548640" y="2103120"/>
            <a:ext cx="2649600" cy="1552320"/>
          </a:xfrm>
          <a:prstGeom prst="roundRect">
            <a:avLst>
              <a:gd name="adj" fmla="val 4706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Guias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feed forward: direção antes de agir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2"/>
          <p:cNvSpPr/>
          <p:nvPr/>
        </p:nvSpPr>
        <p:spPr>
          <a:xfrm>
            <a:off x="3749040" y="2103120"/>
            <a:ext cx="2649600" cy="15523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Agente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escreve e edita código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3"/>
          <p:cNvSpPr/>
          <p:nvPr/>
        </p:nvSpPr>
        <p:spPr>
          <a:xfrm>
            <a:off x="6949440" y="2103120"/>
            <a:ext cx="1552320" cy="15523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Saída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4"/>
          <p:cNvSpPr/>
          <p:nvPr/>
        </p:nvSpPr>
        <p:spPr>
          <a:xfrm>
            <a:off x="8961120" y="2103120"/>
            <a:ext cx="2649600" cy="1552320"/>
          </a:xfrm>
          <a:prstGeom prst="roundRect">
            <a:avLst>
              <a:gd name="adj" fmla="val 4706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Sensores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feedback: avaliação depois de agir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5"/>
          <p:cNvSpPr/>
          <p:nvPr/>
        </p:nvSpPr>
        <p:spPr>
          <a:xfrm>
            <a:off x="3291840" y="2880360"/>
            <a:ext cx="365760" cy="360"/>
          </a:xfrm>
          <a:prstGeom prst="line">
            <a:avLst/>
          </a:prstGeom>
          <a:ln w="2540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4" name="Shape 6"/>
          <p:cNvSpPr/>
          <p:nvPr/>
        </p:nvSpPr>
        <p:spPr>
          <a:xfrm>
            <a:off x="6492240" y="2880360"/>
            <a:ext cx="365760" cy="360"/>
          </a:xfrm>
          <a:prstGeom prst="line">
            <a:avLst/>
          </a:prstGeom>
          <a:ln w="2540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5" name="Shape 7"/>
          <p:cNvSpPr/>
          <p:nvPr/>
        </p:nvSpPr>
        <p:spPr>
          <a:xfrm>
            <a:off x="8595360" y="2880360"/>
            <a:ext cx="274320" cy="360"/>
          </a:xfrm>
          <a:prstGeom prst="line">
            <a:avLst/>
          </a:prstGeom>
          <a:ln w="2540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6" name="Shape 8"/>
          <p:cNvSpPr/>
          <p:nvPr/>
        </p:nvSpPr>
        <p:spPr>
          <a:xfrm>
            <a:off x="10287000" y="3749040"/>
            <a:ext cx="360" cy="822960"/>
          </a:xfrm>
          <a:prstGeom prst="line">
            <a:avLst/>
          </a:prstGeom>
          <a:ln w="25400">
            <a:solidFill>
              <a:srgbClr val="1B8457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7" name="Shape 9"/>
          <p:cNvSpPr/>
          <p:nvPr/>
        </p:nvSpPr>
        <p:spPr>
          <a:xfrm flipH="1">
            <a:off x="5074920" y="4572000"/>
            <a:ext cx="5212080" cy="360"/>
          </a:xfrm>
          <a:prstGeom prst="line">
            <a:avLst/>
          </a:prstGeom>
          <a:ln w="25400">
            <a:solidFill>
              <a:srgbClr val="1B8457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8" name="Shape 10"/>
          <p:cNvSpPr/>
          <p:nvPr/>
        </p:nvSpPr>
        <p:spPr>
          <a:xfrm flipV="1">
            <a:off x="5074920" y="3749040"/>
            <a:ext cx="360" cy="822960"/>
          </a:xfrm>
          <a:prstGeom prst="line">
            <a:avLst/>
          </a:prstGeom>
          <a:ln w="25400">
            <a:solidFill>
              <a:srgbClr val="1B8457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9" name="Text 11"/>
          <p:cNvSpPr/>
          <p:nvPr/>
        </p:nvSpPr>
        <p:spPr>
          <a:xfrm>
            <a:off x="5303520" y="4846320"/>
            <a:ext cx="6307200" cy="72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O feedback ajuda o agente a corrigir a saída; você valida o resultado.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 type="sldNum" idx="35"/>
          </p:nvPr>
        </p:nvSpPr>
        <p:spPr>
          <a:xfrm>
            <a:off x="11155680" y="6400800"/>
            <a:ext cx="455040" cy="27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4161FC6-1E61-4FCB-B3BB-DE729798CAB1}" type="slidenum">
              <a:rPr lang="en-US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31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84120"/>
            <a:ext cx="11062080" cy="109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Um guia de poucas linhas evita que o agente leia arquivos inteiros só para descobrir o básico.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2" name="Text 1"/>
          <p:cNvSpPr/>
          <p:nvPr/>
        </p:nvSpPr>
        <p:spPr>
          <a:xfrm>
            <a:off x="548640" y="1737360"/>
            <a:ext cx="530136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Sem guia, o agente tateia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2"/>
          <p:cNvSpPr/>
          <p:nvPr/>
        </p:nvSpPr>
        <p:spPr>
          <a:xfrm>
            <a:off x="548640" y="2240280"/>
            <a:ext cx="5301360" cy="68364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905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3040" tIns="203040" rIns="203040" bIns="203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Tenta a porta 3000 e falha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3"/>
          <p:cNvSpPr/>
          <p:nvPr/>
        </p:nvSpPr>
        <p:spPr>
          <a:xfrm>
            <a:off x="548640" y="3108960"/>
            <a:ext cx="5301360" cy="68364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905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3040" tIns="203040" rIns="203040" bIns="203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Tenta a 3001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4"/>
          <p:cNvSpPr/>
          <p:nvPr/>
        </p:nvSpPr>
        <p:spPr>
          <a:xfrm>
            <a:off x="548640" y="3977640"/>
            <a:ext cx="5301360" cy="68364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905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3040" tIns="203040" rIns="203040" bIns="203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Lê package.json e arquivos de env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5"/>
          <p:cNvSpPr/>
          <p:nvPr/>
        </p:nvSpPr>
        <p:spPr>
          <a:xfrm>
            <a:off x="548640" y="4846320"/>
            <a:ext cx="5301360" cy="68364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905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3040" tIns="203040" rIns="203040" bIns="203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Usa npm em um projeto Yarn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6"/>
          <p:cNvSpPr/>
          <p:nvPr/>
        </p:nvSpPr>
        <p:spPr>
          <a:xfrm>
            <a:off x="6309360" y="1737360"/>
            <a:ext cx="530136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Com guia, ele já sabe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7"/>
          <p:cNvSpPr/>
          <p:nvPr/>
        </p:nvSpPr>
        <p:spPr>
          <a:xfrm>
            <a:off x="6309360" y="2240280"/>
            <a:ext cx="5301360" cy="214668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7840" tIns="177840" rIns="177840" bIns="177840" anchor="t">
            <a:noAutofit/>
          </a:bodyPr>
          <a:lstStyle/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chemeClr val="accent2"/>
                </a:solidFill>
                <a:effectLst/>
                <a:uFillTx/>
                <a:latin typeface="Courier New"/>
                <a:ea typeface="Courier New"/>
              </a:rPr>
              <a:t># AGENTS.md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chemeClr val="accent2"/>
                </a:solidFill>
                <a:effectLst/>
                <a:uFillTx/>
                <a:latin typeface="Courier New"/>
                <a:ea typeface="Courier New"/>
              </a:rPr>
              <a:t>## Comandos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- Pacotes: yarn (não npm)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- Dev: yarn dev (porta 3001)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- Testes: yarn test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8"/>
          <p:cNvSpPr/>
          <p:nvPr/>
        </p:nvSpPr>
        <p:spPr>
          <a:xfrm>
            <a:off x="6309360" y="4572000"/>
            <a:ext cx="5301360" cy="82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100 a 300 tokens substituem a leitura de arquivos bem maiores.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2"/>
          <p:cNvSpPr>
            <a:spLocks noGrp="1"/>
          </p:cNvSpPr>
          <p:nvPr>
            <p:ph type="sldNum" idx="36"/>
          </p:nvPr>
        </p:nvSpPr>
        <p:spPr>
          <a:xfrm>
            <a:off x="11155680" y="6400800"/>
            <a:ext cx="455040" cy="27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3EE2239-C421-4A33-9220-882A2C67A033}" type="slidenum">
              <a:rPr lang="en-US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32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84120"/>
            <a:ext cx="11062080" cy="109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Guias dizem como fazer e também o que você não quer que o agente faça.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2" name="Shape 1"/>
          <p:cNvSpPr/>
          <p:nvPr/>
        </p:nvSpPr>
        <p:spPr>
          <a:xfrm>
            <a:off x="548640" y="1783080"/>
            <a:ext cx="2558160" cy="34268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3" name="Text 2"/>
          <p:cNvSpPr/>
          <p:nvPr/>
        </p:nvSpPr>
        <p:spPr>
          <a:xfrm>
            <a:off x="777240" y="2057400"/>
            <a:ext cx="2100960" cy="82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Comandos e ambiente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3"/>
          <p:cNvSpPr/>
          <p:nvPr/>
        </p:nvSpPr>
        <p:spPr>
          <a:xfrm>
            <a:off x="777240" y="3017520"/>
            <a:ext cx="2100960" cy="19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Gerenciador de pacotes, portas, dependências, como rodar os testes.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4"/>
          <p:cNvSpPr/>
          <p:nvPr/>
        </p:nvSpPr>
        <p:spPr>
          <a:xfrm>
            <a:off x="3383280" y="1783080"/>
            <a:ext cx="2558160" cy="34268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6" name="Text 5"/>
          <p:cNvSpPr/>
          <p:nvPr/>
        </p:nvSpPr>
        <p:spPr>
          <a:xfrm>
            <a:off x="3611880" y="2057400"/>
            <a:ext cx="2100960" cy="82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Padrões de código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6"/>
          <p:cNvSpPr/>
          <p:nvPr/>
        </p:nvSpPr>
        <p:spPr>
          <a:xfrm>
            <a:off x="3611880" y="3017520"/>
            <a:ext cx="2100960" cy="19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Não o que o framework faz, mas como o seu time o usa.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7"/>
          <p:cNvSpPr/>
          <p:nvPr/>
        </p:nvSpPr>
        <p:spPr>
          <a:xfrm>
            <a:off x="6217920" y="1783080"/>
            <a:ext cx="2558160" cy="34268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9" name="Text 8"/>
          <p:cNvSpPr/>
          <p:nvPr/>
        </p:nvSpPr>
        <p:spPr>
          <a:xfrm>
            <a:off x="6446520" y="2057400"/>
            <a:ext cx="2100960" cy="82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Estrutura e arquitetura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9"/>
          <p:cNvSpPr/>
          <p:nvPr/>
        </p:nvSpPr>
        <p:spPr>
          <a:xfrm>
            <a:off x="6446520" y="3017520"/>
            <a:ext cx="2100960" cy="19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Onde cada arquivo vai, as camadas, como escrever SQL e testes.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10"/>
          <p:cNvSpPr/>
          <p:nvPr/>
        </p:nvSpPr>
        <p:spPr>
          <a:xfrm>
            <a:off x="9052560" y="1783080"/>
            <a:ext cx="2558160" cy="342684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22225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2" name="Text 11"/>
          <p:cNvSpPr/>
          <p:nvPr/>
        </p:nvSpPr>
        <p:spPr>
          <a:xfrm>
            <a:off x="9281160" y="2057400"/>
            <a:ext cx="2100960" cy="82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O que NÃO fazer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2"/>
          <p:cNvSpPr/>
          <p:nvPr/>
        </p:nvSpPr>
        <p:spPr>
          <a:xfrm>
            <a:off x="9281160" y="3017520"/>
            <a:ext cx="2100960" cy="19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Nunca rodar migrations sozinho: pode destruir o dump de desenvolvimento.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13"/>
          <p:cNvSpPr/>
          <p:nvPr/>
        </p:nvSpPr>
        <p:spPr>
          <a:xfrm>
            <a:off x="548640" y="5440680"/>
            <a:ext cx="11062080" cy="6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O código entregue continua sendo responsabilidade sua, não da IA.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PlaceHolder 2"/>
          <p:cNvSpPr>
            <a:spLocks noGrp="1"/>
          </p:cNvSpPr>
          <p:nvPr>
            <p:ph type="sldNum" idx="37"/>
          </p:nvPr>
        </p:nvSpPr>
        <p:spPr>
          <a:xfrm>
            <a:off x="11155680" y="6400800"/>
            <a:ext cx="455040" cy="27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833320B-D17F-4BCA-B2B7-51991DC340CB}" type="slidenum">
              <a:rPr lang="en-US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33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84120"/>
            <a:ext cx="11062080" cy="109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Quanto mais crítico o software, mais guias, sensores e revisão humana ele exige.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7" name="Text 1"/>
          <p:cNvSpPr/>
          <p:nvPr/>
        </p:nvSpPr>
        <p:spPr>
          <a:xfrm>
            <a:off x="548640" y="1783080"/>
            <a:ext cx="365544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criticidade crescente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2"/>
          <p:cNvSpPr/>
          <p:nvPr/>
        </p:nvSpPr>
        <p:spPr>
          <a:xfrm>
            <a:off x="548640" y="2377440"/>
            <a:ext cx="11064240" cy="360"/>
          </a:xfrm>
          <a:prstGeom prst="line">
            <a:avLst/>
          </a:prstGeom>
          <a:ln w="25400">
            <a:solidFill>
              <a:srgbClr val="6666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9" name="Text 3"/>
          <p:cNvSpPr/>
          <p:nvPr/>
        </p:nvSpPr>
        <p:spPr>
          <a:xfrm>
            <a:off x="548640" y="2788920"/>
            <a:ext cx="3472560" cy="1735200"/>
          </a:xfrm>
          <a:prstGeom prst="roundRect">
            <a:avLst>
              <a:gd name="adj" fmla="val 4211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28600" tIns="228600" rIns="228600" bIns="228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Menor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Gestão de projetos, troca de mensagens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4"/>
          <p:cNvSpPr/>
          <p:nvPr/>
        </p:nvSpPr>
        <p:spPr>
          <a:xfrm>
            <a:off x="548640" y="4709160"/>
            <a:ext cx="3472560" cy="82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Mais margem para corrigir depois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5"/>
          <p:cNvSpPr/>
          <p:nvPr/>
        </p:nvSpPr>
        <p:spPr>
          <a:xfrm>
            <a:off x="4343400" y="2788920"/>
            <a:ext cx="3472560" cy="1735200"/>
          </a:xfrm>
          <a:prstGeom prst="roundRect">
            <a:avLst>
              <a:gd name="adj" fmla="val 4211"/>
            </a:avLst>
          </a:prstGeom>
          <a:solidFill>
            <a:schemeClr val="accent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28600" tIns="228600" rIns="228600" bIns="228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Alta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Checkout de um grande e-commerce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6"/>
          <p:cNvSpPr/>
          <p:nvPr/>
        </p:nvSpPr>
        <p:spPr>
          <a:xfrm>
            <a:off x="4343400" y="4709160"/>
            <a:ext cx="3472560" cy="82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Um erro pode custar milhões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7"/>
          <p:cNvSpPr/>
          <p:nvPr/>
        </p:nvSpPr>
        <p:spPr>
          <a:xfrm>
            <a:off x="8138160" y="2788920"/>
            <a:ext cx="3472560" cy="1735200"/>
          </a:xfrm>
          <a:prstGeom prst="roundRect">
            <a:avLst>
              <a:gd name="adj" fmla="val 4211"/>
            </a:avLst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28600" tIns="228600" rIns="228600" bIns="228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Máxima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Saúde, finanças, impostos, frenagem de carro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8"/>
          <p:cNvSpPr/>
          <p:nvPr/>
        </p:nvSpPr>
        <p:spPr>
          <a:xfrm>
            <a:off x="8138160" y="4709160"/>
            <a:ext cx="3472560" cy="82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Erros causam perdas graves ou riscos à vida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9"/>
          <p:cNvSpPr/>
          <p:nvPr/>
        </p:nvSpPr>
        <p:spPr>
          <a:xfrm>
            <a:off x="548640" y="5577840"/>
            <a:ext cx="11062080" cy="54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Ajuste o rigor de guias e sensores à criticidade do que você entrega.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PlaceHolder 2"/>
          <p:cNvSpPr>
            <a:spLocks noGrp="1"/>
          </p:cNvSpPr>
          <p:nvPr>
            <p:ph type="sldNum" idx="38"/>
          </p:nvPr>
        </p:nvSpPr>
        <p:spPr>
          <a:xfrm>
            <a:off x="11155680" y="6400800"/>
            <a:ext cx="455040" cy="27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7761BCB-C0E9-4A48-A73A-8FD41DFE7FF7}" type="slidenum">
              <a:rPr lang="en-US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34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84120"/>
            <a:ext cx="11062080" cy="109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Sem sensores, você vira o intermediário que avisa ao agente que o código não funcionou.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8" name="Text 1"/>
          <p:cNvSpPr/>
          <p:nvPr/>
        </p:nvSpPr>
        <p:spPr>
          <a:xfrm>
            <a:off x="548640" y="1828800"/>
            <a:ext cx="1369440" cy="127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Sem sensor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2"/>
          <p:cNvSpPr/>
          <p:nvPr/>
        </p:nvSpPr>
        <p:spPr>
          <a:xfrm>
            <a:off x="2011680" y="1828800"/>
            <a:ext cx="2923920" cy="12780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Agente escreve o código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3"/>
          <p:cNvSpPr/>
          <p:nvPr/>
        </p:nvSpPr>
        <p:spPr>
          <a:xfrm>
            <a:off x="4983480" y="2468880"/>
            <a:ext cx="320040" cy="360"/>
          </a:xfrm>
          <a:prstGeom prst="line">
            <a:avLst/>
          </a:prstGeom>
          <a:ln w="25400">
            <a:solidFill>
              <a:srgbClr val="B91C1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1" name="Text 4"/>
          <p:cNvSpPr/>
          <p:nvPr/>
        </p:nvSpPr>
        <p:spPr>
          <a:xfrm>
            <a:off x="5349240" y="1828800"/>
            <a:ext cx="2923920" cy="1278000"/>
          </a:xfrm>
          <a:prstGeom prst="roundRect">
            <a:avLst>
              <a:gd name="adj" fmla="val 5714"/>
            </a:avLst>
          </a:prstGeom>
          <a:solidFill>
            <a:schemeClr val="accent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Você roda e vê a falha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5"/>
          <p:cNvSpPr/>
          <p:nvPr/>
        </p:nvSpPr>
        <p:spPr>
          <a:xfrm>
            <a:off x="8321040" y="2468880"/>
            <a:ext cx="320040" cy="360"/>
          </a:xfrm>
          <a:prstGeom prst="line">
            <a:avLst/>
          </a:prstGeom>
          <a:ln w="25400">
            <a:solidFill>
              <a:srgbClr val="B91C1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3" name="Text 6"/>
          <p:cNvSpPr/>
          <p:nvPr/>
        </p:nvSpPr>
        <p:spPr>
          <a:xfrm>
            <a:off x="8686800" y="1828800"/>
            <a:ext cx="2923920" cy="1278000"/>
          </a:xfrm>
          <a:prstGeom prst="roundRect">
            <a:avLst>
              <a:gd name="adj" fmla="val 5714"/>
            </a:avLst>
          </a:prstGeom>
          <a:solidFill>
            <a:schemeClr val="accent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Você explica o erro ao agente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7"/>
          <p:cNvSpPr/>
          <p:nvPr/>
        </p:nvSpPr>
        <p:spPr>
          <a:xfrm>
            <a:off x="548640" y="3520440"/>
            <a:ext cx="1369440" cy="127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Com sensor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8"/>
          <p:cNvSpPr/>
          <p:nvPr/>
        </p:nvSpPr>
        <p:spPr>
          <a:xfrm>
            <a:off x="2011680" y="3520440"/>
            <a:ext cx="2923920" cy="12780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Agente escreve o código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9"/>
          <p:cNvSpPr/>
          <p:nvPr/>
        </p:nvSpPr>
        <p:spPr>
          <a:xfrm>
            <a:off x="4983480" y="4160520"/>
            <a:ext cx="320040" cy="360"/>
          </a:xfrm>
          <a:prstGeom prst="line">
            <a:avLst/>
          </a:prstGeom>
          <a:ln w="25400">
            <a:solidFill>
              <a:srgbClr val="1B845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7" name="Text 10"/>
          <p:cNvSpPr/>
          <p:nvPr/>
        </p:nvSpPr>
        <p:spPr>
          <a:xfrm>
            <a:off x="5349240" y="3520440"/>
            <a:ext cx="2923920" cy="127800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Sensor roda testes e queries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11"/>
          <p:cNvSpPr/>
          <p:nvPr/>
        </p:nvSpPr>
        <p:spPr>
          <a:xfrm>
            <a:off x="8321040" y="4160520"/>
            <a:ext cx="320040" cy="360"/>
          </a:xfrm>
          <a:prstGeom prst="line">
            <a:avLst/>
          </a:prstGeom>
          <a:ln w="25400">
            <a:solidFill>
              <a:srgbClr val="1B845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9" name="Text 12"/>
          <p:cNvSpPr/>
          <p:nvPr/>
        </p:nvSpPr>
        <p:spPr>
          <a:xfrm>
            <a:off x="8686800" y="3520440"/>
            <a:ext cx="2923920" cy="12780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Agente lê o erro e corrige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13"/>
          <p:cNvSpPr/>
          <p:nvPr/>
        </p:nvSpPr>
        <p:spPr>
          <a:xfrm>
            <a:off x="10149840" y="4892040"/>
            <a:ext cx="360" cy="228600"/>
          </a:xfrm>
          <a:prstGeom prst="line">
            <a:avLst/>
          </a:prstGeom>
          <a:ln w="25400">
            <a:solidFill>
              <a:srgbClr val="1B84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1" name="Shape 14"/>
          <p:cNvSpPr/>
          <p:nvPr/>
        </p:nvSpPr>
        <p:spPr>
          <a:xfrm flipH="1">
            <a:off x="3474720" y="5120640"/>
            <a:ext cx="6675120" cy="360"/>
          </a:xfrm>
          <a:prstGeom prst="line">
            <a:avLst/>
          </a:prstGeom>
          <a:ln w="25400">
            <a:solidFill>
              <a:srgbClr val="1B84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2" name="Shape 15"/>
          <p:cNvSpPr/>
          <p:nvPr/>
        </p:nvSpPr>
        <p:spPr>
          <a:xfrm flipV="1">
            <a:off x="3474720" y="4846320"/>
            <a:ext cx="360" cy="274320"/>
          </a:xfrm>
          <a:prstGeom prst="line">
            <a:avLst/>
          </a:prstGeom>
          <a:ln w="25400">
            <a:solidFill>
              <a:srgbClr val="1B845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3" name="Text 16"/>
          <p:cNvSpPr/>
          <p:nvPr/>
        </p:nvSpPr>
        <p:spPr>
          <a:xfrm>
            <a:off x="548640" y="5349240"/>
            <a:ext cx="11062080" cy="68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Seu tempo vai para o problema e a direção técnica, não para relatar falhas.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2"/>
          <p:cNvSpPr>
            <a:spLocks noGrp="1"/>
          </p:cNvSpPr>
          <p:nvPr>
            <p:ph type="sldNum" idx="39"/>
          </p:nvPr>
        </p:nvSpPr>
        <p:spPr>
          <a:xfrm>
            <a:off x="11155680" y="6400800"/>
            <a:ext cx="455040" cy="27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9B4C511-4DF2-441C-A2DB-886E71EC82AF}" type="slidenum">
              <a:rPr lang="en-US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35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84120"/>
            <a:ext cx="11062080" cy="109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Cada sensor dá ao agente uma visão que ele não tem sozinho.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456" name="Table 0"/>
          <p:cNvGraphicFramePr/>
          <p:nvPr/>
        </p:nvGraphicFramePr>
        <p:xfrm>
          <a:off x="548640" y="1874520"/>
          <a:ext cx="11064240" cy="394848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Sensor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marT="54720" marB="5472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Resultado que o agente vê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marT="54720" marB="5472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Exemplos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marT="54720" marB="5472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</a:rPr>
                        <a:t>Testes automatizados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marT="54720" marB="5472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Falhas e regressões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marT="54720" marB="5472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Vitest, pytest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marT="54720" marB="5472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</a:rPr>
                        <a:t>Compilador e linter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marT="54720" marB="5472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Erros de código e tipos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marT="54720" marB="5472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tsc, ESLint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marT="54720" marB="5472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</a:rPr>
                        <a:t>Navegador headless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marT="54720" marB="5472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Interface em execução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marT="54720" marB="5472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Playwright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marT="54720" marB="5472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</a:rPr>
                        <a:t>Logs do servidor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marT="54720" marB="5472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Erros durante a execução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marT="54720" marB="5472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stdout do dev server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marT="54720" marB="5472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</a:rPr>
                        <a:t>Banco de dados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marT="54720" marB="5472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Consultas e planos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marT="54720" marB="5472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EXPLAIN ANALYZE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marT="54720" marB="5472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57" name="PlaceHolder 2"/>
          <p:cNvSpPr>
            <a:spLocks noGrp="1"/>
          </p:cNvSpPr>
          <p:nvPr>
            <p:ph type="sldNum" idx="40"/>
          </p:nvPr>
        </p:nvSpPr>
        <p:spPr>
          <a:xfrm>
            <a:off x="11155680" y="6400800"/>
            <a:ext cx="455040" cy="27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9243955-4C4A-481D-B291-12DB975E29D4}" type="slidenum">
              <a:rPr lang="en-US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36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84120"/>
            <a:ext cx="11062080" cy="109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Guias e sensores podem reduzir retrabalho e facilitar o trabalho em paralelo.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9" name="Text 1"/>
          <p:cNvSpPr/>
          <p:nvPr/>
        </p:nvSpPr>
        <p:spPr>
          <a:xfrm>
            <a:off x="548640" y="1920240"/>
            <a:ext cx="5484240" cy="109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Guias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orientam antes de o agente agir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2"/>
          <p:cNvSpPr/>
          <p:nvPr/>
        </p:nvSpPr>
        <p:spPr>
          <a:xfrm>
            <a:off x="548640" y="3291840"/>
            <a:ext cx="5484240" cy="109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Sensores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avaliam depois, para ele se autocorrigir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3"/>
          <p:cNvSpPr/>
          <p:nvPr/>
        </p:nvSpPr>
        <p:spPr>
          <a:xfrm>
            <a:off x="548640" y="4663440"/>
            <a:ext cx="5484240" cy="109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Criticidade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define o rigor de cada um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4"/>
          <p:cNvSpPr/>
          <p:nvPr/>
        </p:nvSpPr>
        <p:spPr>
          <a:xfrm>
            <a:off x="6949440" y="1783080"/>
            <a:ext cx="4661280" cy="82080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Guias + sensores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5"/>
          <p:cNvSpPr/>
          <p:nvPr/>
        </p:nvSpPr>
        <p:spPr>
          <a:xfrm>
            <a:off x="9281160" y="2606040"/>
            <a:ext cx="360" cy="274320"/>
          </a:xfrm>
          <a:prstGeom prst="line">
            <a:avLst/>
          </a:prstGeom>
          <a:ln w="2540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4" name="Text 6"/>
          <p:cNvSpPr/>
          <p:nvPr/>
        </p:nvSpPr>
        <p:spPr>
          <a:xfrm>
            <a:off x="6949440" y="2926080"/>
            <a:ext cx="4661280" cy="82080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Pode reduzir retrabalho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7"/>
          <p:cNvSpPr/>
          <p:nvPr/>
        </p:nvSpPr>
        <p:spPr>
          <a:xfrm>
            <a:off x="9281160" y="3749040"/>
            <a:ext cx="360" cy="274320"/>
          </a:xfrm>
          <a:prstGeom prst="line">
            <a:avLst/>
          </a:prstGeom>
          <a:ln w="2540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6" name="Text 8"/>
          <p:cNvSpPr/>
          <p:nvPr/>
        </p:nvSpPr>
        <p:spPr>
          <a:xfrm>
            <a:off x="6949440" y="4069080"/>
            <a:ext cx="4661280" cy="82080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Facilita o paralelismo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9"/>
          <p:cNvSpPr/>
          <p:nvPr/>
        </p:nvSpPr>
        <p:spPr>
          <a:xfrm>
            <a:off x="9281160" y="4892040"/>
            <a:ext cx="360" cy="274320"/>
          </a:xfrm>
          <a:prstGeom prst="line">
            <a:avLst/>
          </a:prstGeom>
          <a:ln w="2540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8" name="Text 10"/>
          <p:cNvSpPr/>
          <p:nvPr/>
        </p:nvSpPr>
        <p:spPr>
          <a:xfrm>
            <a:off x="6949440" y="5212080"/>
            <a:ext cx="4661280" cy="82080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Produtividade potencial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PlaceHolder 2"/>
          <p:cNvSpPr>
            <a:spLocks noGrp="1"/>
          </p:cNvSpPr>
          <p:nvPr>
            <p:ph type="sldNum" idx="41"/>
          </p:nvPr>
        </p:nvSpPr>
        <p:spPr>
          <a:xfrm>
            <a:off x="11155680" y="6400800"/>
            <a:ext cx="455040" cy="27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C977BC0-C17E-4B8B-BF1F-8BAC58B23C9A}" type="slidenum">
              <a:rPr lang="en-US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37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Vamos desenhar o contexto do user harness ao vivo.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1" name="Text 27"/>
          <p:cNvSpPr/>
          <p:nvPr/>
        </p:nvSpPr>
        <p:spPr>
          <a:xfrm>
            <a:off x="548640" y="1783080"/>
            <a:ext cx="2649240" cy="40824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Demonstração ao vivo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Canvas 2"/>
          <p:cNvSpPr/>
          <p:nvPr/>
        </p:nvSpPr>
        <p:spPr>
          <a:xfrm>
            <a:off x="548640" y="2331720"/>
            <a:ext cx="11061000" cy="246636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9050">
            <a:solidFill>
              <a:srgbClr val="666666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473" name="Canvas texto 2"/>
          <p:cNvSpPr/>
          <p:nvPr/>
        </p:nvSpPr>
        <p:spPr>
          <a:xfrm>
            <a:off x="822960" y="2788920"/>
            <a:ext cx="10513080" cy="82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6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Quadro em branco no Excalidraw: vamos montar a estrutura juntos.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Canvas dica 2"/>
          <p:cNvSpPr/>
          <p:nvPr/>
        </p:nvSpPr>
        <p:spPr>
          <a:xfrm>
            <a:off x="822960" y="3703320"/>
            <a:ext cx="10513080" cy="54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pedido  ·  instruções  ·  arquivos  ·  resultados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28"/>
          <p:cNvSpPr/>
          <p:nvPr/>
        </p:nvSpPr>
        <p:spPr>
          <a:xfrm>
            <a:off x="548640" y="5120640"/>
            <a:ext cx="11061000" cy="72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 que entra no contexto, quando entra e quem decide?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PlaceHolder 2"/>
          <p:cNvSpPr>
            <a:spLocks noGrp="1"/>
          </p:cNvSpPr>
          <p:nvPr>
            <p:ph type="sldNum" idx="42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CA68CE3-1B6B-42F1-A273-959D5DCFD01F}" type="slidenum">
              <a: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38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CC95C-7B86-FC47-8B8B-2C4E288EE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>
            <a:extLst>
              <a:ext uri="{FF2B5EF4-FFF2-40B4-BE49-F238E27FC236}">
                <a16:creationId xmlns:a16="http://schemas.microsoft.com/office/drawing/2014/main" id="{BA4933F6-F1C6-1401-B135-CDED0B6F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5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Atividade: melhore o pedido do gerenciador financeiro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8" name="Subtitulo 401">
            <a:extLst>
              <a:ext uri="{FF2B5EF4-FFF2-40B4-BE49-F238E27FC236}">
                <a16:creationId xmlns:a16="http://schemas.microsoft.com/office/drawing/2014/main" id="{A5181660-FDC2-702F-69F2-44C6F1E6C4EF}"/>
              </a:ext>
            </a:extLst>
          </p:cNvPr>
          <p:cNvSpPr/>
          <p:nvPr/>
        </p:nvSpPr>
        <p:spPr>
          <a:xfrm>
            <a:off x="548640" y="860040"/>
            <a:ext cx="11061000" cy="33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17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Quem tiver agente testa localmente; os demais comparam na execução projetada.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402">
            <a:extLst>
              <a:ext uri="{FF2B5EF4-FFF2-40B4-BE49-F238E27FC236}">
                <a16:creationId xmlns:a16="http://schemas.microsoft.com/office/drawing/2014/main" id="{7B20A45D-2F68-2FD7-8FC4-A5DAF7567133}"/>
              </a:ext>
            </a:extLst>
          </p:cNvPr>
          <p:cNvSpPr/>
          <p:nvPr/>
        </p:nvSpPr>
        <p:spPr>
          <a:xfrm>
            <a:off x="548640" y="1400040"/>
            <a:ext cx="5897520" cy="29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2200" b="1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Pedido genérico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403">
            <a:extLst>
              <a:ext uri="{FF2B5EF4-FFF2-40B4-BE49-F238E27FC236}">
                <a16:creationId xmlns:a16="http://schemas.microsoft.com/office/drawing/2014/main" id="{C07F5AE4-93D3-2232-8923-CA615FE97648}"/>
              </a:ext>
            </a:extLst>
          </p:cNvPr>
          <p:cNvSpPr/>
          <p:nvPr/>
        </p:nvSpPr>
        <p:spPr>
          <a:xfrm>
            <a:off x="548640" y="1800000"/>
            <a:ext cx="5897520" cy="99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666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28600" tIns="91440" rIns="228600" bIns="9144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2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Crie um gerenciador financeiro pessoal.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404">
            <a:extLst>
              <a:ext uri="{FF2B5EF4-FFF2-40B4-BE49-F238E27FC236}">
                <a16:creationId xmlns:a16="http://schemas.microsoft.com/office/drawing/2014/main" id="{1DE190C8-ECD9-FC1E-E07C-4477CEC70122}"/>
              </a:ext>
            </a:extLst>
          </p:cNvPr>
          <p:cNvSpPr/>
          <p:nvPr/>
        </p:nvSpPr>
        <p:spPr>
          <a:xfrm>
            <a:off x="548640" y="2900160"/>
            <a:ext cx="5897520" cy="32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u="none" strike="noStrike" dirty="0">
                <a:solidFill>
                  <a:srgbClr val="C00000"/>
                </a:solidFill>
                <a:effectLst/>
                <a:uFillTx/>
                <a:latin typeface="Calibri"/>
                <a:ea typeface="Calibri"/>
              </a:rPr>
              <a:t>O modelo precisa supor muitas coisas.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Divisor 408">
            <a:extLst>
              <a:ext uri="{FF2B5EF4-FFF2-40B4-BE49-F238E27FC236}">
                <a16:creationId xmlns:a16="http://schemas.microsoft.com/office/drawing/2014/main" id="{0C06CB93-0C3E-D48B-9BC2-AF3D60A7D2B0}"/>
              </a:ext>
            </a:extLst>
          </p:cNvPr>
          <p:cNvSpPr/>
          <p:nvPr/>
        </p:nvSpPr>
        <p:spPr>
          <a:xfrm>
            <a:off x="6840000" y="1279800"/>
            <a:ext cx="360" cy="4399920"/>
          </a:xfrm>
          <a:prstGeom prst="line">
            <a:avLst/>
          </a:prstGeom>
          <a:ln w="9525">
            <a:solidFill>
              <a:srgbClr val="C3C3C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6" name="Text 409">
            <a:extLst>
              <a:ext uri="{FF2B5EF4-FFF2-40B4-BE49-F238E27FC236}">
                <a16:creationId xmlns:a16="http://schemas.microsoft.com/office/drawing/2014/main" id="{A86FE6E4-119D-DC9D-BF15-47081F6AD0B3}"/>
              </a:ext>
            </a:extLst>
          </p:cNvPr>
          <p:cNvSpPr/>
          <p:nvPr/>
        </p:nvSpPr>
        <p:spPr>
          <a:xfrm>
            <a:off x="7250040" y="1230120"/>
            <a:ext cx="4359600" cy="31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22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Como participar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410">
            <a:extLst>
              <a:ext uri="{FF2B5EF4-FFF2-40B4-BE49-F238E27FC236}">
                <a16:creationId xmlns:a16="http://schemas.microsoft.com/office/drawing/2014/main" id="{F480ED90-9BAF-3259-7BE0-38BA9A13F729}"/>
              </a:ext>
            </a:extLst>
          </p:cNvPr>
          <p:cNvSpPr/>
          <p:nvPr/>
        </p:nvSpPr>
        <p:spPr>
          <a:xfrm>
            <a:off x="7250040" y="1620000"/>
            <a:ext cx="4359600" cy="597600"/>
          </a:xfrm>
          <a:prstGeom prst="roundRect">
            <a:avLst>
              <a:gd name="adj" fmla="val 14000"/>
            </a:avLst>
          </a:prstGeom>
          <a:solidFill>
            <a:srgbClr val="EDF2F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8" name="Text 411">
            <a:extLst>
              <a:ext uri="{FF2B5EF4-FFF2-40B4-BE49-F238E27FC236}">
                <a16:creationId xmlns:a16="http://schemas.microsoft.com/office/drawing/2014/main" id="{F1F84995-A956-7F51-F178-AAB1FC496C07}"/>
              </a:ext>
            </a:extLst>
          </p:cNvPr>
          <p:cNvSpPr/>
          <p:nvPr/>
        </p:nvSpPr>
        <p:spPr>
          <a:xfrm>
            <a:off x="7340040" y="1715040"/>
            <a:ext cx="407520" cy="407520"/>
          </a:xfrm>
          <a:prstGeom prst="ellipse">
            <a:avLst/>
          </a:prstGeom>
          <a:solidFill>
            <a:srgbClr val="2C658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412">
            <a:extLst>
              <a:ext uri="{FF2B5EF4-FFF2-40B4-BE49-F238E27FC236}">
                <a16:creationId xmlns:a16="http://schemas.microsoft.com/office/drawing/2014/main" id="{2B9A9777-EBB9-83F1-8852-265FF698F34E}"/>
              </a:ext>
            </a:extLst>
          </p:cNvPr>
          <p:cNvSpPr/>
          <p:nvPr/>
        </p:nvSpPr>
        <p:spPr>
          <a:xfrm>
            <a:off x="7930080" y="1620000"/>
            <a:ext cx="3579480" cy="59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17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Reescreva o pedido do gerenciador com contexto relevante.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413">
            <a:extLst>
              <a:ext uri="{FF2B5EF4-FFF2-40B4-BE49-F238E27FC236}">
                <a16:creationId xmlns:a16="http://schemas.microsoft.com/office/drawing/2014/main" id="{698260CF-AF62-4408-3003-6DF28D0E1BB3}"/>
              </a:ext>
            </a:extLst>
          </p:cNvPr>
          <p:cNvSpPr/>
          <p:nvPr/>
        </p:nvSpPr>
        <p:spPr>
          <a:xfrm>
            <a:off x="7250040" y="2319840"/>
            <a:ext cx="4359600" cy="597600"/>
          </a:xfrm>
          <a:prstGeom prst="roundRect">
            <a:avLst>
              <a:gd name="adj" fmla="val 14000"/>
            </a:avLst>
          </a:prstGeom>
          <a:solidFill>
            <a:srgbClr val="EDF2F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1" name="Text 414">
            <a:extLst>
              <a:ext uri="{FF2B5EF4-FFF2-40B4-BE49-F238E27FC236}">
                <a16:creationId xmlns:a16="http://schemas.microsoft.com/office/drawing/2014/main" id="{9CE6A79D-D194-3616-9D8E-08F36B243880}"/>
              </a:ext>
            </a:extLst>
          </p:cNvPr>
          <p:cNvSpPr/>
          <p:nvPr/>
        </p:nvSpPr>
        <p:spPr>
          <a:xfrm>
            <a:off x="7340040" y="2414880"/>
            <a:ext cx="407520" cy="407520"/>
          </a:xfrm>
          <a:prstGeom prst="ellipse">
            <a:avLst/>
          </a:prstGeom>
          <a:solidFill>
            <a:srgbClr val="2C658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415">
            <a:extLst>
              <a:ext uri="{FF2B5EF4-FFF2-40B4-BE49-F238E27FC236}">
                <a16:creationId xmlns:a16="http://schemas.microsoft.com/office/drawing/2014/main" id="{4A8C8463-2AA2-35FE-C924-7D4E4D5248F2}"/>
              </a:ext>
            </a:extLst>
          </p:cNvPr>
          <p:cNvSpPr/>
          <p:nvPr/>
        </p:nvSpPr>
        <p:spPr>
          <a:xfrm>
            <a:off x="7930080" y="2319840"/>
            <a:ext cx="3579480" cy="59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17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Se você tiver Claude Code ou outro agente, teste na sua máquina.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416">
            <a:extLst>
              <a:ext uri="{FF2B5EF4-FFF2-40B4-BE49-F238E27FC236}">
                <a16:creationId xmlns:a16="http://schemas.microsoft.com/office/drawing/2014/main" id="{F2670470-8379-034F-7542-FBD64822B6F6}"/>
              </a:ext>
            </a:extLst>
          </p:cNvPr>
          <p:cNvSpPr/>
          <p:nvPr/>
        </p:nvSpPr>
        <p:spPr>
          <a:xfrm>
            <a:off x="7250040" y="3020040"/>
            <a:ext cx="4359600" cy="597600"/>
          </a:xfrm>
          <a:prstGeom prst="roundRect">
            <a:avLst>
              <a:gd name="adj" fmla="val 14000"/>
            </a:avLst>
          </a:prstGeom>
          <a:solidFill>
            <a:srgbClr val="EDF2F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4" name="Text 417">
            <a:extLst>
              <a:ext uri="{FF2B5EF4-FFF2-40B4-BE49-F238E27FC236}">
                <a16:creationId xmlns:a16="http://schemas.microsoft.com/office/drawing/2014/main" id="{F9C814D8-F14A-F3DA-C879-2884958F2AAD}"/>
              </a:ext>
            </a:extLst>
          </p:cNvPr>
          <p:cNvSpPr/>
          <p:nvPr/>
        </p:nvSpPr>
        <p:spPr>
          <a:xfrm>
            <a:off x="7340040" y="3115080"/>
            <a:ext cx="407520" cy="407520"/>
          </a:xfrm>
          <a:prstGeom prst="ellipse">
            <a:avLst/>
          </a:prstGeom>
          <a:solidFill>
            <a:srgbClr val="2C658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418">
            <a:extLst>
              <a:ext uri="{FF2B5EF4-FFF2-40B4-BE49-F238E27FC236}">
                <a16:creationId xmlns:a16="http://schemas.microsoft.com/office/drawing/2014/main" id="{C01F00A1-A33A-B4D5-620A-FFA0327B21FA}"/>
              </a:ext>
            </a:extLst>
          </p:cNvPr>
          <p:cNvSpPr/>
          <p:nvPr/>
        </p:nvSpPr>
        <p:spPr>
          <a:xfrm>
            <a:off x="7930080" y="3020040"/>
            <a:ext cx="3579480" cy="59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17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Sem agente? Anote seu pedido e acompanhe o teste projetado.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419">
            <a:extLst>
              <a:ext uri="{FF2B5EF4-FFF2-40B4-BE49-F238E27FC236}">
                <a16:creationId xmlns:a16="http://schemas.microsoft.com/office/drawing/2014/main" id="{3EECF847-605A-2DB6-682D-97C40680EB0E}"/>
              </a:ext>
            </a:extLst>
          </p:cNvPr>
          <p:cNvSpPr/>
          <p:nvPr/>
        </p:nvSpPr>
        <p:spPr>
          <a:xfrm>
            <a:off x="7250040" y="3719880"/>
            <a:ext cx="4359600" cy="597600"/>
          </a:xfrm>
          <a:prstGeom prst="roundRect">
            <a:avLst>
              <a:gd name="adj" fmla="val 14000"/>
            </a:avLst>
          </a:prstGeom>
          <a:solidFill>
            <a:srgbClr val="EDF2F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7" name="Text 420">
            <a:extLst>
              <a:ext uri="{FF2B5EF4-FFF2-40B4-BE49-F238E27FC236}">
                <a16:creationId xmlns:a16="http://schemas.microsoft.com/office/drawing/2014/main" id="{ADB090F2-478B-D2ED-E56A-2C20BA22E2F8}"/>
              </a:ext>
            </a:extLst>
          </p:cNvPr>
          <p:cNvSpPr/>
          <p:nvPr/>
        </p:nvSpPr>
        <p:spPr>
          <a:xfrm>
            <a:off x="7340040" y="3814920"/>
            <a:ext cx="407520" cy="407520"/>
          </a:xfrm>
          <a:prstGeom prst="ellipse">
            <a:avLst/>
          </a:prstGeom>
          <a:solidFill>
            <a:srgbClr val="2C658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421">
            <a:extLst>
              <a:ext uri="{FF2B5EF4-FFF2-40B4-BE49-F238E27FC236}">
                <a16:creationId xmlns:a16="http://schemas.microsoft.com/office/drawing/2014/main" id="{B28F1FC7-C960-F6CD-415B-90AA06924731}"/>
              </a:ext>
            </a:extLst>
          </p:cNvPr>
          <p:cNvSpPr/>
          <p:nvPr/>
        </p:nvSpPr>
        <p:spPr>
          <a:xfrm>
            <a:off x="7930080" y="3719880"/>
            <a:ext cx="3579480" cy="59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1700" b="0" u="none" strike="noStrike" dirty="0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Compare as saídas e explique o que fez diferença.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424">
            <a:extLst>
              <a:ext uri="{FF2B5EF4-FFF2-40B4-BE49-F238E27FC236}">
                <a16:creationId xmlns:a16="http://schemas.microsoft.com/office/drawing/2014/main" id="{470576EB-F382-DE14-3E3F-2323337DEE02}"/>
              </a:ext>
            </a:extLst>
          </p:cNvPr>
          <p:cNvSpPr/>
          <p:nvPr/>
        </p:nvSpPr>
        <p:spPr>
          <a:xfrm>
            <a:off x="548640" y="5900040"/>
            <a:ext cx="11061000" cy="477360"/>
          </a:xfrm>
          <a:prstGeom prst="roundRect">
            <a:avLst>
              <a:gd name="adj" fmla="val 12000"/>
            </a:avLst>
          </a:prstGeom>
          <a:solidFill>
            <a:srgbClr val="F1F1F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28600" tIns="0" rIns="22860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2000" b="1" i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Pergunta para observar: </a:t>
            </a:r>
            <a:r>
              <a:rPr lang="pt-BR" sz="2000" b="0" i="1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o que foi adicionado de contexto, e o que realmente ajudou?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PlaceHolder 2">
            <a:extLst>
              <a:ext uri="{FF2B5EF4-FFF2-40B4-BE49-F238E27FC236}">
                <a16:creationId xmlns:a16="http://schemas.microsoft.com/office/drawing/2014/main" id="{96DC0348-2E66-1A9D-DECE-E9138300B9C5}"/>
              </a:ext>
            </a:extLst>
          </p:cNvPr>
          <p:cNvSpPr>
            <a:spLocks noGrp="1"/>
          </p:cNvSpPr>
          <p:nvPr>
            <p:ph type="sldNum" idx="43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F035F82-1312-4EFD-B34F-4BEDF1CEAF78}" type="slidenum">
              <a: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39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551803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CC95C-7B86-FC47-8B8B-2C4E288EE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ECDCD2-D4AD-CB08-E201-47768C53EC1B}"/>
              </a:ext>
            </a:extLst>
          </p:cNvPr>
          <p:cNvSpPr txBox="1"/>
          <p:nvPr/>
        </p:nvSpPr>
        <p:spPr>
          <a:xfrm>
            <a:off x="548640" y="384048"/>
            <a:ext cx="110947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200" b="1">
                <a:solidFill>
                  <a:srgbClr val="333333"/>
                </a:solidFill>
                <a:latin typeface="Calibri" panose="020F0502020204030204" pitchFamily="34" charset="0"/>
              </a:rPr>
              <a:t>Acesse o formulário da atividade.</a:t>
            </a:r>
          </a:p>
        </p:txBody>
      </p:sp>
      <p:pic>
        <p:nvPicPr>
          <p:cNvPr id="4" name="Picture 3" descr="QR code para https://forms.gle/i2i2JLhWn9RxTtuQ8">
            <a:hlinkClick r:id="rId3"/>
            <a:extLst>
              <a:ext uri="{FF2B5EF4-FFF2-40B4-BE49-F238E27FC236}">
                <a16:creationId xmlns:a16="http://schemas.microsoft.com/office/drawing/2014/main" id="{2910380D-7E91-82EC-7844-1C5D03C9019F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300" y="1587500"/>
            <a:ext cx="3835400" cy="3835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E13323-045D-34D9-82D6-C02CA0D50340}"/>
              </a:ext>
            </a:extLst>
          </p:cNvPr>
          <p:cNvSpPr txBox="1"/>
          <p:nvPr/>
        </p:nvSpPr>
        <p:spPr>
          <a:xfrm>
            <a:off x="1270000" y="5270500"/>
            <a:ext cx="9652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4200" dirty="0">
                <a:solidFill>
                  <a:srgbClr val="2C658C"/>
                </a:solidFill>
                <a:latin typeface="Calibri" panose="020F0502020204030204" pitchFamily="34" charset="0"/>
                <a:hlinkClick r:id="rId3"/>
              </a:rPr>
              <a:t>https://forms.gle/i2i2JLhWn9RxTtuQ8</a:t>
            </a:r>
            <a:endParaRPr lang="pt-BR" sz="4000" dirty="0">
              <a:solidFill>
                <a:srgbClr val="2C658C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7D7F59-76F4-7D7A-BB7C-539C5EEC8E32}"/>
              </a:ext>
            </a:extLst>
          </p:cNvPr>
          <p:cNvSpPr txBox="1"/>
          <p:nvPr/>
        </p:nvSpPr>
        <p:spPr>
          <a:xfrm>
            <a:off x="11155680" y="6400800"/>
            <a:ext cx="45396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1300">
                <a:solidFill>
                  <a:srgbClr val="666666"/>
                </a:solidFill>
                <a:latin typeface="Calibri" panose="020F0502020204030204" pitchFamily="34" charset="0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3046203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Em resumo: o modelo gera, o harness executa e o contexto orienta.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4" name="Text 1"/>
          <p:cNvSpPr/>
          <p:nvPr/>
        </p:nvSpPr>
        <p:spPr>
          <a:xfrm>
            <a:off x="548640" y="2381400"/>
            <a:ext cx="3190320" cy="16740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52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LLM</a:t>
            </a:r>
            <a:endParaRPr lang="en-US" sz="2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2"/>
          <p:cNvSpPr/>
          <p:nvPr/>
        </p:nvSpPr>
        <p:spPr>
          <a:xfrm>
            <a:off x="548640" y="4267080"/>
            <a:ext cx="3190320" cy="95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5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Gera a próxima saída em texto.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10"/>
          <p:cNvSpPr/>
          <p:nvPr/>
        </p:nvSpPr>
        <p:spPr>
          <a:xfrm>
            <a:off x="4480560" y="2381400"/>
            <a:ext cx="3190320" cy="16740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52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Harness</a:t>
            </a:r>
            <a:endParaRPr lang="en-US" sz="2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11"/>
          <p:cNvSpPr/>
          <p:nvPr/>
        </p:nvSpPr>
        <p:spPr>
          <a:xfrm>
            <a:off x="4480560" y="4267080"/>
            <a:ext cx="3190320" cy="95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5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Gerencia ferramentas, permissões e loop.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14"/>
          <p:cNvSpPr/>
          <p:nvPr/>
        </p:nvSpPr>
        <p:spPr>
          <a:xfrm>
            <a:off x="714240" y="5477040"/>
            <a:ext cx="10760760" cy="51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929" b="1" u="none" strike="noStrike">
                <a:solidFill>
                  <a:srgbClr val="1B8457"/>
                </a:solidFill>
                <a:effectLst/>
                <a:uFillTx/>
                <a:latin typeface="Calibri"/>
                <a:ea typeface="Calibri"/>
              </a:rPr>
              <a:t>O agente repete o ciclo: observa, decide, age e incorpora o resultado.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16"/>
          <p:cNvSpPr/>
          <p:nvPr/>
        </p:nvSpPr>
        <p:spPr>
          <a:xfrm>
            <a:off x="8412480" y="2381400"/>
            <a:ext cx="3190320" cy="16740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52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Contexto</a:t>
            </a:r>
            <a:endParaRPr lang="en-US" sz="2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17"/>
          <p:cNvSpPr/>
          <p:nvPr/>
        </p:nvSpPr>
        <p:spPr>
          <a:xfrm>
            <a:off x="8412480" y="4267080"/>
            <a:ext cx="3190320" cy="95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5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Context engineering seleciona o que a LLM vê.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PlaceHolder 2"/>
          <p:cNvSpPr>
            <a:spLocks noGrp="1"/>
          </p:cNvSpPr>
          <p:nvPr>
            <p:ph type="sldNum" idx="44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42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No segundo encontro, vamos aprender a trabalhar com agentes na prática.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3" name="Text 1"/>
          <p:cNvSpPr/>
          <p:nvPr/>
        </p:nvSpPr>
        <p:spPr>
          <a:xfrm>
            <a:off x="548640" y="2103120"/>
            <a:ext cx="3837240" cy="127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8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Dia 2</a:t>
            </a:r>
            <a:endParaRPr lang="en-U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2"/>
          <p:cNvSpPr/>
          <p:nvPr/>
        </p:nvSpPr>
        <p:spPr>
          <a:xfrm>
            <a:off x="548640" y="3429000"/>
            <a:ext cx="3837240" cy="45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0" u="none" strike="noStrike">
                <a:solidFill>
                  <a:schemeClr val="lt2"/>
                </a:solidFill>
                <a:effectLst/>
                <a:uFillTx/>
                <a:latin typeface="Calibri"/>
                <a:ea typeface="Calibri"/>
              </a:rPr>
              <a:t>18:45 às 22:00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3"/>
          <p:cNvSpPr/>
          <p:nvPr/>
        </p:nvSpPr>
        <p:spPr>
          <a:xfrm>
            <a:off x="5120640" y="1920240"/>
            <a:ext cx="6489000" cy="65520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3040" tIns="203040" rIns="203040" bIns="203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1   </a:t>
            </a:r>
            <a:r>
              <a:rPr lang="pt-BR" sz="22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Rules e skills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4"/>
          <p:cNvSpPr/>
          <p:nvPr/>
        </p:nvSpPr>
        <p:spPr>
          <a:xfrm>
            <a:off x="5120640" y="2761560"/>
            <a:ext cx="6489000" cy="65520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3040" tIns="203040" rIns="203040" bIns="203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2   </a:t>
            </a:r>
            <a:r>
              <a:rPr lang="pt-BR" sz="22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Tools e MCP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5"/>
          <p:cNvSpPr/>
          <p:nvPr/>
        </p:nvSpPr>
        <p:spPr>
          <a:xfrm>
            <a:off x="5120640" y="3602880"/>
            <a:ext cx="6489000" cy="65520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3040" tIns="203040" rIns="203040" bIns="203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3   </a:t>
            </a:r>
            <a:r>
              <a:rPr lang="pt-BR" sz="22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Memória e subagentes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6"/>
          <p:cNvSpPr/>
          <p:nvPr/>
        </p:nvSpPr>
        <p:spPr>
          <a:xfrm>
            <a:off x="5120640" y="4443840"/>
            <a:ext cx="6489000" cy="65520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3040" tIns="203040" rIns="203040" bIns="203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4   </a:t>
            </a:r>
            <a:r>
              <a:rPr lang="pt-BR" sz="22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Specs e revisão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7"/>
          <p:cNvSpPr/>
          <p:nvPr/>
        </p:nvSpPr>
        <p:spPr>
          <a:xfrm>
            <a:off x="5120640" y="5285160"/>
            <a:ext cx="6489000" cy="65520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3040" tIns="203040" rIns="203040" bIns="203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5   Prática final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PlaceHolder 2"/>
          <p:cNvSpPr>
            <a:spLocks noGrp="1"/>
          </p:cNvSpPr>
          <p:nvPr>
            <p:ph type="sldNum" idx="45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6"/>
                </a:solidFill>
                <a:effectLst/>
                <a:uFillTx/>
                <a:latin typeface="Calibri"/>
                <a:ea typeface="Calibri"/>
              </a:rPr>
              <a:t>43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Revisão: quem gera, quem executa e quem orienta?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2" name="Text 1"/>
          <p:cNvSpPr/>
          <p:nvPr/>
        </p:nvSpPr>
        <p:spPr>
          <a:xfrm>
            <a:off x="548640" y="2381400"/>
            <a:ext cx="3190320" cy="16740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52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LLM</a:t>
            </a:r>
            <a:endParaRPr lang="en-US" sz="2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2"/>
          <p:cNvSpPr/>
          <p:nvPr/>
        </p:nvSpPr>
        <p:spPr>
          <a:xfrm>
            <a:off x="548640" y="4267080"/>
            <a:ext cx="3190320" cy="95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5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Como a saída é gerada token por token?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10"/>
          <p:cNvSpPr/>
          <p:nvPr/>
        </p:nvSpPr>
        <p:spPr>
          <a:xfrm>
            <a:off x="4480560" y="2381400"/>
            <a:ext cx="3190320" cy="16740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52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Harness</a:t>
            </a:r>
            <a:endParaRPr lang="en-US" sz="2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11"/>
          <p:cNvSpPr/>
          <p:nvPr/>
        </p:nvSpPr>
        <p:spPr>
          <a:xfrm>
            <a:off x="4480560" y="4267080"/>
            <a:ext cx="3190320" cy="95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5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Quem chama ferramentas e aplica permissões?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14"/>
          <p:cNvSpPr/>
          <p:nvPr/>
        </p:nvSpPr>
        <p:spPr>
          <a:xfrm>
            <a:off x="714240" y="5477040"/>
            <a:ext cx="10760760" cy="51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929" b="1" u="none" strike="noStrike">
                <a:solidFill>
                  <a:srgbClr val="1B8457"/>
                </a:solidFill>
                <a:effectLst/>
                <a:uFillTx/>
                <a:latin typeface="Calibri"/>
                <a:ea typeface="Calibri"/>
              </a:rPr>
              <a:t>Aplique as três respostas ao gerenciador financeiro.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16"/>
          <p:cNvSpPr/>
          <p:nvPr/>
        </p:nvSpPr>
        <p:spPr>
          <a:xfrm>
            <a:off x="8412480" y="2381400"/>
            <a:ext cx="3190320" cy="16740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52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Contexto</a:t>
            </a:r>
            <a:endParaRPr lang="en-US" sz="2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17"/>
          <p:cNvSpPr/>
          <p:nvPr/>
        </p:nvSpPr>
        <p:spPr>
          <a:xfrm>
            <a:off x="8412480" y="4267080"/>
            <a:ext cx="3190320" cy="95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5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O que precisa entrar na janela de contexto?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PlaceHolder 2"/>
          <p:cNvSpPr>
            <a:spLocks noGrp="1"/>
          </p:cNvSpPr>
          <p:nvPr>
            <p:ph type="sldNum" idx="46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44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Cada mecanismo ajuda o agente de uma maneira diferente.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1" name="Text 1"/>
          <p:cNvSpPr/>
          <p:nvPr/>
        </p:nvSpPr>
        <p:spPr>
          <a:xfrm>
            <a:off x="548640" y="3209400"/>
            <a:ext cx="2008440" cy="145980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Agente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2"/>
          <p:cNvSpPr/>
          <p:nvPr/>
        </p:nvSpPr>
        <p:spPr>
          <a:xfrm>
            <a:off x="3383280" y="1783080"/>
            <a:ext cx="4020120" cy="728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Instruções do projeto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3"/>
          <p:cNvSpPr/>
          <p:nvPr/>
        </p:nvSpPr>
        <p:spPr>
          <a:xfrm>
            <a:off x="7589520" y="1783080"/>
            <a:ext cx="4020120" cy="728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Rules · AGENTS.md · CLAUDE.md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4"/>
          <p:cNvSpPr/>
          <p:nvPr/>
        </p:nvSpPr>
        <p:spPr>
          <a:xfrm flipV="1">
            <a:off x="2651760" y="2148480"/>
            <a:ext cx="640080" cy="1792440"/>
          </a:xfrm>
          <a:prstGeom prst="line">
            <a:avLst/>
          </a:prstGeom>
          <a:ln w="15875">
            <a:solidFill>
              <a:srgbClr val="6666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535" name="Text 5"/>
          <p:cNvSpPr/>
          <p:nvPr/>
        </p:nvSpPr>
        <p:spPr>
          <a:xfrm>
            <a:off x="3383280" y="2679120"/>
            <a:ext cx="4020120" cy="728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Conhecimento e procedimentos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6"/>
          <p:cNvSpPr/>
          <p:nvPr/>
        </p:nvSpPr>
        <p:spPr>
          <a:xfrm>
            <a:off x="7589520" y="2679120"/>
            <a:ext cx="4020120" cy="728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Skills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Shape 7"/>
          <p:cNvSpPr/>
          <p:nvPr/>
        </p:nvSpPr>
        <p:spPr>
          <a:xfrm flipV="1">
            <a:off x="2651760" y="3044880"/>
            <a:ext cx="640080" cy="896040"/>
          </a:xfrm>
          <a:prstGeom prst="line">
            <a:avLst/>
          </a:prstGeom>
          <a:ln w="15875">
            <a:solidFill>
              <a:srgbClr val="6666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538" name="Text 8"/>
          <p:cNvSpPr/>
          <p:nvPr/>
        </p:nvSpPr>
        <p:spPr>
          <a:xfrm>
            <a:off x="3383280" y="3575160"/>
            <a:ext cx="4020120" cy="728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Capacidades externas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9"/>
          <p:cNvSpPr/>
          <p:nvPr/>
        </p:nvSpPr>
        <p:spPr>
          <a:xfrm>
            <a:off x="7589520" y="3575160"/>
            <a:ext cx="4020120" cy="728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Tools · MCP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10"/>
          <p:cNvSpPr/>
          <p:nvPr/>
        </p:nvSpPr>
        <p:spPr>
          <a:xfrm>
            <a:off x="2651760" y="3940920"/>
            <a:ext cx="640080" cy="360"/>
          </a:xfrm>
          <a:prstGeom prst="line">
            <a:avLst/>
          </a:prstGeom>
          <a:ln w="15875">
            <a:solidFill>
              <a:srgbClr val="6666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541" name="Text 11"/>
          <p:cNvSpPr/>
          <p:nvPr/>
        </p:nvSpPr>
        <p:spPr>
          <a:xfrm>
            <a:off x="3383280" y="4471560"/>
            <a:ext cx="4020120" cy="728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Contexto de trabalhos longos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12"/>
          <p:cNvSpPr/>
          <p:nvPr/>
        </p:nvSpPr>
        <p:spPr>
          <a:xfrm>
            <a:off x="7589520" y="4471560"/>
            <a:ext cx="4020120" cy="728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Memória · Subagentes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13"/>
          <p:cNvSpPr/>
          <p:nvPr/>
        </p:nvSpPr>
        <p:spPr>
          <a:xfrm>
            <a:off x="2651760" y="3940920"/>
            <a:ext cx="640080" cy="896040"/>
          </a:xfrm>
          <a:prstGeom prst="line">
            <a:avLst/>
          </a:prstGeom>
          <a:ln w="15875">
            <a:solidFill>
              <a:srgbClr val="6666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544" name="Text 14"/>
          <p:cNvSpPr/>
          <p:nvPr/>
        </p:nvSpPr>
        <p:spPr>
          <a:xfrm>
            <a:off x="3383280" y="5367600"/>
            <a:ext cx="4020120" cy="728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Trabalho a realizar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15"/>
          <p:cNvSpPr/>
          <p:nvPr/>
        </p:nvSpPr>
        <p:spPr>
          <a:xfrm>
            <a:off x="7589520" y="5367600"/>
            <a:ext cx="4020120" cy="728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Spec · Plano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16"/>
          <p:cNvSpPr/>
          <p:nvPr/>
        </p:nvSpPr>
        <p:spPr>
          <a:xfrm>
            <a:off x="2651760" y="3940920"/>
            <a:ext cx="640080" cy="1792080"/>
          </a:xfrm>
          <a:prstGeom prst="line">
            <a:avLst/>
          </a:prstGeom>
          <a:ln w="15875">
            <a:solidFill>
              <a:srgbClr val="6666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547" name="PlaceHolder 2"/>
          <p:cNvSpPr>
            <a:spLocks noGrp="1"/>
          </p:cNvSpPr>
          <p:nvPr>
            <p:ph type="sldNum" idx="47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AGENTS 2"/>
          <p:cNvSpPr/>
          <p:nvPr/>
        </p:nvSpPr>
        <p:spPr>
          <a:xfrm>
            <a:off x="548640" y="384120"/>
            <a:ext cx="11063520" cy="109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3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AGENTS.md reúne instruções do projeto para agentes de código.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AGENTS 10"/>
          <p:cNvSpPr/>
          <p:nvPr/>
        </p:nvSpPr>
        <p:spPr>
          <a:xfrm>
            <a:off x="548640" y="1554480"/>
            <a:ext cx="110635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README: apresenta o projeto às pessoas. AGENTS.md: orienta o trabalho do agente.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AGENTS 11"/>
          <p:cNvSpPr/>
          <p:nvPr/>
        </p:nvSpPr>
        <p:spPr>
          <a:xfrm>
            <a:off x="548640" y="2194560"/>
            <a:ext cx="6765840" cy="37490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7840" tIns="177840" rIns="177840" bIns="17784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900" b="0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 AGENTS.md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1900" b="0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## Projeto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- React + TypeScript; API de finanças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1900" b="0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## Comandos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- Dev: npm run dev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- Build: npm run build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- Testes: npm test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- Lint: npm run lint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1900" b="0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## Convenções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- TypeScript estrito; testar mudanças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1900" b="0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## Limites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- Não editar /generated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AGENTS 14"/>
          <p:cNvSpPr/>
          <p:nvPr/>
        </p:nvSpPr>
        <p:spPr>
          <a:xfrm>
            <a:off x="7863840" y="3429000"/>
            <a:ext cx="37483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300" b="1" u="none" strike="noStrike">
                <a:solidFill>
                  <a:srgbClr val="1B8457"/>
                </a:solidFill>
                <a:effectLst/>
                <a:uFillTx/>
                <a:latin typeface="Calibri"/>
              </a:rPr>
              <a:t>Instruções concretas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AGENTS 15"/>
          <p:cNvSpPr/>
          <p:nvPr/>
        </p:nvSpPr>
        <p:spPr>
          <a:xfrm>
            <a:off x="7863840" y="3886200"/>
            <a:ext cx="374832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Comandos, estilo e limites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2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que valem no projeto.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AGENTS 16"/>
          <p:cNvSpPr/>
          <p:nvPr/>
        </p:nvSpPr>
        <p:spPr>
          <a:xfrm>
            <a:off x="7863840" y="4937760"/>
            <a:ext cx="37483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300" b="1" u="none" strike="noStrike">
                <a:solidFill>
                  <a:srgbClr val="1B8457"/>
                </a:solidFill>
                <a:effectLst/>
                <a:uFillTx/>
                <a:latin typeface="Calibri"/>
              </a:rPr>
              <a:t>Documento vivo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AGENTS 17"/>
          <p:cNvSpPr/>
          <p:nvPr/>
        </p:nvSpPr>
        <p:spPr>
          <a:xfrm>
            <a:off x="7863840" y="5394960"/>
            <a:ext cx="37483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Atualize junto com o código.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AGENTS 18"/>
          <p:cNvSpPr/>
          <p:nvPr/>
        </p:nvSpPr>
        <p:spPr>
          <a:xfrm>
            <a:off x="548640" y="6080760"/>
            <a:ext cx="1078920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4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Fonte: https://agents.md/ · exemplo adaptado ao gerenciador financeiro.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AGENTS 99"/>
          <p:cNvSpPr/>
          <p:nvPr/>
        </p:nvSpPr>
        <p:spPr>
          <a:xfrm>
            <a:off x="11155680" y="640080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2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46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AGENTS 2"/>
          <p:cNvSpPr/>
          <p:nvPr/>
        </p:nvSpPr>
        <p:spPr>
          <a:xfrm>
            <a:off x="548640" y="384120"/>
            <a:ext cx="11063520" cy="109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3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Instruções por subpasta detalham as regras da raiz.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AGENTS 10"/>
          <p:cNvSpPr/>
          <p:nvPr/>
        </p:nvSpPr>
        <p:spPr>
          <a:xfrm>
            <a:off x="548640" y="1828800"/>
            <a:ext cx="5394240" cy="33825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7840" tIns="177840" rIns="177840" bIns="17784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200" b="0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projeto/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22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├── AGENTS.md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22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├── api/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22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│   ├── AGENTS.md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22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│   └── lancamentos.ts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22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└── web/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22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└── App.tsx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AGENTS 11"/>
          <p:cNvSpPr/>
          <p:nvPr/>
        </p:nvSpPr>
        <p:spPr>
          <a:xfrm>
            <a:off x="6446520" y="1828800"/>
            <a:ext cx="511992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500" b="1" u="none" strike="noStrike">
                <a:solidFill>
                  <a:srgbClr val="1B8457"/>
                </a:solidFill>
                <a:effectLst/>
                <a:uFillTx/>
                <a:latin typeface="Calibri"/>
              </a:rPr>
              <a:t>Raiz → projeto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AGENTS 12"/>
          <p:cNvSpPr/>
          <p:nvPr/>
        </p:nvSpPr>
        <p:spPr>
          <a:xfrm>
            <a:off x="6446520" y="2331720"/>
            <a:ext cx="511992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Define comandos e convenções comuns.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AGENTS 13"/>
          <p:cNvSpPr/>
          <p:nvPr/>
        </p:nvSpPr>
        <p:spPr>
          <a:xfrm>
            <a:off x="6446520" y="3200400"/>
            <a:ext cx="511992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500" b="1" u="none" strike="noStrike">
                <a:solidFill>
                  <a:srgbClr val="1B8457"/>
                </a:solidFill>
                <a:effectLst/>
                <a:uFillTx/>
                <a:latin typeface="Calibri"/>
              </a:rPr>
              <a:t>api/ → regras locais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AGENTS 14"/>
          <p:cNvSpPr/>
          <p:nvPr/>
        </p:nvSpPr>
        <p:spPr>
          <a:xfrm>
            <a:off x="6446520" y="3703320"/>
            <a:ext cx="511992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Em conflitos, prevalece o AGENTS.md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2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mais próximo do arquivo editado.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AGENTS 15"/>
          <p:cNvSpPr/>
          <p:nvPr/>
        </p:nvSpPr>
        <p:spPr>
          <a:xfrm>
            <a:off x="6446520" y="4800600"/>
            <a:ext cx="511992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300" b="1" u="none" strike="noStrike">
                <a:solidFill>
                  <a:srgbClr val="1B8457"/>
                </a:solidFill>
                <a:effectLst/>
                <a:uFillTx/>
                <a:latin typeface="Calibri"/>
              </a:rPr>
              <a:t>Pedido explícito → orientação da tarefa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AGENTS 16"/>
          <p:cNvSpPr/>
          <p:nvPr/>
        </p:nvSpPr>
        <p:spPr>
          <a:xfrm>
            <a:off x="6446520" y="5303520"/>
            <a:ext cx="511992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 agente dá prioridade ao pedido do usuário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2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sobre as instruções do arquivo.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AGENTS 17"/>
          <p:cNvSpPr/>
          <p:nvPr/>
        </p:nvSpPr>
        <p:spPr>
          <a:xfrm>
            <a:off x="548640" y="6217920"/>
            <a:ext cx="1078920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4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Fonte: https://agents.md/ · confirme suporte e leitura no cliente usado na aula.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AGENTS 99"/>
          <p:cNvSpPr/>
          <p:nvPr/>
        </p:nvSpPr>
        <p:spPr>
          <a:xfrm>
            <a:off x="11155680" y="640080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2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47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Skills carregam procedimentos sob demanda: só a descrição fica sempre no contexto.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8" name="Text 1"/>
          <p:cNvSpPr/>
          <p:nvPr/>
        </p:nvSpPr>
        <p:spPr>
          <a:xfrm>
            <a:off x="548640" y="1965960"/>
            <a:ext cx="475164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Sempre no contexto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2"/>
          <p:cNvSpPr/>
          <p:nvPr/>
        </p:nvSpPr>
        <p:spPr>
          <a:xfrm>
            <a:off x="548640" y="2468880"/>
            <a:ext cx="4751640" cy="86544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25400">
            <a:solidFill>
              <a:srgbClr val="1B84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7840" tIns="177840" rIns="177840" bIns="177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revisar-pr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BR" sz="16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checa testes, estilo e riscos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3"/>
          <p:cNvSpPr/>
          <p:nvPr/>
        </p:nvSpPr>
        <p:spPr>
          <a:xfrm>
            <a:off x="548640" y="3520440"/>
            <a:ext cx="4751640" cy="86544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7840" tIns="177840" rIns="177840" bIns="177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gerar-migracao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BR" sz="16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cria migrações de banco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4"/>
          <p:cNvSpPr/>
          <p:nvPr/>
        </p:nvSpPr>
        <p:spPr>
          <a:xfrm>
            <a:off x="548640" y="4572000"/>
            <a:ext cx="4751640" cy="86544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7840" tIns="177840" rIns="177840" bIns="177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escrever-spec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BR" sz="16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estrutura uma especificação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5"/>
          <p:cNvSpPr/>
          <p:nvPr/>
        </p:nvSpPr>
        <p:spPr>
          <a:xfrm>
            <a:off x="5394960" y="2903040"/>
            <a:ext cx="1280160" cy="360"/>
          </a:xfrm>
          <a:prstGeom prst="line">
            <a:avLst/>
          </a:prstGeom>
          <a:ln w="25400">
            <a:solidFill>
              <a:srgbClr val="1B845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573" name="Text 6"/>
          <p:cNvSpPr/>
          <p:nvPr/>
        </p:nvSpPr>
        <p:spPr>
          <a:xfrm>
            <a:off x="5303520" y="2971800"/>
            <a:ext cx="1459800" cy="54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a tarefa combina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7"/>
          <p:cNvSpPr/>
          <p:nvPr/>
        </p:nvSpPr>
        <p:spPr>
          <a:xfrm>
            <a:off x="6766560" y="1965960"/>
            <a:ext cx="484308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Carregado só quando acionada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8"/>
          <p:cNvSpPr/>
          <p:nvPr/>
        </p:nvSpPr>
        <p:spPr>
          <a:xfrm>
            <a:off x="6766560" y="2468880"/>
            <a:ext cx="4843080" cy="2968560"/>
          </a:xfrm>
          <a:prstGeom prst="roundRect">
            <a:avLst>
              <a:gd name="adj" fmla="val 2462"/>
            </a:avLst>
          </a:prstGeom>
          <a:solidFill>
            <a:schemeClr val="tx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7840" tIns="177840" rIns="177840" bIns="177840" anchor="t">
            <a:noAutofit/>
          </a:bodyPr>
          <a:lstStyle/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pt-BR" sz="1900" b="1" u="none" strike="noStrike">
                <a:solidFill>
                  <a:schemeClr val="accent2"/>
                </a:solidFill>
                <a:effectLst/>
                <a:uFillTx/>
                <a:latin typeface="Courier New"/>
                <a:ea typeface="Courier New"/>
              </a:rPr>
              <a:t>revisar-pr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1. Leia o diff completo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2. Rode os testes afetados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3. Liste riscos por severidade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PlaceHolder 2"/>
          <p:cNvSpPr>
            <a:spLocks noGrp="1"/>
          </p:cNvSpPr>
          <p:nvPr>
            <p:ph type="sldNum" idx="48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48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AGENTS 2"/>
          <p:cNvSpPr/>
          <p:nvPr/>
        </p:nvSpPr>
        <p:spPr>
          <a:xfrm>
            <a:off x="548640" y="384120"/>
            <a:ext cx="1106388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3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Uma skill combina SKILL.md com arquivos de apoio opcionais.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AGENTS 10"/>
          <p:cNvSpPr/>
          <p:nvPr/>
        </p:nvSpPr>
        <p:spPr>
          <a:xfrm>
            <a:off x="548640" y="178308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200" b="1" u="none" strike="noStrike">
                <a:solidFill>
                  <a:srgbClr val="1B8457"/>
                </a:solidFill>
                <a:effectLst/>
                <a:uFillTx/>
                <a:latin typeface="Calibri"/>
              </a:rPr>
              <a:t>SKILL.md · instruções da skill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AGENTS 11"/>
          <p:cNvSpPr/>
          <p:nvPr/>
        </p:nvSpPr>
        <p:spPr>
          <a:xfrm>
            <a:off x="548640" y="2286000"/>
            <a:ext cx="6400440" cy="292572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7840" tIns="177840" rIns="177840" bIns="17784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900" b="0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---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1900" b="0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name: escrever-spec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1900" b="0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description: Use para especificar uma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feature com critérios de aceite.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---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1. Pergunte regras e casos-limite.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2. Liste critérios verificáveis.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3. Salve em specs/financas.md.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4. Use templates/spec.md como modelo.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AGENTS 12"/>
          <p:cNvSpPr/>
          <p:nvPr/>
        </p:nvSpPr>
        <p:spPr>
          <a:xfrm>
            <a:off x="548640" y="5394960"/>
            <a:ext cx="6400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Cabeçalho: quando usar. Corpo: como fazer.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AGENTS 13"/>
          <p:cNvSpPr/>
          <p:nvPr/>
        </p:nvSpPr>
        <p:spPr>
          <a:xfrm>
            <a:off x="7315200" y="1783080"/>
            <a:ext cx="4297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200" b="1" u="none" strike="noStrike">
                <a:solidFill>
                  <a:srgbClr val="1B8457"/>
                </a:solidFill>
                <a:effectLst/>
                <a:uFillTx/>
                <a:latin typeface="Calibri"/>
              </a:rPr>
              <a:t>Pastas de apoio · opcionais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AGENTS 14"/>
          <p:cNvSpPr/>
          <p:nvPr/>
        </p:nvSpPr>
        <p:spPr>
          <a:xfrm>
            <a:off x="7315200" y="2286000"/>
            <a:ext cx="4297320" cy="228600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7840" tIns="177840" rIns="177840" bIns="17784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200" b="0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escrever-spec/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2200" b="0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├── SKILL.md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2200" b="0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├── references/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2200" b="0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├── resources/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2200" b="0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├── templates/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2200" b="0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└── scripts/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AGENTS 15"/>
          <p:cNvSpPr/>
          <p:nvPr/>
        </p:nvSpPr>
        <p:spPr>
          <a:xfrm>
            <a:off x="7315200" y="4663800"/>
            <a:ext cx="429732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9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references/ → documentação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19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resources/ → arquivos e materiais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19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templates/ → modelos reutilizáveis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19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scripts/ → código executável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AGENTS 16"/>
          <p:cNvSpPr/>
          <p:nvPr/>
        </p:nvSpPr>
        <p:spPr>
          <a:xfrm>
            <a:off x="548640" y="5943600"/>
            <a:ext cx="110638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000" b="0" u="none" strike="noStrike">
                <a:solidFill>
                  <a:srgbClr val="1B8457"/>
                </a:solidFill>
                <a:effectLst/>
                <a:uFillTx/>
                <a:latin typeface="Calibri"/>
              </a:rPr>
              <a:t>SKILL.md indica quais arquivos consultar ou scripts executar quando necessário.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AGENTS 17"/>
          <p:cNvSpPr/>
          <p:nvPr/>
        </p:nvSpPr>
        <p:spPr>
          <a:xfrm>
            <a:off x="548640" y="6339960"/>
            <a:ext cx="10515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4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Fonte: agentskills.io/specification · nomes ilustrativos; assets/ também pode reunir recursos e templates.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AGENTS 99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2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49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Uma tool é uma função descrita para o modelo, que o harness executa quando o modelo pede.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8" name="Text 1"/>
          <p:cNvSpPr/>
          <p:nvPr/>
        </p:nvSpPr>
        <p:spPr>
          <a:xfrm>
            <a:off x="548640" y="1691640"/>
            <a:ext cx="566604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O que o modelo vê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 2"/>
          <p:cNvSpPr/>
          <p:nvPr/>
        </p:nvSpPr>
        <p:spPr>
          <a:xfrm>
            <a:off x="548640" y="2194560"/>
            <a:ext cx="5848920" cy="38372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7840" tIns="177840" rIns="177840" bIns="177840" anchor="t">
            <a:noAutofit/>
          </a:bodyPr>
          <a:lstStyle/>
          <a:p>
            <a:pPr defTabSz="914400">
              <a:lnSpc>
                <a:spcPts val="2599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99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accent2"/>
                </a:solidFill>
                <a:effectLst/>
                <a:uFillTx/>
                <a:latin typeface="Courier New"/>
                <a:ea typeface="Courier New"/>
              </a:rPr>
              <a:t>  "name": "read_file",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99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accent2"/>
                </a:solidFill>
                <a:effectLst/>
                <a:uFillTx/>
                <a:latin typeface="Courier New"/>
                <a:ea typeface="Courier New"/>
              </a:rPr>
              <a:t>  "description":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99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accent2"/>
                </a:solidFill>
                <a:effectLst/>
                <a:uFillTx/>
                <a:latin typeface="Courier New"/>
                <a:ea typeface="Courier New"/>
              </a:rPr>
              <a:t>    "Lê o conteúdo de um arquivo",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99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 "parameters": {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99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   "path": "string"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99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 }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99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3"/>
          <p:cNvSpPr/>
          <p:nvPr/>
        </p:nvSpPr>
        <p:spPr>
          <a:xfrm>
            <a:off x="6949440" y="1691640"/>
            <a:ext cx="466020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O que acontece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4"/>
          <p:cNvSpPr/>
          <p:nvPr/>
        </p:nvSpPr>
        <p:spPr>
          <a:xfrm>
            <a:off x="6949440" y="2194560"/>
            <a:ext cx="4660200" cy="91116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Modelo pede: read_file(“src/app.ts”)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Shape 5"/>
          <p:cNvSpPr/>
          <p:nvPr/>
        </p:nvSpPr>
        <p:spPr>
          <a:xfrm>
            <a:off x="9281160" y="3154680"/>
            <a:ext cx="360" cy="365760"/>
          </a:xfrm>
          <a:prstGeom prst="line">
            <a:avLst/>
          </a:prstGeom>
          <a:ln w="22225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593" name="Text 6"/>
          <p:cNvSpPr/>
          <p:nvPr/>
        </p:nvSpPr>
        <p:spPr>
          <a:xfrm>
            <a:off x="6949440" y="3566160"/>
            <a:ext cx="4660200" cy="91116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Harness executa a leitura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7"/>
          <p:cNvSpPr/>
          <p:nvPr/>
        </p:nvSpPr>
        <p:spPr>
          <a:xfrm>
            <a:off x="9281160" y="4526280"/>
            <a:ext cx="360" cy="365760"/>
          </a:xfrm>
          <a:prstGeom prst="line">
            <a:avLst/>
          </a:prstGeom>
          <a:ln w="22225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595" name="Text 8"/>
          <p:cNvSpPr/>
          <p:nvPr/>
        </p:nvSpPr>
        <p:spPr>
          <a:xfrm>
            <a:off x="6949440" y="4937760"/>
            <a:ext cx="4660200" cy="91116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Conteúdo volta ao contexto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PlaceHolder 2"/>
          <p:cNvSpPr>
            <a:spLocks noGrp="1"/>
          </p:cNvSpPr>
          <p:nvPr>
            <p:ph type="sldNum" idx="49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50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Com o MCP, um serviço integrado uma vez funciona com qualquer agente compatível.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8" name="Text 1"/>
          <p:cNvSpPr/>
          <p:nvPr/>
        </p:nvSpPr>
        <p:spPr>
          <a:xfrm>
            <a:off x="548640" y="1691640"/>
            <a:ext cx="511740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Sem MCP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2"/>
          <p:cNvSpPr/>
          <p:nvPr/>
        </p:nvSpPr>
        <p:spPr>
          <a:xfrm>
            <a:off x="548640" y="2377440"/>
            <a:ext cx="1734120" cy="68256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Claude Code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3"/>
          <p:cNvSpPr/>
          <p:nvPr/>
        </p:nvSpPr>
        <p:spPr>
          <a:xfrm>
            <a:off x="548640" y="3429000"/>
            <a:ext cx="1734120" cy="68256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Codex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4"/>
          <p:cNvSpPr/>
          <p:nvPr/>
        </p:nvSpPr>
        <p:spPr>
          <a:xfrm>
            <a:off x="548640" y="4480560"/>
            <a:ext cx="1734120" cy="68256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IDE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 5"/>
          <p:cNvSpPr/>
          <p:nvPr/>
        </p:nvSpPr>
        <p:spPr>
          <a:xfrm>
            <a:off x="3931920" y="2377440"/>
            <a:ext cx="1779840" cy="68256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905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GitHub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 6"/>
          <p:cNvSpPr/>
          <p:nvPr/>
        </p:nvSpPr>
        <p:spPr>
          <a:xfrm>
            <a:off x="3931920" y="3429000"/>
            <a:ext cx="1779840" cy="68256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905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Banco de dados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 7"/>
          <p:cNvSpPr/>
          <p:nvPr/>
        </p:nvSpPr>
        <p:spPr>
          <a:xfrm>
            <a:off x="3931920" y="4480560"/>
            <a:ext cx="1779840" cy="68256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905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Documentação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Shape 8"/>
          <p:cNvSpPr/>
          <p:nvPr/>
        </p:nvSpPr>
        <p:spPr>
          <a:xfrm>
            <a:off x="2331720" y="2720160"/>
            <a:ext cx="1554480" cy="360"/>
          </a:xfrm>
          <a:prstGeom prst="line">
            <a:avLst/>
          </a:prstGeom>
          <a:ln w="1270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06" name="Shape 9"/>
          <p:cNvSpPr/>
          <p:nvPr/>
        </p:nvSpPr>
        <p:spPr>
          <a:xfrm>
            <a:off x="2331720" y="2720160"/>
            <a:ext cx="1554480" cy="1051560"/>
          </a:xfrm>
          <a:prstGeom prst="line">
            <a:avLst/>
          </a:prstGeom>
          <a:ln w="1270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07" name="Shape 10"/>
          <p:cNvSpPr/>
          <p:nvPr/>
        </p:nvSpPr>
        <p:spPr>
          <a:xfrm>
            <a:off x="2331720" y="2720160"/>
            <a:ext cx="1554480" cy="2103120"/>
          </a:xfrm>
          <a:prstGeom prst="line">
            <a:avLst/>
          </a:prstGeom>
          <a:ln w="1270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08" name="Shape 11"/>
          <p:cNvSpPr/>
          <p:nvPr/>
        </p:nvSpPr>
        <p:spPr>
          <a:xfrm flipV="1">
            <a:off x="2331720" y="2720160"/>
            <a:ext cx="1554480" cy="1051560"/>
          </a:xfrm>
          <a:prstGeom prst="line">
            <a:avLst/>
          </a:prstGeom>
          <a:ln w="1270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09" name="Shape 12"/>
          <p:cNvSpPr/>
          <p:nvPr/>
        </p:nvSpPr>
        <p:spPr>
          <a:xfrm>
            <a:off x="2331720" y="3771720"/>
            <a:ext cx="1554480" cy="360"/>
          </a:xfrm>
          <a:prstGeom prst="line">
            <a:avLst/>
          </a:prstGeom>
          <a:ln w="1270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10" name="Shape 13"/>
          <p:cNvSpPr/>
          <p:nvPr/>
        </p:nvSpPr>
        <p:spPr>
          <a:xfrm>
            <a:off x="2331720" y="3771720"/>
            <a:ext cx="1554480" cy="1051560"/>
          </a:xfrm>
          <a:prstGeom prst="line">
            <a:avLst/>
          </a:prstGeom>
          <a:ln w="1270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11" name="Shape 14"/>
          <p:cNvSpPr/>
          <p:nvPr/>
        </p:nvSpPr>
        <p:spPr>
          <a:xfrm flipV="1">
            <a:off x="2331720" y="2720160"/>
            <a:ext cx="1554480" cy="2103120"/>
          </a:xfrm>
          <a:prstGeom prst="line">
            <a:avLst/>
          </a:prstGeom>
          <a:ln w="1270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12" name="Shape 15"/>
          <p:cNvSpPr/>
          <p:nvPr/>
        </p:nvSpPr>
        <p:spPr>
          <a:xfrm flipV="1">
            <a:off x="2331720" y="3771720"/>
            <a:ext cx="1554480" cy="1051560"/>
          </a:xfrm>
          <a:prstGeom prst="line">
            <a:avLst/>
          </a:prstGeom>
          <a:ln w="1270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13" name="Shape 16"/>
          <p:cNvSpPr/>
          <p:nvPr/>
        </p:nvSpPr>
        <p:spPr>
          <a:xfrm>
            <a:off x="2331720" y="4823280"/>
            <a:ext cx="1554480" cy="360"/>
          </a:xfrm>
          <a:prstGeom prst="line">
            <a:avLst/>
          </a:prstGeom>
          <a:ln w="1270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14" name="Text 18"/>
          <p:cNvSpPr/>
          <p:nvPr/>
        </p:nvSpPr>
        <p:spPr>
          <a:xfrm>
            <a:off x="6400800" y="1691640"/>
            <a:ext cx="520884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Com MCP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19"/>
          <p:cNvSpPr/>
          <p:nvPr/>
        </p:nvSpPr>
        <p:spPr>
          <a:xfrm>
            <a:off x="6400800" y="2377440"/>
            <a:ext cx="1734120" cy="68256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Claude Code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20"/>
          <p:cNvSpPr/>
          <p:nvPr/>
        </p:nvSpPr>
        <p:spPr>
          <a:xfrm>
            <a:off x="6400800" y="3429000"/>
            <a:ext cx="1734120" cy="68256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Codex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 21"/>
          <p:cNvSpPr/>
          <p:nvPr/>
        </p:nvSpPr>
        <p:spPr>
          <a:xfrm>
            <a:off x="6400800" y="4480560"/>
            <a:ext cx="1734120" cy="68256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IDE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 22"/>
          <p:cNvSpPr/>
          <p:nvPr/>
        </p:nvSpPr>
        <p:spPr>
          <a:xfrm>
            <a:off x="8549640" y="2377440"/>
            <a:ext cx="865440" cy="2785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MCP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23"/>
          <p:cNvSpPr/>
          <p:nvPr/>
        </p:nvSpPr>
        <p:spPr>
          <a:xfrm>
            <a:off x="9829800" y="2377440"/>
            <a:ext cx="1779840" cy="68256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905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GitHub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Text 24"/>
          <p:cNvSpPr/>
          <p:nvPr/>
        </p:nvSpPr>
        <p:spPr>
          <a:xfrm>
            <a:off x="9829800" y="3429000"/>
            <a:ext cx="1779840" cy="68256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905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Banco de dados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25"/>
          <p:cNvSpPr/>
          <p:nvPr/>
        </p:nvSpPr>
        <p:spPr>
          <a:xfrm>
            <a:off x="9829800" y="4480560"/>
            <a:ext cx="1779840" cy="68256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905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Documentação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Shape 26"/>
          <p:cNvSpPr/>
          <p:nvPr/>
        </p:nvSpPr>
        <p:spPr>
          <a:xfrm>
            <a:off x="8183880" y="2720160"/>
            <a:ext cx="320040" cy="360"/>
          </a:xfrm>
          <a:prstGeom prst="line">
            <a:avLst/>
          </a:prstGeom>
          <a:ln w="19050">
            <a:solidFill>
              <a:srgbClr val="1B84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23" name="Shape 27"/>
          <p:cNvSpPr/>
          <p:nvPr/>
        </p:nvSpPr>
        <p:spPr>
          <a:xfrm>
            <a:off x="9464040" y="2720160"/>
            <a:ext cx="320040" cy="360"/>
          </a:xfrm>
          <a:prstGeom prst="line">
            <a:avLst/>
          </a:prstGeom>
          <a:ln w="19050">
            <a:solidFill>
              <a:srgbClr val="1B84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24" name="Shape 28"/>
          <p:cNvSpPr/>
          <p:nvPr/>
        </p:nvSpPr>
        <p:spPr>
          <a:xfrm>
            <a:off x="8183880" y="3771720"/>
            <a:ext cx="320040" cy="360"/>
          </a:xfrm>
          <a:prstGeom prst="line">
            <a:avLst/>
          </a:prstGeom>
          <a:ln w="19050">
            <a:solidFill>
              <a:srgbClr val="1B84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25" name="Shape 29"/>
          <p:cNvSpPr/>
          <p:nvPr/>
        </p:nvSpPr>
        <p:spPr>
          <a:xfrm>
            <a:off x="9464040" y="3771720"/>
            <a:ext cx="320040" cy="360"/>
          </a:xfrm>
          <a:prstGeom prst="line">
            <a:avLst/>
          </a:prstGeom>
          <a:ln w="19050">
            <a:solidFill>
              <a:srgbClr val="1B84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26" name="Shape 30"/>
          <p:cNvSpPr/>
          <p:nvPr/>
        </p:nvSpPr>
        <p:spPr>
          <a:xfrm>
            <a:off x="8183880" y="4823280"/>
            <a:ext cx="320040" cy="360"/>
          </a:xfrm>
          <a:prstGeom prst="line">
            <a:avLst/>
          </a:prstGeom>
          <a:ln w="19050">
            <a:solidFill>
              <a:srgbClr val="1B84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27" name="Shape 31"/>
          <p:cNvSpPr/>
          <p:nvPr/>
        </p:nvSpPr>
        <p:spPr>
          <a:xfrm>
            <a:off x="9464040" y="4823280"/>
            <a:ext cx="320040" cy="360"/>
          </a:xfrm>
          <a:prstGeom prst="line">
            <a:avLst/>
          </a:prstGeom>
          <a:ln w="19050">
            <a:solidFill>
              <a:srgbClr val="1B84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28" name="PlaceHolder 2"/>
          <p:cNvSpPr>
            <a:spLocks noGrp="1"/>
          </p:cNvSpPr>
          <p:nvPr>
            <p:ph type="sldNum" idx="50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51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Escolha skills e MCPs pela necessidade concreta da tarefa.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0" name="Selo 601"/>
          <p:cNvSpPr/>
          <p:nvPr/>
        </p:nvSpPr>
        <p:spPr>
          <a:xfrm>
            <a:off x="548640" y="1783080"/>
            <a:ext cx="2191320" cy="40824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Skills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Item 602"/>
          <p:cNvSpPr/>
          <p:nvPr/>
        </p:nvSpPr>
        <p:spPr>
          <a:xfrm>
            <a:off x="548640" y="2404800"/>
            <a:ext cx="5388840" cy="74772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50120" tIns="39960" rIns="100080" bIns="3996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19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docx · pptx · xlsx · pdf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Criação de arquivos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Item 603"/>
          <p:cNvSpPr/>
          <p:nvPr/>
        </p:nvSpPr>
        <p:spPr>
          <a:xfrm>
            <a:off x="548640" y="3364920"/>
            <a:ext cx="5388840" cy="74772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50120" tIns="39960" rIns="100080" bIns="3996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19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frontend-design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Construção de interfaces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Item 604"/>
          <p:cNvSpPr/>
          <p:nvPr/>
        </p:nvSpPr>
        <p:spPr>
          <a:xfrm>
            <a:off x="548640" y="4325040"/>
            <a:ext cx="5388840" cy="74772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50120" tIns="39960" rIns="100080" bIns="3996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19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webapp-testing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Teste no navegador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Selo 607"/>
          <p:cNvSpPr/>
          <p:nvPr/>
        </p:nvSpPr>
        <p:spPr>
          <a:xfrm>
            <a:off x="6221880" y="1783080"/>
            <a:ext cx="2191320" cy="40824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MCPs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Item 608"/>
          <p:cNvSpPr/>
          <p:nvPr/>
        </p:nvSpPr>
        <p:spPr>
          <a:xfrm>
            <a:off x="6221880" y="2404800"/>
            <a:ext cx="5388840" cy="74772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50120" tIns="39960" rIns="100080" bIns="3996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19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GitHub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Issues e PRs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Item 609"/>
          <p:cNvSpPr/>
          <p:nvPr/>
        </p:nvSpPr>
        <p:spPr>
          <a:xfrm>
            <a:off x="6221880" y="3364920"/>
            <a:ext cx="5388840" cy="74772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50120" tIns="39960" rIns="100080" bIns="3996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19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Playwright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Validação da interface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Item 610"/>
          <p:cNvSpPr/>
          <p:nvPr/>
        </p:nvSpPr>
        <p:spPr>
          <a:xfrm>
            <a:off x="6221880" y="4325040"/>
            <a:ext cx="5388840" cy="74772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50120" tIns="39960" rIns="100080" bIns="3996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19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Context7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Docs da biblioteca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Fonte 613"/>
          <p:cNvSpPr/>
          <p:nvPr/>
        </p:nvSpPr>
        <p:spPr>
          <a:xfrm>
            <a:off x="548640" y="5600160"/>
            <a:ext cx="1106208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21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Escolha a integração a partir da tarefa concreta.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PlaceHolder 2"/>
          <p:cNvSpPr>
            <a:spLocks noGrp="1"/>
          </p:cNvSpPr>
          <p:nvPr>
            <p:ph type="sldNum" idx="51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52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Memória externa permite que o agente continue o trabalho em outra sessão.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1" name="Text 1"/>
          <p:cNvSpPr/>
          <p:nvPr/>
        </p:nvSpPr>
        <p:spPr>
          <a:xfrm>
            <a:off x="548640" y="2926080"/>
            <a:ext cx="2922840" cy="136836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6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Sessão 1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2" name="Text 2"/>
          <p:cNvSpPr/>
          <p:nvPr/>
        </p:nvSpPr>
        <p:spPr>
          <a:xfrm>
            <a:off x="4617720" y="2926080"/>
            <a:ext cx="2922840" cy="136836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Arquivo de memória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BR" sz="17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notas, decisões, progresso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 3"/>
          <p:cNvSpPr/>
          <p:nvPr/>
        </p:nvSpPr>
        <p:spPr>
          <a:xfrm>
            <a:off x="8686800" y="2926080"/>
            <a:ext cx="2922840" cy="136836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6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Sessão 2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Shape 4"/>
          <p:cNvSpPr/>
          <p:nvPr/>
        </p:nvSpPr>
        <p:spPr>
          <a:xfrm>
            <a:off x="3566160" y="3611880"/>
            <a:ext cx="960120" cy="360"/>
          </a:xfrm>
          <a:prstGeom prst="line">
            <a:avLst/>
          </a:prstGeom>
          <a:ln w="2540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45" name="Shape 5"/>
          <p:cNvSpPr/>
          <p:nvPr/>
        </p:nvSpPr>
        <p:spPr>
          <a:xfrm flipH="1">
            <a:off x="7635240" y="3611880"/>
            <a:ext cx="960120" cy="360"/>
          </a:xfrm>
          <a:prstGeom prst="line">
            <a:avLst/>
          </a:prstGeom>
          <a:ln w="2540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46" name="Text 6"/>
          <p:cNvSpPr/>
          <p:nvPr/>
        </p:nvSpPr>
        <p:spPr>
          <a:xfrm>
            <a:off x="3474720" y="3200400"/>
            <a:ext cx="1139760" cy="31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grava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7"/>
          <p:cNvSpPr/>
          <p:nvPr/>
        </p:nvSpPr>
        <p:spPr>
          <a:xfrm>
            <a:off x="7543800" y="3200400"/>
            <a:ext cx="1139760" cy="31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relê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8"/>
          <p:cNvSpPr/>
          <p:nvPr/>
        </p:nvSpPr>
        <p:spPr>
          <a:xfrm>
            <a:off x="548640" y="4480560"/>
            <a:ext cx="2922840" cy="72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o contexto se perde ao fim da sessão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 9"/>
          <p:cNvSpPr/>
          <p:nvPr/>
        </p:nvSpPr>
        <p:spPr>
          <a:xfrm>
            <a:off x="8686800" y="4480560"/>
            <a:ext cx="2922840" cy="72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começa com o contexto vazio e lê a memória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PlaceHolder 2"/>
          <p:cNvSpPr>
            <a:spLocks noGrp="1"/>
          </p:cNvSpPr>
          <p:nvPr>
            <p:ph type="sldNum" idx="52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53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Subagentes isolam uma tarefa em um contexto próprio e devolvem só o resumo.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2" name="Text 1"/>
          <p:cNvSpPr/>
          <p:nvPr/>
        </p:nvSpPr>
        <p:spPr>
          <a:xfrm>
            <a:off x="548640" y="1828800"/>
            <a:ext cx="2374200" cy="420300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Agente principal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 2"/>
          <p:cNvSpPr/>
          <p:nvPr/>
        </p:nvSpPr>
        <p:spPr>
          <a:xfrm>
            <a:off x="5120640" y="1828800"/>
            <a:ext cx="3105720" cy="12769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Subagente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Pesquisar no código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contexto próprio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Shape 3"/>
          <p:cNvSpPr/>
          <p:nvPr/>
        </p:nvSpPr>
        <p:spPr>
          <a:xfrm>
            <a:off x="3017520" y="2194560"/>
            <a:ext cx="2011680" cy="360"/>
          </a:xfrm>
          <a:prstGeom prst="line">
            <a:avLst/>
          </a:prstGeom>
          <a:ln w="1905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55" name="Text 4"/>
          <p:cNvSpPr/>
          <p:nvPr/>
        </p:nvSpPr>
        <p:spPr>
          <a:xfrm>
            <a:off x="3017520" y="1856160"/>
            <a:ext cx="2008440" cy="28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tarefa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Shape 5"/>
          <p:cNvSpPr/>
          <p:nvPr/>
        </p:nvSpPr>
        <p:spPr>
          <a:xfrm flipH="1">
            <a:off x="3017520" y="2743200"/>
            <a:ext cx="2011680" cy="360"/>
          </a:xfrm>
          <a:prstGeom prst="line">
            <a:avLst/>
          </a:prstGeom>
          <a:ln w="19050">
            <a:solidFill>
              <a:srgbClr val="1B845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57" name="Text 6"/>
          <p:cNvSpPr/>
          <p:nvPr/>
        </p:nvSpPr>
        <p:spPr>
          <a:xfrm>
            <a:off x="3017520" y="2788920"/>
            <a:ext cx="2008440" cy="27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resumo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7"/>
          <p:cNvSpPr/>
          <p:nvPr/>
        </p:nvSpPr>
        <p:spPr>
          <a:xfrm>
            <a:off x="5120640" y="3291840"/>
            <a:ext cx="3105720" cy="12769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Subagente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Escrever testes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contexto próprio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Shape 8"/>
          <p:cNvSpPr/>
          <p:nvPr/>
        </p:nvSpPr>
        <p:spPr>
          <a:xfrm>
            <a:off x="3017520" y="3657600"/>
            <a:ext cx="2011680" cy="360"/>
          </a:xfrm>
          <a:prstGeom prst="line">
            <a:avLst/>
          </a:prstGeom>
          <a:ln w="1905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60" name="Text 9"/>
          <p:cNvSpPr/>
          <p:nvPr/>
        </p:nvSpPr>
        <p:spPr>
          <a:xfrm>
            <a:off x="3017520" y="3319200"/>
            <a:ext cx="2008440" cy="28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tarefa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Shape 10"/>
          <p:cNvSpPr/>
          <p:nvPr/>
        </p:nvSpPr>
        <p:spPr>
          <a:xfrm flipH="1">
            <a:off x="3017520" y="4206240"/>
            <a:ext cx="2011680" cy="360"/>
          </a:xfrm>
          <a:prstGeom prst="line">
            <a:avLst/>
          </a:prstGeom>
          <a:ln w="19050">
            <a:solidFill>
              <a:srgbClr val="1B845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62" name="Text 11"/>
          <p:cNvSpPr/>
          <p:nvPr/>
        </p:nvSpPr>
        <p:spPr>
          <a:xfrm>
            <a:off x="3017520" y="4251960"/>
            <a:ext cx="2008440" cy="27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resumo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 12"/>
          <p:cNvSpPr/>
          <p:nvPr/>
        </p:nvSpPr>
        <p:spPr>
          <a:xfrm>
            <a:off x="5120640" y="4754880"/>
            <a:ext cx="3105720" cy="12769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Subagente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Revisar segurança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contexto próprio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Shape 13"/>
          <p:cNvSpPr/>
          <p:nvPr/>
        </p:nvSpPr>
        <p:spPr>
          <a:xfrm>
            <a:off x="3017520" y="5120640"/>
            <a:ext cx="2011680" cy="360"/>
          </a:xfrm>
          <a:prstGeom prst="line">
            <a:avLst/>
          </a:prstGeom>
          <a:ln w="1905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65" name="Text 14"/>
          <p:cNvSpPr/>
          <p:nvPr/>
        </p:nvSpPr>
        <p:spPr>
          <a:xfrm>
            <a:off x="3017520" y="4782240"/>
            <a:ext cx="2008440" cy="28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tarefa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Shape 15"/>
          <p:cNvSpPr/>
          <p:nvPr/>
        </p:nvSpPr>
        <p:spPr>
          <a:xfrm flipH="1">
            <a:off x="3017520" y="5669280"/>
            <a:ext cx="2011680" cy="360"/>
          </a:xfrm>
          <a:prstGeom prst="line">
            <a:avLst/>
          </a:prstGeom>
          <a:ln w="19050">
            <a:solidFill>
              <a:srgbClr val="1B845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67" name="Text 16"/>
          <p:cNvSpPr/>
          <p:nvPr/>
        </p:nvSpPr>
        <p:spPr>
          <a:xfrm>
            <a:off x="3017520" y="5715000"/>
            <a:ext cx="2008440" cy="27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resumo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 17"/>
          <p:cNvSpPr/>
          <p:nvPr/>
        </p:nvSpPr>
        <p:spPr>
          <a:xfrm>
            <a:off x="8778240" y="2926080"/>
            <a:ext cx="2831400" cy="200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É uma forma de gerir contexto, não de ganhar mais inteligência.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PlaceHolder 2"/>
          <p:cNvSpPr>
            <a:spLocks noGrp="1"/>
          </p:cNvSpPr>
          <p:nvPr>
            <p:ph type="sldNum" idx="53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54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Com agentes, o esforço humano se desloca da digitação do código para a especificação e a validação.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1" name="Text 1"/>
          <p:cNvSpPr/>
          <p:nvPr/>
        </p:nvSpPr>
        <p:spPr>
          <a:xfrm>
            <a:off x="548640" y="2926080"/>
            <a:ext cx="2008440" cy="118548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Especificar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2" name="Shape 2"/>
          <p:cNvSpPr/>
          <p:nvPr/>
        </p:nvSpPr>
        <p:spPr>
          <a:xfrm>
            <a:off x="2596680" y="3520440"/>
            <a:ext cx="178200" cy="360"/>
          </a:xfrm>
          <a:prstGeom prst="line">
            <a:avLst/>
          </a:prstGeom>
          <a:ln w="22225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8920" tIns="-44640" rIns="8892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73" name="Text 3"/>
          <p:cNvSpPr/>
          <p:nvPr/>
        </p:nvSpPr>
        <p:spPr>
          <a:xfrm>
            <a:off x="2811960" y="2926080"/>
            <a:ext cx="2008440" cy="118548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Planejar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4" name="Shape 4"/>
          <p:cNvSpPr/>
          <p:nvPr/>
        </p:nvSpPr>
        <p:spPr>
          <a:xfrm>
            <a:off x="4860000" y="3520440"/>
            <a:ext cx="178200" cy="360"/>
          </a:xfrm>
          <a:prstGeom prst="line">
            <a:avLst/>
          </a:prstGeom>
          <a:ln w="22225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8920" tIns="-44640" rIns="8892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75" name="Text 5"/>
          <p:cNvSpPr/>
          <p:nvPr/>
        </p:nvSpPr>
        <p:spPr>
          <a:xfrm>
            <a:off x="5074920" y="2926080"/>
            <a:ext cx="2008440" cy="118548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Implementar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6" name="Shape 6"/>
          <p:cNvSpPr/>
          <p:nvPr/>
        </p:nvSpPr>
        <p:spPr>
          <a:xfrm>
            <a:off x="7122960" y="3520440"/>
            <a:ext cx="178200" cy="360"/>
          </a:xfrm>
          <a:prstGeom prst="line">
            <a:avLst/>
          </a:prstGeom>
          <a:ln w="22225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8920" tIns="-44640" rIns="8892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77" name="Text 7"/>
          <p:cNvSpPr/>
          <p:nvPr/>
        </p:nvSpPr>
        <p:spPr>
          <a:xfrm>
            <a:off x="7338240" y="2926080"/>
            <a:ext cx="2008440" cy="118548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Testar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8" name="Shape 8"/>
          <p:cNvSpPr/>
          <p:nvPr/>
        </p:nvSpPr>
        <p:spPr>
          <a:xfrm>
            <a:off x="9386280" y="3520440"/>
            <a:ext cx="178200" cy="360"/>
          </a:xfrm>
          <a:prstGeom prst="line">
            <a:avLst/>
          </a:prstGeom>
          <a:ln w="22225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8920" tIns="-44640" rIns="8892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79" name="Text 9"/>
          <p:cNvSpPr/>
          <p:nvPr/>
        </p:nvSpPr>
        <p:spPr>
          <a:xfrm>
            <a:off x="9601200" y="2926080"/>
            <a:ext cx="2008440" cy="118548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Revisar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Shape 10"/>
          <p:cNvSpPr/>
          <p:nvPr/>
        </p:nvSpPr>
        <p:spPr>
          <a:xfrm>
            <a:off x="548640" y="4389120"/>
            <a:ext cx="4274640" cy="360"/>
          </a:xfrm>
          <a:prstGeom prst="line">
            <a:avLst/>
          </a:prstGeom>
          <a:ln w="25400">
            <a:solidFill>
              <a:srgbClr val="1B84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81" name="Text 11"/>
          <p:cNvSpPr/>
          <p:nvPr/>
        </p:nvSpPr>
        <p:spPr>
          <a:xfrm>
            <a:off x="548640" y="4498920"/>
            <a:ext cx="4271760" cy="63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O humano define o trabalho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Shape 12"/>
          <p:cNvSpPr/>
          <p:nvPr/>
        </p:nvSpPr>
        <p:spPr>
          <a:xfrm>
            <a:off x="5074920" y="4389120"/>
            <a:ext cx="4274640" cy="360"/>
          </a:xfrm>
          <a:prstGeom prst="line">
            <a:avLst/>
          </a:prstGeom>
          <a:ln w="25400">
            <a:solidFill>
              <a:srgbClr val="2C65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83" name="Text 13"/>
          <p:cNvSpPr/>
          <p:nvPr/>
        </p:nvSpPr>
        <p:spPr>
          <a:xfrm>
            <a:off x="5074920" y="4498920"/>
            <a:ext cx="4271760" cy="63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O agente executa e verifica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Shape 14"/>
          <p:cNvSpPr/>
          <p:nvPr/>
        </p:nvSpPr>
        <p:spPr>
          <a:xfrm>
            <a:off x="9601200" y="4389120"/>
            <a:ext cx="2011680" cy="360"/>
          </a:xfrm>
          <a:prstGeom prst="line">
            <a:avLst/>
          </a:prstGeom>
          <a:ln w="25400">
            <a:solidFill>
              <a:srgbClr val="1B84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85" name="Text 15"/>
          <p:cNvSpPr/>
          <p:nvPr/>
        </p:nvSpPr>
        <p:spPr>
          <a:xfrm>
            <a:off x="9601200" y="4498920"/>
            <a:ext cx="2008440" cy="63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O humano valida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PlaceHolder 2"/>
          <p:cNvSpPr>
            <a:spLocks noGrp="1"/>
          </p:cNvSpPr>
          <p:nvPr>
            <p:ph type="sldNum" idx="54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55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Sem critérios claros, pedir código direto aumenta o risco de uma entrega inadequada.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8" name="Rotulo 601"/>
          <p:cNvSpPr/>
          <p:nvPr/>
        </p:nvSpPr>
        <p:spPr>
          <a:xfrm>
            <a:off x="548640" y="1783080"/>
            <a:ext cx="5297760" cy="37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2000" b="1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Sem critérios: decisões implícitas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Caixa 602"/>
          <p:cNvSpPr/>
          <p:nvPr/>
        </p:nvSpPr>
        <p:spPr>
          <a:xfrm>
            <a:off x="548640" y="2300040"/>
            <a:ext cx="5297760" cy="757800"/>
          </a:xfrm>
          <a:prstGeom prst="roundRect">
            <a:avLst>
              <a:gd name="adj" fmla="val 3478"/>
            </a:avLst>
          </a:prstGeom>
          <a:solidFill>
            <a:srgbClr val="F1F1F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50120" tIns="150120" rIns="150120" bIns="1501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“Crie um gerenciador financeiro pessoal.”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Seta 603"/>
          <p:cNvSpPr/>
          <p:nvPr/>
        </p:nvSpPr>
        <p:spPr>
          <a:xfrm>
            <a:off x="3198600" y="3089880"/>
            <a:ext cx="360" cy="299880"/>
          </a:xfrm>
          <a:prstGeom prst="line">
            <a:avLst/>
          </a:prstGeom>
          <a:ln w="1905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pt-BR" sz="10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91" name="Caixa 604"/>
          <p:cNvSpPr/>
          <p:nvPr/>
        </p:nvSpPr>
        <p:spPr>
          <a:xfrm>
            <a:off x="548640" y="3430080"/>
            <a:ext cx="5297760" cy="897840"/>
          </a:xfrm>
          <a:prstGeom prst="roundRect">
            <a:avLst>
              <a:gd name="adj" fmla="val 3478"/>
            </a:avLst>
          </a:prstGeom>
          <a:solidFill>
            <a:srgbClr val="6666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50120" tIns="150120" rIns="150120" bIns="1501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Interface, regras, dados e testes ficam em aberto.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2" name="Seta 605"/>
          <p:cNvSpPr/>
          <p:nvPr/>
        </p:nvSpPr>
        <p:spPr>
          <a:xfrm>
            <a:off x="3198600" y="4359960"/>
            <a:ext cx="360" cy="299880"/>
          </a:xfrm>
          <a:prstGeom prst="line">
            <a:avLst/>
          </a:prstGeom>
          <a:ln w="1905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pt-BR" sz="10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93" name="Caixa 606"/>
          <p:cNvSpPr/>
          <p:nvPr/>
        </p:nvSpPr>
        <p:spPr>
          <a:xfrm>
            <a:off x="548640" y="4700160"/>
            <a:ext cx="5297760" cy="897840"/>
          </a:xfrm>
          <a:prstGeom prst="roundRect">
            <a:avLst>
              <a:gd name="adj" fmla="val 3478"/>
            </a:avLst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50120" tIns="150120" rIns="150120" bIns="1501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 solução pode parecer certa e não atender à necessidade.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Rotulo 607"/>
          <p:cNvSpPr/>
          <p:nvPr/>
        </p:nvSpPr>
        <p:spPr>
          <a:xfrm>
            <a:off x="6312960" y="1783080"/>
            <a:ext cx="5297760" cy="37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20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Com critérios: comportamento revisado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Caixa 608"/>
          <p:cNvSpPr/>
          <p:nvPr/>
        </p:nvSpPr>
        <p:spPr>
          <a:xfrm>
            <a:off x="6312960" y="2300040"/>
            <a:ext cx="5297760" cy="757800"/>
          </a:xfrm>
          <a:prstGeom prst="roundRect">
            <a:avLst>
              <a:gd name="adj" fmla="val 3478"/>
            </a:avLst>
          </a:prstGeom>
          <a:solidFill>
            <a:srgbClr val="F1F1F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50120" tIns="150120" rIns="150120" bIns="1501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“Crie um gerenciador financeiro pessoal.”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Seta 609"/>
          <p:cNvSpPr/>
          <p:nvPr/>
        </p:nvSpPr>
        <p:spPr>
          <a:xfrm>
            <a:off x="8962560" y="3089880"/>
            <a:ext cx="360" cy="299880"/>
          </a:xfrm>
          <a:prstGeom prst="line">
            <a:avLst/>
          </a:prstGeom>
          <a:ln w="1905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pt-BR" sz="10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97" name="Caixa 610"/>
          <p:cNvSpPr/>
          <p:nvPr/>
        </p:nvSpPr>
        <p:spPr>
          <a:xfrm>
            <a:off x="6312960" y="3430080"/>
            <a:ext cx="5297760" cy="89784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50120" tIns="150120" rIns="150120" bIns="1501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Você define o comportamento antes da implementação.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8" name="Seta 611"/>
          <p:cNvSpPr/>
          <p:nvPr/>
        </p:nvSpPr>
        <p:spPr>
          <a:xfrm>
            <a:off x="8962560" y="4359960"/>
            <a:ext cx="360" cy="299880"/>
          </a:xfrm>
          <a:prstGeom prst="line">
            <a:avLst/>
          </a:prstGeom>
          <a:ln w="1905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pt-BR" sz="10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699" name="Caixa 612"/>
          <p:cNvSpPr/>
          <p:nvPr/>
        </p:nvSpPr>
        <p:spPr>
          <a:xfrm>
            <a:off x="6312960" y="4700160"/>
            <a:ext cx="5297760" cy="897840"/>
          </a:xfrm>
          <a:prstGeom prst="roundRect">
            <a:avLst>
              <a:gd name="adj" fmla="val 3478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50120" tIns="150120" rIns="150120" bIns="1501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O agente consegue conferir o resultado contra a spec.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0" name="Fonte 613"/>
          <p:cNvSpPr/>
          <p:nvPr/>
        </p:nvSpPr>
        <p:spPr>
          <a:xfrm>
            <a:off x="548640" y="5789880"/>
            <a:ext cx="11062080" cy="29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Fonte: GitHub Blog, sobre a importância de instruções claras para agentes.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PlaceHolder 2"/>
          <p:cNvSpPr>
            <a:spLocks noGrp="1"/>
          </p:cNvSpPr>
          <p:nvPr>
            <p:ph type="sldNum" idx="55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56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SDD é escrever o que o software deve fazer antes de o agente escrever o código.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3" name="Caixa 601"/>
          <p:cNvSpPr/>
          <p:nvPr/>
        </p:nvSpPr>
        <p:spPr>
          <a:xfrm>
            <a:off x="548640" y="1783080"/>
            <a:ext cx="4297680" cy="394776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49840" tIns="249840" rIns="249840" bIns="24984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1001"/>
              </a:spcAft>
            </a:pPr>
            <a:r>
              <a:rPr lang="pt-BR" sz="3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Spec-driven development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</a:pPr>
            <a:r>
              <a:rPr lang="pt-BR" sz="2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Especificar o comportamento antes de pedir o código.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 spec é a fonte de verdade que guia o agente e que você revisa.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4" name="Caixa 602"/>
          <p:cNvSpPr/>
          <p:nvPr/>
        </p:nvSpPr>
        <p:spPr>
          <a:xfrm>
            <a:off x="5248800" y="1783080"/>
            <a:ext cx="6361920" cy="1847880"/>
          </a:xfrm>
          <a:prstGeom prst="roundRect">
            <a:avLst>
              <a:gd name="adj" fmla="val 3478"/>
            </a:avLst>
          </a:prstGeom>
          <a:solidFill>
            <a:srgbClr val="6666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0160" tIns="200160" rIns="200160" bIns="20016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Rules (AGENTS.md)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•  Aplicadas conforme escopo e cliente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•  Convenções do projeto: comandos, estilo, limites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•  Reutilizadas entre tarefas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5" name="Caixa 603"/>
          <p:cNvSpPr/>
          <p:nvPr/>
        </p:nvSpPr>
        <p:spPr>
          <a:xfrm>
            <a:off x="5248800" y="3882960"/>
            <a:ext cx="6361920" cy="1847880"/>
          </a:xfrm>
          <a:prstGeom prst="roundRect">
            <a:avLst>
              <a:gd name="adj" fmla="val 3478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0160" tIns="200160" rIns="200160" bIns="20016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Spec (por feature)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•  Carregada só no trabalho em questão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•  Comportamento esperado e critérios de aceite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•  Muda a cada funcionalidade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6" name="Fonte 604"/>
          <p:cNvSpPr/>
          <p:nvPr/>
        </p:nvSpPr>
        <p:spPr>
          <a:xfrm>
            <a:off x="548640" y="5850000"/>
            <a:ext cx="11062080" cy="29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Distinção de Böckeler (Thoughtworks, martinfowler.com): a spec vale por feature; rules e memory bank, para o projeto.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PlaceHolder 2"/>
          <p:cNvSpPr>
            <a:spLocks noGrp="1"/>
          </p:cNvSpPr>
          <p:nvPr>
            <p:ph type="sldNum" idx="56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57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Um fluxo de SDD pode usar seis etapas; adapte-o ao tamanho da tarefa.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9" name="Caixa 601"/>
          <p:cNvSpPr/>
          <p:nvPr/>
        </p:nvSpPr>
        <p:spPr>
          <a:xfrm>
            <a:off x="548640" y="2149920"/>
            <a:ext cx="1633680" cy="897840"/>
          </a:xfrm>
          <a:prstGeom prst="roundRect">
            <a:avLst>
              <a:gd name="adj" fmla="val 3478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120" tIns="60120" rIns="60120" bIns="601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1  PRD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0" name="Skill 602"/>
          <p:cNvSpPr/>
          <p:nvPr/>
        </p:nvSpPr>
        <p:spPr>
          <a:xfrm>
            <a:off x="548640" y="3129840"/>
            <a:ext cx="1633680" cy="29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Courier New"/>
              </a:rPr>
              <a:t>definir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Artefato 603"/>
          <p:cNvSpPr/>
          <p:nvPr/>
        </p:nvSpPr>
        <p:spPr>
          <a:xfrm>
            <a:off x="548640" y="3440160"/>
            <a:ext cx="1633680" cy="29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prd.md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Seta 604"/>
          <p:cNvSpPr/>
          <p:nvPr/>
        </p:nvSpPr>
        <p:spPr>
          <a:xfrm>
            <a:off x="2224440" y="2599920"/>
            <a:ext cx="169560" cy="360"/>
          </a:xfrm>
          <a:prstGeom prst="line">
            <a:avLst/>
          </a:prstGeom>
          <a:ln w="1905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600" tIns="-44640" rIns="84600" bIns="-44640" anchor="t">
            <a:noAutofit/>
          </a:bodyPr>
          <a:lstStyle/>
          <a:p>
            <a:endParaRPr lang="pt-BR" sz="10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713" name="Caixa 605"/>
          <p:cNvSpPr/>
          <p:nvPr/>
        </p:nvSpPr>
        <p:spPr>
          <a:xfrm>
            <a:off x="2434320" y="2149920"/>
            <a:ext cx="1633680" cy="897840"/>
          </a:xfrm>
          <a:prstGeom prst="roundRect">
            <a:avLst>
              <a:gd name="adj" fmla="val 3478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120" tIns="60120" rIns="60120" bIns="601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2  TechSpec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4" name="Skill 606"/>
          <p:cNvSpPr/>
          <p:nvPr/>
        </p:nvSpPr>
        <p:spPr>
          <a:xfrm>
            <a:off x="2434320" y="3129840"/>
            <a:ext cx="1633680" cy="29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Courier New"/>
              </a:rPr>
              <a:t>projetar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Artefato 607"/>
          <p:cNvSpPr/>
          <p:nvPr/>
        </p:nvSpPr>
        <p:spPr>
          <a:xfrm>
            <a:off x="2434320" y="3440160"/>
            <a:ext cx="1633680" cy="29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techspec.md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Seta 608"/>
          <p:cNvSpPr/>
          <p:nvPr/>
        </p:nvSpPr>
        <p:spPr>
          <a:xfrm>
            <a:off x="4110120" y="2599920"/>
            <a:ext cx="169560" cy="360"/>
          </a:xfrm>
          <a:prstGeom prst="line">
            <a:avLst/>
          </a:prstGeom>
          <a:ln w="1905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600" tIns="-44640" rIns="84600" bIns="-44640" anchor="t">
            <a:noAutofit/>
          </a:bodyPr>
          <a:lstStyle/>
          <a:p>
            <a:endParaRPr lang="pt-BR" sz="10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717" name="Caixa 609"/>
          <p:cNvSpPr/>
          <p:nvPr/>
        </p:nvSpPr>
        <p:spPr>
          <a:xfrm>
            <a:off x="4320000" y="2149920"/>
            <a:ext cx="1633680" cy="897840"/>
          </a:xfrm>
          <a:prstGeom prst="roundRect">
            <a:avLst>
              <a:gd name="adj" fmla="val 3478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120" tIns="60120" rIns="60120" bIns="601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3  Tasks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8" name="Skill 610"/>
          <p:cNvSpPr/>
          <p:nvPr/>
        </p:nvSpPr>
        <p:spPr>
          <a:xfrm>
            <a:off x="4320000" y="3129840"/>
            <a:ext cx="1633680" cy="29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Courier New"/>
              </a:rPr>
              <a:t>organizar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Artefato 611"/>
          <p:cNvSpPr/>
          <p:nvPr/>
        </p:nvSpPr>
        <p:spPr>
          <a:xfrm>
            <a:off x="4320000" y="3440160"/>
            <a:ext cx="1633680" cy="29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tasks.md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Seta 612"/>
          <p:cNvSpPr/>
          <p:nvPr/>
        </p:nvSpPr>
        <p:spPr>
          <a:xfrm>
            <a:off x="5995800" y="2599920"/>
            <a:ext cx="169560" cy="360"/>
          </a:xfrm>
          <a:prstGeom prst="line">
            <a:avLst/>
          </a:prstGeom>
          <a:ln w="1905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600" tIns="-44640" rIns="84600" bIns="-44640" anchor="t">
            <a:noAutofit/>
          </a:bodyPr>
          <a:lstStyle/>
          <a:p>
            <a:endParaRPr lang="pt-BR" sz="10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721" name="Caixa 613"/>
          <p:cNvSpPr/>
          <p:nvPr/>
        </p:nvSpPr>
        <p:spPr>
          <a:xfrm>
            <a:off x="6205680" y="2149920"/>
            <a:ext cx="1633680" cy="89784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120" tIns="60120" rIns="60120" bIns="601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4  Executar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2" name="Skill 614"/>
          <p:cNvSpPr/>
          <p:nvPr/>
        </p:nvSpPr>
        <p:spPr>
          <a:xfrm>
            <a:off x="6205680" y="3129840"/>
            <a:ext cx="1633680" cy="29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Courier New"/>
              </a:rPr>
              <a:t>implementar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Artefato 615"/>
          <p:cNvSpPr/>
          <p:nvPr/>
        </p:nvSpPr>
        <p:spPr>
          <a:xfrm>
            <a:off x="6205680" y="3440160"/>
            <a:ext cx="1633680" cy="29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código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Seta 616"/>
          <p:cNvSpPr/>
          <p:nvPr/>
        </p:nvSpPr>
        <p:spPr>
          <a:xfrm>
            <a:off x="7881480" y="2599920"/>
            <a:ext cx="169560" cy="360"/>
          </a:xfrm>
          <a:prstGeom prst="line">
            <a:avLst/>
          </a:prstGeom>
          <a:ln w="1905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600" tIns="-44640" rIns="84600" bIns="-44640" anchor="t">
            <a:noAutofit/>
          </a:bodyPr>
          <a:lstStyle/>
          <a:p>
            <a:endParaRPr lang="pt-BR" sz="10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725" name="Caixa 617"/>
          <p:cNvSpPr/>
          <p:nvPr/>
        </p:nvSpPr>
        <p:spPr>
          <a:xfrm>
            <a:off x="8091360" y="2149920"/>
            <a:ext cx="1633680" cy="89784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120" tIns="60120" rIns="60120" bIns="601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5  QA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6" name="Skill 618"/>
          <p:cNvSpPr/>
          <p:nvPr/>
        </p:nvSpPr>
        <p:spPr>
          <a:xfrm>
            <a:off x="8091360" y="3129840"/>
            <a:ext cx="1633680" cy="29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Courier New"/>
              </a:rPr>
              <a:t>testar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Artefato 619"/>
          <p:cNvSpPr/>
          <p:nvPr/>
        </p:nvSpPr>
        <p:spPr>
          <a:xfrm>
            <a:off x="8091360" y="3440160"/>
            <a:ext cx="1633680" cy="29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qa.md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Seta 620"/>
          <p:cNvSpPr/>
          <p:nvPr/>
        </p:nvSpPr>
        <p:spPr>
          <a:xfrm>
            <a:off x="9767160" y="2599920"/>
            <a:ext cx="169560" cy="360"/>
          </a:xfrm>
          <a:prstGeom prst="line">
            <a:avLst/>
          </a:prstGeom>
          <a:ln w="1905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600" tIns="-44640" rIns="84600" bIns="-44640" anchor="t">
            <a:noAutofit/>
          </a:bodyPr>
          <a:lstStyle/>
          <a:p>
            <a:endParaRPr lang="pt-BR" sz="10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729" name="Caixa 621"/>
          <p:cNvSpPr/>
          <p:nvPr/>
        </p:nvSpPr>
        <p:spPr>
          <a:xfrm>
            <a:off x="9977040" y="2149920"/>
            <a:ext cx="1633680" cy="89784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120" tIns="60120" rIns="60120" bIns="601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6  Review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0" name="Skill 622"/>
          <p:cNvSpPr/>
          <p:nvPr/>
        </p:nvSpPr>
        <p:spPr>
          <a:xfrm>
            <a:off x="9977040" y="3129840"/>
            <a:ext cx="1633680" cy="29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Courier New"/>
              </a:rPr>
              <a:t>revisar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Artefato 623"/>
          <p:cNvSpPr/>
          <p:nvPr/>
        </p:nvSpPr>
        <p:spPr>
          <a:xfrm>
            <a:off x="9977040" y="3440160"/>
            <a:ext cx="1633680" cy="29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codereview.md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Linha 624"/>
          <p:cNvSpPr/>
          <p:nvPr/>
        </p:nvSpPr>
        <p:spPr>
          <a:xfrm>
            <a:off x="548640" y="3899880"/>
            <a:ext cx="5407200" cy="360"/>
          </a:xfrm>
          <a:prstGeom prst="line">
            <a:avLst/>
          </a:prstGeom>
          <a:ln w="15875">
            <a:solidFill>
              <a:srgbClr val="1B84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0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733" name="Grupo 625"/>
          <p:cNvSpPr/>
          <p:nvPr/>
        </p:nvSpPr>
        <p:spPr>
          <a:xfrm>
            <a:off x="548640" y="3949920"/>
            <a:ext cx="5405040" cy="29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Você define e aprova o trabalho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Linha 626"/>
          <p:cNvSpPr/>
          <p:nvPr/>
        </p:nvSpPr>
        <p:spPr>
          <a:xfrm>
            <a:off x="6205320" y="3899880"/>
            <a:ext cx="5407560" cy="360"/>
          </a:xfrm>
          <a:prstGeom prst="line">
            <a:avLst/>
          </a:prstGeom>
          <a:ln w="15875">
            <a:solidFill>
              <a:srgbClr val="2C65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0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735" name="Grupo 627"/>
          <p:cNvSpPr/>
          <p:nvPr/>
        </p:nvSpPr>
        <p:spPr>
          <a:xfrm>
            <a:off x="6205680" y="3949920"/>
            <a:ext cx="5405040" cy="29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O agente executa e verifica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Caixa 628"/>
          <p:cNvSpPr/>
          <p:nvPr/>
        </p:nvSpPr>
        <p:spPr>
          <a:xfrm>
            <a:off x="548640" y="4550040"/>
            <a:ext cx="11062080" cy="1098000"/>
          </a:xfrm>
          <a:prstGeom prst="roundRect">
            <a:avLst>
              <a:gd name="adj" fmla="val 3478"/>
            </a:avLst>
          </a:prstGeom>
          <a:solidFill>
            <a:srgbClr val="F1F1F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0160" tIns="200160" rIns="200160" bIns="20016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23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Você aprova PRD, TechSpec e tasks. </a:t>
            </a:r>
            <a:r>
              <a:rPr lang="pt-BR" sz="23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Depois, o agente implementa e verifica; você valida.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Fonte 629"/>
          <p:cNvSpPr/>
          <p:nvPr/>
        </p:nvSpPr>
        <p:spPr>
          <a:xfrm>
            <a:off x="548640" y="5799960"/>
            <a:ext cx="11062080" cy="29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Modelo: Rodrigo Branas, Formação em IA (spec-driven-development).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PlaceHolder 2"/>
          <p:cNvSpPr>
            <a:spLocks noGrp="1"/>
          </p:cNvSpPr>
          <p:nvPr>
            <p:ph type="sldNum" idx="57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58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 PRD diz o quê, a TechSpec diz como e as tasks dizem em que ordem.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0" name="Rotulo 601"/>
          <p:cNvSpPr/>
          <p:nvPr/>
        </p:nvSpPr>
        <p:spPr>
          <a:xfrm>
            <a:off x="548640" y="1783080"/>
            <a:ext cx="3497760" cy="39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23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PRD</a:t>
            </a: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· o quê e por quê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Codigo 602"/>
          <p:cNvSpPr/>
          <p:nvPr/>
        </p:nvSpPr>
        <p:spPr>
          <a:xfrm>
            <a:off x="548640" y="2250000"/>
            <a:ext cx="3497760" cy="264780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7840" tIns="177840" rIns="177840" bIns="177840" anchor="t">
            <a:noAutofit/>
          </a:bodyPr>
          <a:lstStyle/>
          <a:p>
            <a:pPr defTabSz="914400">
              <a:lnSpc>
                <a:spcPts val="1899"/>
              </a:lnSpc>
            </a:pPr>
            <a:r>
              <a:rPr lang="pt-BR" sz="2100" b="0" u="none" strike="noStrike">
                <a:solidFill>
                  <a:schemeClr val="accent2"/>
                </a:solidFill>
                <a:effectLst/>
                <a:uFillTx/>
                <a:latin typeface="Courier New"/>
                <a:ea typeface="Courier New"/>
              </a:rPr>
              <a:t>Critérios de aceite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</a:pPr>
            <a:r>
              <a:rPr lang="pt-BR" sz="2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CA-01  valor &gt; 0 → 201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</a:pPr>
            <a:r>
              <a:rPr lang="pt-BR" sz="2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CA-02  valor = 0 → 400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2" name="Legenda 603"/>
          <p:cNvSpPr/>
          <p:nvPr/>
        </p:nvSpPr>
        <p:spPr>
          <a:xfrm>
            <a:off x="548640" y="5000040"/>
            <a:ext cx="3497760" cy="69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 comportamento esperado.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Rotulo 604"/>
          <p:cNvSpPr/>
          <p:nvPr/>
        </p:nvSpPr>
        <p:spPr>
          <a:xfrm>
            <a:off x="4330800" y="1783080"/>
            <a:ext cx="3497760" cy="39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23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TechSpec</a:t>
            </a: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· como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Codigo 605"/>
          <p:cNvSpPr/>
          <p:nvPr/>
        </p:nvSpPr>
        <p:spPr>
          <a:xfrm>
            <a:off x="4330800" y="2250000"/>
            <a:ext cx="3497760" cy="264780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7840" tIns="177840" rIns="177840" bIns="177840" anchor="t">
            <a:noAutofit/>
          </a:bodyPr>
          <a:lstStyle/>
          <a:p>
            <a:pPr defTabSz="914400">
              <a:lnSpc>
                <a:spcPts val="1899"/>
              </a:lnSpc>
            </a:pPr>
            <a:r>
              <a:rPr lang="pt-BR" sz="2100" b="0" u="none" strike="noStrike">
                <a:solidFill>
                  <a:schemeClr val="accent2"/>
                </a:solidFill>
                <a:effectLst/>
                <a:uFillTx/>
                <a:latin typeface="Courier New"/>
                <a:ea typeface="Courier New"/>
              </a:rPr>
              <a:t>Testes da rota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</a:pPr>
            <a:r>
              <a:rPr lang="pt-BR" sz="2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TI-01  valor &gt; 0 → 201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</a:pPr>
            <a:r>
              <a:rPr lang="pt-BR" sz="2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TI-02  valor = 0 → 400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5" name="Legenda 606"/>
          <p:cNvSpPr/>
          <p:nvPr/>
        </p:nvSpPr>
        <p:spPr>
          <a:xfrm>
            <a:off x="4330800" y="5000040"/>
            <a:ext cx="3497760" cy="69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 desenho e os testes.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Rotulo 607"/>
          <p:cNvSpPr/>
          <p:nvPr/>
        </p:nvSpPr>
        <p:spPr>
          <a:xfrm>
            <a:off x="8112960" y="1783080"/>
            <a:ext cx="3497760" cy="39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23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Tasks</a:t>
            </a: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· em que ordem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Codigo 608"/>
          <p:cNvSpPr/>
          <p:nvPr/>
        </p:nvSpPr>
        <p:spPr>
          <a:xfrm>
            <a:off x="8112960" y="2250000"/>
            <a:ext cx="3497760" cy="264780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7840" tIns="177840" rIns="177840" bIns="177840" anchor="t">
            <a:noAutofit/>
          </a:bodyPr>
          <a:lstStyle/>
          <a:p>
            <a:pPr defTabSz="914400">
              <a:lnSpc>
                <a:spcPts val="1899"/>
              </a:lnSpc>
            </a:pPr>
            <a:r>
              <a:rPr lang="pt-BR" sz="2100" b="0" u="none" strike="noStrike">
                <a:solidFill>
                  <a:schemeClr val="accent2"/>
                </a:solidFill>
                <a:effectLst/>
                <a:uFillTx/>
                <a:latin typeface="Courier New"/>
                <a:ea typeface="Courier New"/>
              </a:rPr>
              <a:t>Entregas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</a:pPr>
            <a:r>
              <a:rPr lang="pt-BR" sz="22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1  Contrato da API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</a:pPr>
            <a:r>
              <a:rPr lang="pt-BR" sz="22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2  Formulário e API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</a:pPr>
            <a:r>
              <a:rPr lang="pt-BR" sz="22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3  Testes e saldo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8" name="Legenda 609"/>
          <p:cNvSpPr/>
          <p:nvPr/>
        </p:nvSpPr>
        <p:spPr>
          <a:xfrm>
            <a:off x="8112960" y="5000040"/>
            <a:ext cx="3497760" cy="69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 ordem de execução.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Fonte 610"/>
          <p:cNvSpPr/>
          <p:nvPr/>
        </p:nvSpPr>
        <p:spPr>
          <a:xfrm>
            <a:off x="548640" y="5850000"/>
            <a:ext cx="11062080" cy="29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Trechos adaptados dos templates de Rodrigo Branas, Formação em IA (spec-driven-development), para o gerenciador financeiro.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PlaceHolder 2"/>
          <p:cNvSpPr>
            <a:spLocks noGrp="1"/>
          </p:cNvSpPr>
          <p:nvPr>
            <p:ph type="sldNum" idx="58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59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Cada critério de aceitação vira teste, tarefa e evidência.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2" name="Caixa 601"/>
          <p:cNvSpPr/>
          <p:nvPr/>
        </p:nvSpPr>
        <p:spPr>
          <a:xfrm>
            <a:off x="548640" y="2099880"/>
            <a:ext cx="1897920" cy="1098000"/>
          </a:xfrm>
          <a:prstGeom prst="roundRect">
            <a:avLst>
              <a:gd name="adj" fmla="val 3478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50120" tIns="150120" rIns="150120" bIns="1501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CA-01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PRD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3" name="Legenda 602"/>
          <p:cNvSpPr/>
          <p:nvPr/>
        </p:nvSpPr>
        <p:spPr>
          <a:xfrm>
            <a:off x="548640" y="3300120"/>
            <a:ext cx="1897920" cy="59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Critério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Seta 603"/>
          <p:cNvSpPr/>
          <p:nvPr/>
        </p:nvSpPr>
        <p:spPr>
          <a:xfrm>
            <a:off x="2498400" y="2649960"/>
            <a:ext cx="291240" cy="360"/>
          </a:xfrm>
          <a:prstGeom prst="line">
            <a:avLst/>
          </a:prstGeom>
          <a:ln w="1905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0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755" name="Caixa 604"/>
          <p:cNvSpPr/>
          <p:nvPr/>
        </p:nvSpPr>
        <p:spPr>
          <a:xfrm>
            <a:off x="2839680" y="2099880"/>
            <a:ext cx="1897920" cy="109800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50120" tIns="150120" rIns="150120" bIns="1501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TI-01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TechSpec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6" name="Legenda 605"/>
          <p:cNvSpPr/>
          <p:nvPr/>
        </p:nvSpPr>
        <p:spPr>
          <a:xfrm>
            <a:off x="2839680" y="3300120"/>
            <a:ext cx="1897920" cy="59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Teste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Seta 606"/>
          <p:cNvSpPr/>
          <p:nvPr/>
        </p:nvSpPr>
        <p:spPr>
          <a:xfrm>
            <a:off x="4789440" y="2649960"/>
            <a:ext cx="290880" cy="360"/>
          </a:xfrm>
          <a:prstGeom prst="line">
            <a:avLst/>
          </a:prstGeom>
          <a:ln w="1905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0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758" name="Caixa 607"/>
          <p:cNvSpPr/>
          <p:nvPr/>
        </p:nvSpPr>
        <p:spPr>
          <a:xfrm>
            <a:off x="5130720" y="2099880"/>
            <a:ext cx="1897920" cy="109800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50120" tIns="150120" rIns="150120" bIns="1501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task_2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Tasks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9" name="Legenda 608"/>
          <p:cNvSpPr/>
          <p:nvPr/>
        </p:nvSpPr>
        <p:spPr>
          <a:xfrm>
            <a:off x="5130720" y="3300120"/>
            <a:ext cx="1897920" cy="59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Implementação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Seta 609"/>
          <p:cNvSpPr/>
          <p:nvPr/>
        </p:nvSpPr>
        <p:spPr>
          <a:xfrm>
            <a:off x="7080480" y="2649960"/>
            <a:ext cx="290880" cy="360"/>
          </a:xfrm>
          <a:prstGeom prst="line">
            <a:avLst/>
          </a:prstGeom>
          <a:ln w="1905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0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761" name="Caixa 610"/>
          <p:cNvSpPr/>
          <p:nvPr/>
        </p:nvSpPr>
        <p:spPr>
          <a:xfrm>
            <a:off x="7421760" y="2099880"/>
            <a:ext cx="1897920" cy="109800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50120" tIns="150120" rIns="150120" bIns="1501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Teste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Código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2" name="Legenda 611"/>
          <p:cNvSpPr/>
          <p:nvPr/>
        </p:nvSpPr>
        <p:spPr>
          <a:xfrm>
            <a:off x="7421760" y="3300120"/>
            <a:ext cx="1897920" cy="59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Teste no repo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Seta 612"/>
          <p:cNvSpPr/>
          <p:nvPr/>
        </p:nvSpPr>
        <p:spPr>
          <a:xfrm>
            <a:off x="9371520" y="2649960"/>
            <a:ext cx="290880" cy="360"/>
          </a:xfrm>
          <a:prstGeom prst="line">
            <a:avLst/>
          </a:prstGeom>
          <a:ln w="19050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0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764" name="Caixa 613"/>
          <p:cNvSpPr/>
          <p:nvPr/>
        </p:nvSpPr>
        <p:spPr>
          <a:xfrm>
            <a:off x="9712800" y="2099880"/>
            <a:ext cx="1897920" cy="1098000"/>
          </a:xfrm>
          <a:prstGeom prst="roundRect">
            <a:avLst>
              <a:gd name="adj" fmla="val 3478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50120" tIns="150120" rIns="150120" bIns="1501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qa.md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QA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5" name="Legenda 614"/>
          <p:cNvSpPr/>
          <p:nvPr/>
        </p:nvSpPr>
        <p:spPr>
          <a:xfrm>
            <a:off x="9712800" y="3300120"/>
            <a:ext cx="1897920" cy="59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Evidência de QA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Caixa 615"/>
          <p:cNvSpPr/>
          <p:nvPr/>
        </p:nvSpPr>
        <p:spPr>
          <a:xfrm>
            <a:off x="548640" y="4250160"/>
            <a:ext cx="5388840" cy="1347840"/>
          </a:xfrm>
          <a:prstGeom prst="roundRect">
            <a:avLst>
              <a:gd name="adj" fmla="val 3478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0160" tIns="200160" rIns="200160" bIns="20016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Antes do código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Cada critério e teste entra em uma task.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7" name="Caixa 616"/>
          <p:cNvSpPr/>
          <p:nvPr/>
        </p:nvSpPr>
        <p:spPr>
          <a:xfrm>
            <a:off x="6221880" y="4250160"/>
            <a:ext cx="5388840" cy="134784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0160" tIns="200160" rIns="200160" bIns="20016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Depois do código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O QA verifica cada critério e guarda evidências.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8" name="Fonte 617"/>
          <p:cNvSpPr/>
          <p:nvPr/>
        </p:nvSpPr>
        <p:spPr>
          <a:xfrm>
            <a:off x="548640" y="5799960"/>
            <a:ext cx="11062080" cy="29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Modelo: Rodrigo Branas, Formação em IA (spec-driven-development).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PlaceHolder 2"/>
          <p:cNvSpPr>
            <a:spLocks noGrp="1"/>
          </p:cNvSpPr>
          <p:nvPr>
            <p:ph type="sldNum" idx="59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60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Uma spec extensa tende a compensar em tarefas maiores; para bugs pequenos, simplifique.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1" name="Selo 601"/>
          <p:cNvSpPr/>
          <p:nvPr/>
        </p:nvSpPr>
        <p:spPr>
          <a:xfrm>
            <a:off x="548640" y="1783080"/>
            <a:ext cx="2191320" cy="40824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6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Considere quando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2" name="Lista 602"/>
          <p:cNvSpPr/>
          <p:nvPr/>
        </p:nvSpPr>
        <p:spPr>
          <a:xfrm>
            <a:off x="548640" y="2329920"/>
            <a:ext cx="5388840" cy="3297960"/>
          </a:xfrm>
          <a:prstGeom prst="roundRect">
            <a:avLst>
              <a:gd name="adj" fmla="val 3478"/>
            </a:avLst>
          </a:prstGeom>
          <a:solidFill>
            <a:srgbClr val="F1F1F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19960" tIns="219960" rIns="219960" bIns="219960" anchor="t">
            <a:noAutofit/>
          </a:bodyPr>
          <a:lstStyle/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 Feature nova em sistema existente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 Projeto novo com decisões em aberto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 Modernização de legado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Selo 603"/>
          <p:cNvSpPr/>
          <p:nvPr/>
        </p:nvSpPr>
        <p:spPr>
          <a:xfrm>
            <a:off x="6221880" y="1783080"/>
            <a:ext cx="2191320" cy="408240"/>
          </a:xfrm>
          <a:prstGeom prst="roundRect">
            <a:avLst>
              <a:gd name="adj" fmla="val 17778"/>
            </a:avLst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6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Simplifique quando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4" name="Lista 604"/>
          <p:cNvSpPr/>
          <p:nvPr/>
        </p:nvSpPr>
        <p:spPr>
          <a:xfrm>
            <a:off x="6221880" y="2329920"/>
            <a:ext cx="5388840" cy="3297960"/>
          </a:xfrm>
          <a:prstGeom prst="roundRect">
            <a:avLst>
              <a:gd name="adj" fmla="val 3478"/>
            </a:avLst>
          </a:prstGeom>
          <a:solidFill>
            <a:srgbClr val="F1F1F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19960" tIns="219960" rIns="219960" bIns="219960" anchor="t">
            <a:noAutofit/>
          </a:bodyPr>
          <a:lstStyle/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 Bug localizado e bem entendido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 Mudança pequena com solução clara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 Documentação custaria mais que a mudança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Fonte 605"/>
          <p:cNvSpPr/>
          <p:nvPr/>
        </p:nvSpPr>
        <p:spPr>
          <a:xfrm>
            <a:off x="548640" y="5799960"/>
            <a:ext cx="11062080" cy="29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Fontes: GitHub Blog (casos de uso); Böckeler, martinfowler.com (bug e feature pequenos); spec-driven.md (requisitos que mudam).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PlaceHolder 2"/>
          <p:cNvSpPr>
            <a:spLocks noGrp="1"/>
          </p:cNvSpPr>
          <p:nvPr>
            <p:ph type="sldNum" idx="60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61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No experimento do Branas, executar as 5 tasks na mesma janela gastou 240k tokens, contra 650k.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8" name="Rotulo 601"/>
          <p:cNvSpPr/>
          <p:nvPr/>
        </p:nvSpPr>
        <p:spPr>
          <a:xfrm>
            <a:off x="548640" y="1783080"/>
            <a:ext cx="5388840" cy="34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21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Total de tokens nas 5 tasks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Legenda 602"/>
          <p:cNvSpPr/>
          <p:nvPr/>
        </p:nvSpPr>
        <p:spPr>
          <a:xfrm>
            <a:off x="548640" y="2199960"/>
            <a:ext cx="5388840" cy="29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2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Contexto limpo a cada task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Barra 603"/>
          <p:cNvSpPr/>
          <p:nvPr/>
        </p:nvSpPr>
        <p:spPr>
          <a:xfrm>
            <a:off x="548640" y="2520000"/>
            <a:ext cx="3697920" cy="397800"/>
          </a:xfrm>
          <a:prstGeom prst="rect">
            <a:avLst/>
          </a:prstGeom>
          <a:solidFill>
            <a:srgbClr val="6666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pt-BR" sz="14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781" name="Valor 604"/>
          <p:cNvSpPr/>
          <p:nvPr/>
        </p:nvSpPr>
        <p:spPr>
          <a:xfrm>
            <a:off x="4348800" y="2520000"/>
            <a:ext cx="897840" cy="39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650k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Legenda 605"/>
          <p:cNvSpPr/>
          <p:nvPr/>
        </p:nvSpPr>
        <p:spPr>
          <a:xfrm>
            <a:off x="548640" y="3099960"/>
            <a:ext cx="5388840" cy="29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2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Mesma janela, em sequência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Barra 606"/>
          <p:cNvSpPr/>
          <p:nvPr/>
        </p:nvSpPr>
        <p:spPr>
          <a:xfrm>
            <a:off x="548640" y="3420000"/>
            <a:ext cx="1364040" cy="3978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pt-BR" sz="14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784" name="Valor 607"/>
          <p:cNvSpPr/>
          <p:nvPr/>
        </p:nvSpPr>
        <p:spPr>
          <a:xfrm>
            <a:off x="2014920" y="3420000"/>
            <a:ext cx="897840" cy="39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240k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Rotulo 608"/>
          <p:cNvSpPr/>
          <p:nvPr/>
        </p:nvSpPr>
        <p:spPr>
          <a:xfrm>
            <a:off x="6221880" y="1783080"/>
            <a:ext cx="5388840" cy="34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21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Tokens lidos do cache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Legenda 609"/>
          <p:cNvSpPr/>
          <p:nvPr/>
        </p:nvSpPr>
        <p:spPr>
          <a:xfrm>
            <a:off x="6221880" y="2199960"/>
            <a:ext cx="5388840" cy="29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2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Contexto limpo a cada task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Barra 610"/>
          <p:cNvSpPr/>
          <p:nvPr/>
        </p:nvSpPr>
        <p:spPr>
          <a:xfrm>
            <a:off x="6221880" y="2520000"/>
            <a:ext cx="3697920" cy="397800"/>
          </a:xfrm>
          <a:prstGeom prst="rect">
            <a:avLst/>
          </a:prstGeom>
          <a:solidFill>
            <a:srgbClr val="6666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pt-BR" sz="14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788" name="Valor 611"/>
          <p:cNvSpPr/>
          <p:nvPr/>
        </p:nvSpPr>
        <p:spPr>
          <a:xfrm>
            <a:off x="10021680" y="2520000"/>
            <a:ext cx="897840" cy="39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16M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Legenda 612"/>
          <p:cNvSpPr/>
          <p:nvPr/>
        </p:nvSpPr>
        <p:spPr>
          <a:xfrm>
            <a:off x="6221880" y="3099960"/>
            <a:ext cx="5388840" cy="29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2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Mesma janela, em sequência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Barra 613"/>
          <p:cNvSpPr/>
          <p:nvPr/>
        </p:nvSpPr>
        <p:spPr>
          <a:xfrm>
            <a:off x="6221880" y="3420000"/>
            <a:ext cx="2310480" cy="3978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pt-BR" sz="14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791" name="Valor 614"/>
          <p:cNvSpPr/>
          <p:nvPr/>
        </p:nvSpPr>
        <p:spPr>
          <a:xfrm>
            <a:off x="8634240" y="3420000"/>
            <a:ext cx="897840" cy="39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10M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Rotulo 615"/>
          <p:cNvSpPr/>
          <p:nvPr/>
        </p:nvSpPr>
        <p:spPr>
          <a:xfrm>
            <a:off x="548640" y="4150080"/>
            <a:ext cx="5388840" cy="39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21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Benefício da mesma janela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Lista 616"/>
          <p:cNvSpPr/>
          <p:nvPr/>
        </p:nvSpPr>
        <p:spPr>
          <a:xfrm>
            <a:off x="548640" y="4600080"/>
            <a:ext cx="5388840" cy="109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pt-BR" sz="2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 Reusa cache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Rotulo 617"/>
          <p:cNvSpPr/>
          <p:nvPr/>
        </p:nvSpPr>
        <p:spPr>
          <a:xfrm>
            <a:off x="6221880" y="4150080"/>
            <a:ext cx="5388840" cy="39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2100" b="1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Custo da mesma janela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Lista 618"/>
          <p:cNvSpPr/>
          <p:nvPr/>
        </p:nvSpPr>
        <p:spPr>
          <a:xfrm>
            <a:off x="6221880" y="4600080"/>
            <a:ext cx="5388840" cy="109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pt-BR" sz="2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 Exige mais contexto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Fonte 619"/>
          <p:cNvSpPr/>
          <p:nvPr/>
        </p:nvSpPr>
        <p:spPr>
          <a:xfrm>
            <a:off x="548640" y="5850000"/>
            <a:ext cx="11062080" cy="29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Fonte: data.md, Rodrigo Branas, Formação em IA (medição do autor com 5 tasks do painel de clima).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PlaceHolder 2"/>
          <p:cNvSpPr>
            <a:spLocks noGrp="1"/>
          </p:cNvSpPr>
          <p:nvPr>
            <p:ph type="sldNum" idx="61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62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 SDD tem limites: specs verbosas, agentes que ignoram instruções e geração que varia.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9" name="Risco 601"/>
          <p:cNvSpPr/>
          <p:nvPr/>
        </p:nvSpPr>
        <p:spPr>
          <a:xfrm>
            <a:off x="548640" y="1783080"/>
            <a:ext cx="3497760" cy="3847680"/>
          </a:xfrm>
          <a:prstGeom prst="roundRect">
            <a:avLst>
              <a:gd name="adj" fmla="val 3478"/>
            </a:avLst>
          </a:prstGeom>
          <a:solidFill>
            <a:srgbClr val="F1F1F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49840" tIns="249840" rIns="249840" bIns="249840" anchor="t">
            <a:noAutofit/>
          </a:bodyPr>
          <a:lstStyle/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pt-BR" sz="2400" b="1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Specs verbosas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Muitos arquivos repetem informação.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pt-BR" sz="18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Como reduzir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Use um template enxuto por feature.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Risco 602"/>
          <p:cNvSpPr/>
          <p:nvPr/>
        </p:nvSpPr>
        <p:spPr>
          <a:xfrm>
            <a:off x="4330800" y="1783080"/>
            <a:ext cx="3497760" cy="3847680"/>
          </a:xfrm>
          <a:prstGeom prst="roundRect">
            <a:avLst>
              <a:gd name="adj" fmla="val 3478"/>
            </a:avLst>
          </a:prstGeom>
          <a:solidFill>
            <a:srgbClr val="F1F1F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49840" tIns="249840" rIns="249840" bIns="249840" anchor="t">
            <a:noAutofit/>
          </a:bodyPr>
          <a:lstStyle/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pt-BR" sz="2400" b="1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Regras ignoradas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 agente pode interpretar mal instruções.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pt-BR" sz="18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Como reduzir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Confira critérios com testes.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Risco 603"/>
          <p:cNvSpPr/>
          <p:nvPr/>
        </p:nvSpPr>
        <p:spPr>
          <a:xfrm>
            <a:off x="8112960" y="1783080"/>
            <a:ext cx="3497760" cy="3847680"/>
          </a:xfrm>
          <a:prstGeom prst="roundRect">
            <a:avLst>
              <a:gd name="adj" fmla="val 3478"/>
            </a:avLst>
          </a:prstGeom>
          <a:solidFill>
            <a:srgbClr val="F1F1F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49840" tIns="249840" rIns="249840" bIns="249840" anchor="t">
            <a:noAutofit/>
          </a:bodyPr>
          <a:lstStyle/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pt-BR" sz="2400" b="1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Resultados variam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 mesma spec pode gerar código diferente.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pt-BR" sz="18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Como reduzir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Divida tasks e automatize testes.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Fonte 604"/>
          <p:cNvSpPr/>
          <p:nvPr/>
        </p:nvSpPr>
        <p:spPr>
          <a:xfrm>
            <a:off x="548640" y="5799960"/>
            <a:ext cx="11062080" cy="29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Fonte: Böckeler, martinfowler.com, Understanding Spec-Driven-Development.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PlaceHolder 2"/>
          <p:cNvSpPr>
            <a:spLocks noGrp="1"/>
          </p:cNvSpPr>
          <p:nvPr>
            <p:ph type="sldNum" idx="62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63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 agente propõe, mas você continua responsável por revisar o que ele entrega.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5" name="Text 1"/>
          <p:cNvSpPr/>
          <p:nvPr/>
        </p:nvSpPr>
        <p:spPr>
          <a:xfrm>
            <a:off x="548640" y="2194560"/>
            <a:ext cx="2511360" cy="127692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1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O agente produz a mudança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6" name="Shape 2"/>
          <p:cNvSpPr/>
          <p:nvPr/>
        </p:nvSpPr>
        <p:spPr>
          <a:xfrm>
            <a:off x="3108960" y="2834640"/>
            <a:ext cx="274320" cy="360"/>
          </a:xfrm>
          <a:prstGeom prst="line">
            <a:avLst/>
          </a:prstGeom>
          <a:ln w="22225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807" name="Text 3"/>
          <p:cNvSpPr/>
          <p:nvPr/>
        </p:nvSpPr>
        <p:spPr>
          <a:xfrm>
            <a:off x="3429000" y="2194560"/>
            <a:ext cx="2511360" cy="1276920"/>
          </a:xfrm>
          <a:prstGeom prst="roundRect">
            <a:avLst>
              <a:gd name="adj" fmla="val 5714"/>
            </a:avLst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1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Você lê o diff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8" name="Shape 4"/>
          <p:cNvSpPr/>
          <p:nvPr/>
        </p:nvSpPr>
        <p:spPr>
          <a:xfrm>
            <a:off x="5989320" y="2834640"/>
            <a:ext cx="274320" cy="360"/>
          </a:xfrm>
          <a:prstGeom prst="line">
            <a:avLst/>
          </a:prstGeom>
          <a:ln w="22225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809" name="Text 5"/>
          <p:cNvSpPr/>
          <p:nvPr/>
        </p:nvSpPr>
        <p:spPr>
          <a:xfrm>
            <a:off x="6309360" y="2194560"/>
            <a:ext cx="2511360" cy="1276920"/>
          </a:xfrm>
          <a:prstGeom prst="roundRect">
            <a:avLst>
              <a:gd name="adj" fmla="val 5714"/>
            </a:avLst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1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Testes e critérios rodam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0" name="Shape 6"/>
          <p:cNvSpPr/>
          <p:nvPr/>
        </p:nvSpPr>
        <p:spPr>
          <a:xfrm>
            <a:off x="8869680" y="2834640"/>
            <a:ext cx="274320" cy="360"/>
          </a:xfrm>
          <a:prstGeom prst="line">
            <a:avLst/>
          </a:prstGeom>
          <a:ln w="22225">
            <a:solidFill>
              <a:srgbClr val="33333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811" name="Text 7"/>
          <p:cNvSpPr/>
          <p:nvPr/>
        </p:nvSpPr>
        <p:spPr>
          <a:xfrm>
            <a:off x="9189720" y="2194560"/>
            <a:ext cx="2511360" cy="127692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1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Você aceita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2" name="Shape 8"/>
          <p:cNvSpPr/>
          <p:nvPr/>
        </p:nvSpPr>
        <p:spPr>
          <a:xfrm>
            <a:off x="4686120" y="3520440"/>
            <a:ext cx="360" cy="457200"/>
          </a:xfrm>
          <a:prstGeom prst="line">
            <a:avLst/>
          </a:prstGeom>
          <a:ln w="19050">
            <a:solidFill>
              <a:srgbClr val="6666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813" name="Shape 9"/>
          <p:cNvSpPr/>
          <p:nvPr/>
        </p:nvSpPr>
        <p:spPr>
          <a:xfrm flipH="1">
            <a:off x="1805760" y="3977640"/>
            <a:ext cx="2880360" cy="360"/>
          </a:xfrm>
          <a:prstGeom prst="line">
            <a:avLst/>
          </a:prstGeom>
          <a:ln w="19050">
            <a:solidFill>
              <a:srgbClr val="6666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814" name="Shape 10"/>
          <p:cNvSpPr/>
          <p:nvPr/>
        </p:nvSpPr>
        <p:spPr>
          <a:xfrm flipV="1">
            <a:off x="1805760" y="3547800"/>
            <a:ext cx="360" cy="429840"/>
          </a:xfrm>
          <a:prstGeom prst="line">
            <a:avLst/>
          </a:prstGeom>
          <a:ln w="19050">
            <a:solidFill>
              <a:srgbClr val="6666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815" name="Text 11"/>
          <p:cNvSpPr/>
          <p:nvPr/>
        </p:nvSpPr>
        <p:spPr>
          <a:xfrm>
            <a:off x="1806120" y="4050720"/>
            <a:ext cx="2877120" cy="31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ou devolve com feedback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Text 12"/>
          <p:cNvSpPr/>
          <p:nvPr/>
        </p:nvSpPr>
        <p:spPr>
          <a:xfrm>
            <a:off x="548640" y="5120640"/>
            <a:ext cx="11061000" cy="54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O agente pode afirmar com segurança algo errado.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PlaceHolder 2"/>
          <p:cNvSpPr>
            <a:spLocks noGrp="1"/>
          </p:cNvSpPr>
          <p:nvPr>
            <p:ph type="sldNum" idx="63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64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Cada mecanismo resolve um problema diferente de informação.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819" name="Table 0"/>
          <p:cNvGraphicFramePr/>
          <p:nvPr/>
        </p:nvGraphicFramePr>
        <p:xfrm>
          <a:off x="548640" y="1828800"/>
          <a:ext cx="11064240" cy="40950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Mecanismo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Quando entra no contexto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Problema que resolve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Rules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conforme escopo e cliente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convenções do projeto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Skills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sob demanda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procedimentos reutilizáveis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Tools e MCP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quando o modelo as chama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agir fora do modelo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Spec e plano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durante a tarefa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 que construir agora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Memória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quando é relida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continuar entre sessões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Subagentes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só o resumo volta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isolar tarefas em contextos próprios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anchor="ctr">
                    <a:lnL w="9360">
                      <a:solidFill>
                        <a:srgbClr val="C3C3C3"/>
                      </a:solidFill>
                      <a:prstDash val="solid"/>
                    </a:lnL>
                    <a:lnR w="9360">
                      <a:solidFill>
                        <a:srgbClr val="C3C3C3"/>
                      </a:solidFill>
                      <a:prstDash val="solid"/>
                    </a:lnR>
                    <a:lnT w="9360">
                      <a:solidFill>
                        <a:srgbClr val="C3C3C3"/>
                      </a:solidFill>
                      <a:prstDash val="solid"/>
                    </a:lnT>
                    <a:lnB w="9360">
                      <a:solidFill>
                        <a:srgbClr val="C3C3C3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20" name="PlaceHolder 2"/>
          <p:cNvSpPr>
            <a:spLocks noGrp="1"/>
          </p:cNvSpPr>
          <p:nvPr>
            <p:ph type="sldNum" idx="64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65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PlaceHolder 1"/>
          <p:cNvSpPr>
            <a:spLocks noGrp="1"/>
          </p:cNvSpPr>
          <p:nvPr>
            <p:ph type="title"/>
          </p:nvPr>
        </p:nvSpPr>
        <p:spPr>
          <a:xfrm>
            <a:off x="548640" y="384120"/>
            <a:ext cx="11061000" cy="10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Um pedido vago deixa o agente adivinhar tudo o que importa.</a:t>
            </a:r>
            <a:endParaRPr lang="pt-BR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2" name="Text 1"/>
          <p:cNvSpPr/>
          <p:nvPr/>
        </p:nvSpPr>
        <p:spPr>
          <a:xfrm>
            <a:off x="4251960" y="3017520"/>
            <a:ext cx="3654360" cy="136836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“Crie um gerenciador financeiro pessoal.”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3" name="Text 2"/>
          <p:cNvSpPr/>
          <p:nvPr/>
        </p:nvSpPr>
        <p:spPr>
          <a:xfrm>
            <a:off x="548640" y="1828800"/>
            <a:ext cx="3151440" cy="728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Qual linguagem e framework?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Text 3"/>
          <p:cNvSpPr/>
          <p:nvPr/>
        </p:nvSpPr>
        <p:spPr>
          <a:xfrm>
            <a:off x="8458200" y="1828800"/>
            <a:ext cx="3151440" cy="728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Que testes provam que funciona?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Shape 4"/>
          <p:cNvSpPr/>
          <p:nvPr/>
        </p:nvSpPr>
        <p:spPr>
          <a:xfrm>
            <a:off x="3749040" y="2194560"/>
            <a:ext cx="457200" cy="1508760"/>
          </a:xfrm>
          <a:prstGeom prst="line">
            <a:avLst/>
          </a:prstGeom>
          <a:ln w="1270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826" name="Shape 5"/>
          <p:cNvSpPr/>
          <p:nvPr/>
        </p:nvSpPr>
        <p:spPr>
          <a:xfrm flipH="1">
            <a:off x="7955280" y="2194560"/>
            <a:ext cx="457200" cy="1508760"/>
          </a:xfrm>
          <a:prstGeom prst="line">
            <a:avLst/>
          </a:prstGeom>
          <a:ln w="1270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827" name="Text 6"/>
          <p:cNvSpPr/>
          <p:nvPr/>
        </p:nvSpPr>
        <p:spPr>
          <a:xfrm>
            <a:off x="548640" y="3337560"/>
            <a:ext cx="3151440" cy="728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Quais lançamentos registrar?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Text 7"/>
          <p:cNvSpPr/>
          <p:nvPr/>
        </p:nvSpPr>
        <p:spPr>
          <a:xfrm>
            <a:off x="8458200" y="3337560"/>
            <a:ext cx="3151440" cy="728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Quais convenções do projeto?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Shape 8"/>
          <p:cNvSpPr/>
          <p:nvPr/>
        </p:nvSpPr>
        <p:spPr>
          <a:xfrm>
            <a:off x="3749040" y="3703320"/>
            <a:ext cx="457200" cy="360"/>
          </a:xfrm>
          <a:prstGeom prst="line">
            <a:avLst/>
          </a:prstGeom>
          <a:ln w="1270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830" name="Shape 9"/>
          <p:cNvSpPr/>
          <p:nvPr/>
        </p:nvSpPr>
        <p:spPr>
          <a:xfrm flipH="1">
            <a:off x="7955280" y="3703320"/>
            <a:ext cx="457200" cy="360"/>
          </a:xfrm>
          <a:prstGeom prst="line">
            <a:avLst/>
          </a:prstGeom>
          <a:ln w="1270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831" name="Text 10"/>
          <p:cNvSpPr/>
          <p:nvPr/>
        </p:nvSpPr>
        <p:spPr>
          <a:xfrm>
            <a:off x="548640" y="4846320"/>
            <a:ext cx="3151440" cy="728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Onde os dados ficam?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Text 11"/>
          <p:cNvSpPr/>
          <p:nvPr/>
        </p:nvSpPr>
        <p:spPr>
          <a:xfrm>
            <a:off x="8458200" y="4846320"/>
            <a:ext cx="3151440" cy="728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Como calcular o saldo mensal?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Shape 12"/>
          <p:cNvSpPr/>
          <p:nvPr/>
        </p:nvSpPr>
        <p:spPr>
          <a:xfrm flipV="1">
            <a:off x="3749040" y="3703320"/>
            <a:ext cx="457200" cy="1508760"/>
          </a:xfrm>
          <a:prstGeom prst="line">
            <a:avLst/>
          </a:prstGeom>
          <a:ln w="1270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834" name="Shape 13"/>
          <p:cNvSpPr/>
          <p:nvPr/>
        </p:nvSpPr>
        <p:spPr>
          <a:xfrm flipH="1" flipV="1">
            <a:off x="7955280" y="3703320"/>
            <a:ext cx="457200" cy="1508760"/>
          </a:xfrm>
          <a:prstGeom prst="line">
            <a:avLst/>
          </a:prstGeom>
          <a:ln w="1270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835" name="Text 14"/>
          <p:cNvSpPr/>
          <p:nvPr/>
        </p:nvSpPr>
        <p:spPr>
          <a:xfrm>
            <a:off x="548640" y="5760720"/>
            <a:ext cx="11061000" cy="40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 agente tem contexto suficiente?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PlaceHolder 2"/>
          <p:cNvSpPr>
            <a:spLocks noGrp="1"/>
          </p:cNvSpPr>
          <p:nvPr>
            <p:ph type="sldNum" idx="65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66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Elemento 2"/>
          <p:cNvSpPr/>
          <p:nvPr/>
        </p:nvSpPr>
        <p:spPr>
          <a:xfrm>
            <a:off x="548640" y="384120"/>
            <a:ext cx="11063160" cy="109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3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Vamos preparar o projeto com rules, MCPs e a skill fornecida.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Elemento 10"/>
          <p:cNvSpPr/>
          <p:nvPr/>
        </p:nvSpPr>
        <p:spPr>
          <a:xfrm>
            <a:off x="548640" y="1783080"/>
            <a:ext cx="1106316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100" b="1" u="none" strike="noStrike">
                <a:solidFill>
                  <a:srgbClr val="1B8457"/>
                </a:solidFill>
                <a:effectLst/>
                <a:uFillTx/>
                <a:latin typeface="Calibri"/>
              </a:rPr>
              <a:t>PRÁTICA · PREPARAR O GERENCIADOR FINANCEIRO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Elemento 11"/>
          <p:cNvSpPr/>
          <p:nvPr/>
        </p:nvSpPr>
        <p:spPr>
          <a:xfrm>
            <a:off x="548640" y="2514600"/>
            <a:ext cx="3427920" cy="2467800"/>
          </a:xfrm>
          <a:prstGeom prst="rect">
            <a:avLst/>
          </a:prstGeom>
          <a:solidFill>
            <a:srgbClr val="2C658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6160" tIns="128160" rIns="14616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AGENTS.md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2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Criar na raiz: comandos,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2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convenções e limites;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2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confirmar sua leitura.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0" name="Elemento 12"/>
          <p:cNvSpPr/>
          <p:nvPr/>
        </p:nvSpPr>
        <p:spPr>
          <a:xfrm>
            <a:off x="4370760" y="2514600"/>
            <a:ext cx="3427920" cy="2467800"/>
          </a:xfrm>
          <a:prstGeom prst="rect">
            <a:avLst/>
          </a:prstGeom>
          <a:solidFill>
            <a:srgbClr val="2C658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6160" tIns="128160" rIns="14616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MCPs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2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Conectar os serviços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2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 verificar as ferramentas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2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disponíveis ao agente.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1" name="Elemento 13"/>
          <p:cNvSpPr/>
          <p:nvPr/>
        </p:nvSpPr>
        <p:spPr>
          <a:xfrm>
            <a:off x="8183880" y="2514600"/>
            <a:ext cx="3427920" cy="2467800"/>
          </a:xfrm>
          <a:prstGeom prst="rect">
            <a:avLst/>
          </a:prstGeom>
          <a:solidFill>
            <a:srgbClr val="1B84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6160" tIns="128160" rIns="14616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Skills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2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Instalar a skill pronta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2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 acioná-la no projeto.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2" name="Elemento 14"/>
          <p:cNvSpPr/>
          <p:nvPr/>
        </p:nvSpPr>
        <p:spPr>
          <a:xfrm>
            <a:off x="548640" y="5440680"/>
            <a:ext cx="11063160" cy="59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600" b="1" u="none" strike="noStrike">
                <a:solidFill>
                  <a:srgbClr val="1B8457"/>
                </a:solidFill>
                <a:effectLst/>
                <a:uFillTx/>
                <a:latin typeface="Calibri"/>
              </a:rPr>
              <a:t>Resultado: agente configurado para trabalhar no projeto.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Elemento 99"/>
          <p:cNvSpPr/>
          <p:nvPr/>
        </p:nvSpPr>
        <p:spPr>
          <a:xfrm>
            <a:off x="11155680" y="640080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2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67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Elemento 2"/>
          <p:cNvSpPr/>
          <p:nvPr/>
        </p:nvSpPr>
        <p:spPr>
          <a:xfrm>
            <a:off x="548640" y="384120"/>
            <a:ext cx="11063160" cy="109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3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Vamos aplicar PRD → Spec → Tasks → QA → Review ao gerenciador.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Elemento 10"/>
          <p:cNvSpPr/>
          <p:nvPr/>
        </p:nvSpPr>
        <p:spPr>
          <a:xfrm>
            <a:off x="548640" y="1783080"/>
            <a:ext cx="1106316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100" b="1" u="none" strike="noStrike">
                <a:solidFill>
                  <a:srgbClr val="1B8457"/>
                </a:solidFill>
                <a:effectLst/>
                <a:uFillTx/>
                <a:latin typeface="Calibri"/>
              </a:rPr>
              <a:t>PRÁTICA · APLICAR O FLUXO NO MESMO PROJETO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Elemento 20"/>
          <p:cNvSpPr/>
          <p:nvPr/>
        </p:nvSpPr>
        <p:spPr>
          <a:xfrm>
            <a:off x="548640" y="2560320"/>
            <a:ext cx="1919160" cy="684720"/>
          </a:xfrm>
          <a:prstGeom prst="rect">
            <a:avLst/>
          </a:prstGeom>
          <a:solidFill>
            <a:srgbClr val="2C658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6160" tIns="128160" rIns="14616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PRD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7" name="Elemento 21"/>
          <p:cNvSpPr/>
          <p:nvPr/>
        </p:nvSpPr>
        <p:spPr>
          <a:xfrm>
            <a:off x="548640" y="3474720"/>
            <a:ext cx="1919160" cy="105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 que entregar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2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 por quê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Elemento 22"/>
          <p:cNvSpPr/>
          <p:nvPr/>
        </p:nvSpPr>
        <p:spPr>
          <a:xfrm>
            <a:off x="548640" y="4663440"/>
            <a:ext cx="191916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900" b="1" u="none" strike="noStrike">
                <a:solidFill>
                  <a:srgbClr val="1B8457"/>
                </a:solidFill>
                <a:effectLst/>
                <a:uFillTx/>
                <a:latin typeface="Calibri"/>
              </a:rPr>
              <a:t>prd.md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Elemento 40"/>
          <p:cNvSpPr/>
          <p:nvPr/>
        </p:nvSpPr>
        <p:spPr>
          <a:xfrm>
            <a:off x="2496240" y="2679120"/>
            <a:ext cx="31896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700" b="0" u="none" strike="noStrike">
                <a:solidFill>
                  <a:srgbClr val="2C658C"/>
                </a:solidFill>
                <a:effectLst/>
                <a:uFillTx/>
                <a:latin typeface="Calibri"/>
              </a:rPr>
              <a:t>→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Elemento 23"/>
          <p:cNvSpPr/>
          <p:nvPr/>
        </p:nvSpPr>
        <p:spPr>
          <a:xfrm>
            <a:off x="2834640" y="2560320"/>
            <a:ext cx="1919160" cy="684720"/>
          </a:xfrm>
          <a:prstGeom prst="rect">
            <a:avLst/>
          </a:prstGeom>
          <a:solidFill>
            <a:srgbClr val="2C658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6160" tIns="128160" rIns="14616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Spec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1" name="Elemento 24"/>
          <p:cNvSpPr/>
          <p:nvPr/>
        </p:nvSpPr>
        <p:spPr>
          <a:xfrm>
            <a:off x="2834640" y="3474720"/>
            <a:ext cx="1919160" cy="105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Como construir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2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 testar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" name="Elemento 25"/>
          <p:cNvSpPr/>
          <p:nvPr/>
        </p:nvSpPr>
        <p:spPr>
          <a:xfrm>
            <a:off x="2834640" y="4663440"/>
            <a:ext cx="191916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900" b="1" u="none" strike="noStrike">
                <a:solidFill>
                  <a:srgbClr val="1B8457"/>
                </a:solidFill>
                <a:effectLst/>
                <a:uFillTx/>
                <a:latin typeface="Calibri"/>
              </a:rPr>
              <a:t>spec.md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Elemento 41"/>
          <p:cNvSpPr/>
          <p:nvPr/>
        </p:nvSpPr>
        <p:spPr>
          <a:xfrm>
            <a:off x="4782240" y="2679120"/>
            <a:ext cx="31896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700" b="0" u="none" strike="noStrike">
                <a:solidFill>
                  <a:srgbClr val="2C658C"/>
                </a:solidFill>
                <a:effectLst/>
                <a:uFillTx/>
                <a:latin typeface="Calibri"/>
              </a:rPr>
              <a:t>→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Elemento 26"/>
          <p:cNvSpPr/>
          <p:nvPr/>
        </p:nvSpPr>
        <p:spPr>
          <a:xfrm>
            <a:off x="5120640" y="2560320"/>
            <a:ext cx="1919160" cy="684720"/>
          </a:xfrm>
          <a:prstGeom prst="rect">
            <a:avLst/>
          </a:prstGeom>
          <a:solidFill>
            <a:srgbClr val="2C658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6160" tIns="128160" rIns="14616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Tasks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5" name="Elemento 27"/>
          <p:cNvSpPr/>
          <p:nvPr/>
        </p:nvSpPr>
        <p:spPr>
          <a:xfrm>
            <a:off x="5120640" y="3474720"/>
            <a:ext cx="1919160" cy="105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Organizar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2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 execução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Elemento 28"/>
          <p:cNvSpPr/>
          <p:nvPr/>
        </p:nvSpPr>
        <p:spPr>
          <a:xfrm>
            <a:off x="5120640" y="4663440"/>
            <a:ext cx="191916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900" b="1" u="none" strike="noStrike">
                <a:solidFill>
                  <a:srgbClr val="1B8457"/>
                </a:solidFill>
                <a:effectLst/>
                <a:uFillTx/>
                <a:latin typeface="Calibri"/>
              </a:rPr>
              <a:t>tasks.md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Elemento 42"/>
          <p:cNvSpPr/>
          <p:nvPr/>
        </p:nvSpPr>
        <p:spPr>
          <a:xfrm>
            <a:off x="7068240" y="2679120"/>
            <a:ext cx="31896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700" b="0" u="none" strike="noStrike">
                <a:solidFill>
                  <a:srgbClr val="2C658C"/>
                </a:solidFill>
                <a:effectLst/>
                <a:uFillTx/>
                <a:latin typeface="Calibri"/>
              </a:rPr>
              <a:t>→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Elemento 29"/>
          <p:cNvSpPr/>
          <p:nvPr/>
        </p:nvSpPr>
        <p:spPr>
          <a:xfrm>
            <a:off x="7406640" y="2560320"/>
            <a:ext cx="1919160" cy="684720"/>
          </a:xfrm>
          <a:prstGeom prst="rect">
            <a:avLst/>
          </a:prstGeom>
          <a:solidFill>
            <a:srgbClr val="2C658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6160" tIns="128160" rIns="14616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QA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9" name="Elemento 30"/>
          <p:cNvSpPr/>
          <p:nvPr/>
        </p:nvSpPr>
        <p:spPr>
          <a:xfrm>
            <a:off x="7406640" y="3474720"/>
            <a:ext cx="1919160" cy="105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Verificar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2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os critérios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Elemento 31"/>
          <p:cNvSpPr/>
          <p:nvPr/>
        </p:nvSpPr>
        <p:spPr>
          <a:xfrm>
            <a:off x="7406640" y="4663440"/>
            <a:ext cx="191916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900" b="1" u="none" strike="noStrike">
                <a:solidFill>
                  <a:srgbClr val="1B8457"/>
                </a:solidFill>
                <a:effectLst/>
                <a:uFillTx/>
                <a:latin typeface="Calibri"/>
              </a:rPr>
              <a:t>qa.md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Elemento 43"/>
          <p:cNvSpPr/>
          <p:nvPr/>
        </p:nvSpPr>
        <p:spPr>
          <a:xfrm>
            <a:off x="9354240" y="2679120"/>
            <a:ext cx="31896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700" b="0" u="none" strike="noStrike">
                <a:solidFill>
                  <a:srgbClr val="2C658C"/>
                </a:solidFill>
                <a:effectLst/>
                <a:uFillTx/>
                <a:latin typeface="Calibri"/>
              </a:rPr>
              <a:t>→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Elemento 32"/>
          <p:cNvSpPr/>
          <p:nvPr/>
        </p:nvSpPr>
        <p:spPr>
          <a:xfrm>
            <a:off x="9692640" y="2560320"/>
            <a:ext cx="1919160" cy="684720"/>
          </a:xfrm>
          <a:prstGeom prst="rect">
            <a:avLst/>
          </a:prstGeom>
          <a:solidFill>
            <a:srgbClr val="1B84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6160" tIns="128160" rIns="14616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Review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3" name="Elemento 33"/>
          <p:cNvSpPr/>
          <p:nvPr/>
        </p:nvSpPr>
        <p:spPr>
          <a:xfrm>
            <a:off x="9692640" y="3474720"/>
            <a:ext cx="1919160" cy="105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Revisar código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pt-BR" sz="2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 aceitar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4" name="Elemento 34"/>
          <p:cNvSpPr/>
          <p:nvPr/>
        </p:nvSpPr>
        <p:spPr>
          <a:xfrm>
            <a:off x="9692640" y="4663440"/>
            <a:ext cx="191916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900" b="1" u="none" strike="noStrike">
                <a:solidFill>
                  <a:srgbClr val="1B8457"/>
                </a:solidFill>
                <a:effectLst/>
                <a:uFillTx/>
                <a:latin typeface="Calibri"/>
              </a:rPr>
              <a:t>review.md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Elemento 50"/>
          <p:cNvSpPr/>
          <p:nvPr/>
        </p:nvSpPr>
        <p:spPr>
          <a:xfrm>
            <a:off x="548640" y="5394960"/>
            <a:ext cx="1106316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Após planejar as tasks, o agente implementa; QA e Review verificam a entrega.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Elemento 51"/>
          <p:cNvSpPr/>
          <p:nvPr/>
        </p:nvSpPr>
        <p:spPr>
          <a:xfrm>
            <a:off x="548640" y="5943600"/>
            <a:ext cx="1106316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2000" b="1" u="none" strike="noStrike">
                <a:solidFill>
                  <a:srgbClr val="1B8457"/>
                </a:solidFill>
                <a:effectLst/>
                <a:uFillTx/>
                <a:latin typeface="Calibri"/>
              </a:rPr>
              <a:t>Entrega: lançamentos persistidos, saldo correto e critérios comprovados.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Elemento 99"/>
          <p:cNvSpPr/>
          <p:nvPr/>
        </p:nvSpPr>
        <p:spPr>
          <a:xfrm>
            <a:off x="11155680" y="640080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2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68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PlaceHolder 1"/>
          <p:cNvSpPr>
            <a:spLocks noGrp="1"/>
          </p:cNvSpPr>
          <p:nvPr>
            <p:ph type="title"/>
          </p:nvPr>
        </p:nvSpPr>
        <p:spPr>
          <a:xfrm>
            <a:off x="548640" y="628560"/>
            <a:ext cx="11061000" cy="95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550" b="1" u="none" strike="noStrike">
                <a:solidFill>
                  <a:srgbClr val="1B8457"/>
                </a:solidFill>
                <a:effectLst/>
                <a:uFillTx/>
                <a:latin typeface="Calibri"/>
                <a:ea typeface="Calibri"/>
              </a:rPr>
              <a:t>Obrigado!</a:t>
            </a:r>
            <a:endParaRPr lang="pt-BR" sz="4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9" name="Text 2"/>
          <p:cNvSpPr/>
          <p:nvPr/>
        </p:nvSpPr>
        <p:spPr>
          <a:xfrm>
            <a:off x="548640" y="3543480"/>
            <a:ext cx="11061000" cy="104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8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Você define o trabalho e valida a entrega.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Text 10"/>
          <p:cNvSpPr/>
          <p:nvPr/>
        </p:nvSpPr>
        <p:spPr>
          <a:xfrm>
            <a:off x="548640" y="2333520"/>
            <a:ext cx="11061000" cy="1045080"/>
          </a:xfrm>
          <a:prstGeom prst="roundRect">
            <a:avLst>
              <a:gd name="adj" fmla="val 5926"/>
            </a:avLst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8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Com contexto e ferramentas, o agente pode agir.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PlaceHolder 2"/>
          <p:cNvSpPr>
            <a:spLocks noGrp="1"/>
          </p:cNvSpPr>
          <p:nvPr>
            <p:ph type="sldNum" idx="66"/>
          </p:nvPr>
        </p:nvSpPr>
        <p:spPr>
          <a:xfrm>
            <a:off x="11155680" y="6400800"/>
            <a:ext cx="453960" cy="2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libri"/>
              </a:rPr>
              <a:t>69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Footer text local fallback"/>
          <p:cNvSpPr/>
          <p:nvPr/>
        </p:nvSpPr>
        <p:spPr>
          <a:xfrm>
            <a:off x="548640" y="6400800"/>
            <a:ext cx="5483160" cy="27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Agentes de IA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3" name="Picture 606"/>
          <p:cNvPicPr/>
          <p:nvPr/>
        </p:nvPicPr>
        <p:blipFill>
          <a:blip r:embed="rId3"/>
          <a:stretch/>
        </p:blipFill>
        <p:spPr>
          <a:xfrm>
            <a:off x="9831960" y="6437520"/>
            <a:ext cx="1012680" cy="198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ssertion-Evidence · UNIVAS">
  <a:themeElements>
    <a:clrScheme name="Assertion-Evidence · UNIVAS">
      <a:dk1>
        <a:srgbClr val="333333"/>
      </a:dk1>
      <a:lt1>
        <a:srgbClr val="FFFFFF"/>
      </a:lt1>
      <a:dk2>
        <a:srgbClr val="2C658C"/>
      </a:dk2>
      <a:lt2>
        <a:srgbClr val="F1F1F1"/>
      </a:lt2>
      <a:accent1>
        <a:srgbClr val="1B8457"/>
      </a:accent1>
      <a:accent2>
        <a:srgbClr val="2CBC59"/>
      </a:accent2>
      <a:accent3>
        <a:srgbClr val="666666"/>
      </a:accent3>
      <a:accent4>
        <a:srgbClr val="B91C1C"/>
      </a:accent4>
      <a:accent5>
        <a:srgbClr val="B45309"/>
      </a:accent5>
      <a:accent6>
        <a:srgbClr val="C3C3C3"/>
      </a:accent6>
      <a:hlink>
        <a:srgbClr val="1B8457"/>
      </a:hlink>
      <a:folHlink>
        <a:srgbClr val="666666"/>
      </a:folHlink>
    </a:clrScheme>
    <a:fontScheme name="Assertion-Evidence · UNIVA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ssertion-Evidence · UNIVAS">
  <a:themeElements>
    <a:clrScheme name="Assertion-Evidence · UNIVAS">
      <a:dk1>
        <a:srgbClr val="333333"/>
      </a:dk1>
      <a:lt1>
        <a:srgbClr val="FFFFFF"/>
      </a:lt1>
      <a:dk2>
        <a:srgbClr val="2C658C"/>
      </a:dk2>
      <a:lt2>
        <a:srgbClr val="F1F1F1"/>
      </a:lt2>
      <a:accent1>
        <a:srgbClr val="1B8457"/>
      </a:accent1>
      <a:accent2>
        <a:srgbClr val="2CBC59"/>
      </a:accent2>
      <a:accent3>
        <a:srgbClr val="666666"/>
      </a:accent3>
      <a:accent4>
        <a:srgbClr val="B91C1C"/>
      </a:accent4>
      <a:accent5>
        <a:srgbClr val="B45309"/>
      </a:accent5>
      <a:accent6>
        <a:srgbClr val="C3C3C3"/>
      </a:accent6>
      <a:hlink>
        <a:srgbClr val="1B8457"/>
      </a:hlink>
      <a:folHlink>
        <a:srgbClr val="666666"/>
      </a:folHlink>
    </a:clrScheme>
    <a:fontScheme name="Assertion-Evidence · UNIVA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Assertion-Evidence · UNIVAS">
  <a:themeElements>
    <a:clrScheme name="Assertion-Evidence · UNIVAS">
      <a:dk1>
        <a:srgbClr val="333333"/>
      </a:dk1>
      <a:lt1>
        <a:srgbClr val="FFFFFF"/>
      </a:lt1>
      <a:dk2>
        <a:srgbClr val="2C658C"/>
      </a:dk2>
      <a:lt2>
        <a:srgbClr val="F1F1F1"/>
      </a:lt2>
      <a:accent1>
        <a:srgbClr val="1B8457"/>
      </a:accent1>
      <a:accent2>
        <a:srgbClr val="2CBC59"/>
      </a:accent2>
      <a:accent3>
        <a:srgbClr val="666666"/>
      </a:accent3>
      <a:accent4>
        <a:srgbClr val="B91C1C"/>
      </a:accent4>
      <a:accent5>
        <a:srgbClr val="B45309"/>
      </a:accent5>
      <a:accent6>
        <a:srgbClr val="C3C3C3"/>
      </a:accent6>
      <a:hlink>
        <a:srgbClr val="1B8457"/>
      </a:hlink>
      <a:folHlink>
        <a:srgbClr val="666666"/>
      </a:folHlink>
    </a:clrScheme>
    <a:fontScheme name="Assertion-Evidence · UNIVA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Assertion-Evidence · UNIVAS">
  <a:themeElements>
    <a:clrScheme name="Assertion-Evidence · UNIVAS">
      <a:dk1>
        <a:srgbClr val="333333"/>
      </a:dk1>
      <a:lt1>
        <a:srgbClr val="FFFFFF"/>
      </a:lt1>
      <a:dk2>
        <a:srgbClr val="2C658C"/>
      </a:dk2>
      <a:lt2>
        <a:srgbClr val="F1F1F1"/>
      </a:lt2>
      <a:accent1>
        <a:srgbClr val="1B8457"/>
      </a:accent1>
      <a:accent2>
        <a:srgbClr val="2CBC59"/>
      </a:accent2>
      <a:accent3>
        <a:srgbClr val="666666"/>
      </a:accent3>
      <a:accent4>
        <a:srgbClr val="B91C1C"/>
      </a:accent4>
      <a:accent5>
        <a:srgbClr val="B45309"/>
      </a:accent5>
      <a:accent6>
        <a:srgbClr val="C3C3C3"/>
      </a:accent6>
      <a:hlink>
        <a:srgbClr val="1B8457"/>
      </a:hlink>
      <a:folHlink>
        <a:srgbClr val="666666"/>
      </a:folHlink>
    </a:clrScheme>
    <a:fontScheme name="Assertion-Evidence · UNIVA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Assertion-Evidence · UNIVAS">
  <a:themeElements>
    <a:clrScheme name="Assertion-Evidence · UNIVAS">
      <a:dk1>
        <a:srgbClr val="333333"/>
      </a:dk1>
      <a:lt1>
        <a:srgbClr val="FFFFFF"/>
      </a:lt1>
      <a:dk2>
        <a:srgbClr val="2C658C"/>
      </a:dk2>
      <a:lt2>
        <a:srgbClr val="F1F1F1"/>
      </a:lt2>
      <a:accent1>
        <a:srgbClr val="1B8457"/>
      </a:accent1>
      <a:accent2>
        <a:srgbClr val="2CBC59"/>
      </a:accent2>
      <a:accent3>
        <a:srgbClr val="666666"/>
      </a:accent3>
      <a:accent4>
        <a:srgbClr val="B91C1C"/>
      </a:accent4>
      <a:accent5>
        <a:srgbClr val="B45309"/>
      </a:accent5>
      <a:accent6>
        <a:srgbClr val="C3C3C3"/>
      </a:accent6>
      <a:hlink>
        <a:srgbClr val="1B8457"/>
      </a:hlink>
      <a:folHlink>
        <a:srgbClr val="666666"/>
      </a:folHlink>
    </a:clrScheme>
    <a:fontScheme name="Assertion-Evidence · UNIVA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</TotalTime>
  <Words>10527</Words>
  <Application>Microsoft Office PowerPoint</Application>
  <PresentationFormat>Widescreen</PresentationFormat>
  <Paragraphs>1037</Paragraphs>
  <Slides>68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68</vt:i4>
      </vt:variant>
    </vt:vector>
  </HeadingPairs>
  <TitlesOfParts>
    <vt:vector size="79" baseType="lpstr">
      <vt:lpstr>Arial</vt:lpstr>
      <vt:lpstr>Calibri</vt:lpstr>
      <vt:lpstr>Courier New</vt:lpstr>
      <vt:lpstr>Symbol</vt:lpstr>
      <vt:lpstr>Times New Roman</vt:lpstr>
      <vt:lpstr>Wingdings</vt:lpstr>
      <vt:lpstr>Assertion-Evidence · UNIVAS</vt:lpstr>
      <vt:lpstr>Assertion-Evidence · UNIVAS</vt:lpstr>
      <vt:lpstr>Assertion-Evidence · UNIVAS</vt:lpstr>
      <vt:lpstr>Assertion-Evidence · UNIVAS</vt:lpstr>
      <vt:lpstr>Assertion-Evidence · UNIVAS</vt:lpstr>
      <vt:lpstr>Agentes de IA:  fundamentos, arquitetura e prática</vt:lpstr>
      <vt:lpstr>Em dois encontros, vamos sair de como um agente funciona para como trabalhar com ele.</vt:lpstr>
      <vt:lpstr>Ao final, você vai entender por que o contexto define a qualidade do agente e como entregá-lo.</vt:lpstr>
      <vt:lpstr>Ferramentas são só a ponta do iceberg.</vt:lpstr>
      <vt:lpstr>Cinco modos de usar IA ilustram diferentes níveis de delegação.</vt:lpstr>
      <vt:lpstr>PowerPoint Presentation</vt:lpstr>
      <vt:lpstr>No primeiro encontro, vamos entender como uma LLM se transforma em um agente.</vt:lpstr>
      <vt:lpstr>83% usam ao menos uma ferramenta de IA no trabalho.</vt:lpstr>
      <vt:lpstr>Uma LLM é um modelo que gera texto a partir do texto que recebe.</vt:lpstr>
      <vt:lpstr>O modelo não lê palavras: ele recebe uma sequência de tokens.</vt:lpstr>
      <vt:lpstr>A LLM gera um token de cada vez e repete a previsão.</vt:lpstr>
      <vt:lpstr>Um modelo de raciocínio gera tokens de pensamento antes de dar a resposta final.</vt:lpstr>
      <vt:lpstr>Os níveis de esforço, de low a max, trocam qualidade de raciocínio por custo e latência.</vt:lpstr>
      <vt:lpstr>Modelos atuais para codificação combinam contexto amplo com preços muito diferentes.</vt:lpstr>
      <vt:lpstr>O modelo só trabalha com o que está na janela de contexto.</vt:lpstr>
      <vt:lpstr>Em cada chamada, o modelo recebe apenas o contexto enviado pela aplicação.</vt:lpstr>
      <vt:lpstr>Mesmo nos modelos recentes, achar a informação certa fica mais difícil quanto maior o contexto.</vt:lpstr>
      <vt:lpstr>Sozinha, a LLM só troca texto: não acessa arquivos, terminal nem internet.</vt:lpstr>
      <vt:lpstr>O modelo pede ler_arquivo; o programa lê o arquivo e devolve o conteúdo.</vt:lpstr>
      <vt:lpstr>Chatbot prioriza a conversa; agente organiza ações para atingir um objetivo.</vt:lpstr>
      <vt:lpstr>Um agente funciona em um ciclo: observa, decide, age e verifica o resultado.</vt:lpstr>
      <vt:lpstr>Com ferramentas, o agente investiga e corrige o erro em vez de só listar hipóteses.</vt:lpstr>
      <vt:lpstr>O modelo só gera texto; o harness é o sistema ao redor que faz o resto acontecer.</vt:lpstr>
      <vt:lpstr>O modelo propõe uma ação e o harness decide se e como executá-la.</vt:lpstr>
      <vt:lpstr>Vamos desenhar o funcionamento do harness ao vivo.</vt:lpstr>
      <vt:lpstr>Sem regras do gerenciador financeiro, o agente precisa adivinhar decisões do projeto.</vt:lpstr>
      <vt:lpstr>Com agentes, o desenvolvedor dedica mais atenção ao problema, às decisões e à validação.</vt:lpstr>
      <vt:lpstr>Context engineering entrega ao modelo a informação certa, na quantidade certa e no momento certo.</vt:lpstr>
      <vt:lpstr>Contexto irrelevante aumenta custo e pode dificultar o foco do modelo.</vt:lpstr>
      <vt:lpstr>Gerir contexto é selecionar, comprimir e externalizar informação.</vt:lpstr>
      <vt:lpstr>Context engineering é criar guias que orientam o agente e sensores que avaliam o que ele produz.</vt:lpstr>
      <vt:lpstr>Um guia de poucas linhas evita que o agente leia arquivos inteiros só para descobrir o básico.</vt:lpstr>
      <vt:lpstr>Guias dizem como fazer e também o que você não quer que o agente faça.</vt:lpstr>
      <vt:lpstr>Quanto mais crítico o software, mais guias, sensores e revisão humana ele exige.</vt:lpstr>
      <vt:lpstr>Sem sensores, você vira o intermediário que avisa ao agente que o código não funcionou.</vt:lpstr>
      <vt:lpstr>Cada sensor dá ao agente uma visão que ele não tem sozinho.</vt:lpstr>
      <vt:lpstr>Guias e sensores podem reduzir retrabalho e facilitar o trabalho em paralelo.</vt:lpstr>
      <vt:lpstr>Vamos desenhar o contexto do user harness ao vivo.</vt:lpstr>
      <vt:lpstr>Atividade: melhore o pedido do gerenciador financeiro</vt:lpstr>
      <vt:lpstr>PowerPoint Presentation</vt:lpstr>
      <vt:lpstr>Em resumo: o modelo gera, o harness executa e o contexto orienta.</vt:lpstr>
      <vt:lpstr>No segundo encontro, vamos aprender a trabalhar com agentes na prática.</vt:lpstr>
      <vt:lpstr>Revisão: quem gera, quem executa e quem orienta?</vt:lpstr>
      <vt:lpstr>Cada mecanismo ajuda o agente de uma maneira diferente.</vt:lpstr>
      <vt:lpstr>PowerPoint Presentation</vt:lpstr>
      <vt:lpstr>PowerPoint Presentation</vt:lpstr>
      <vt:lpstr>Skills carregam procedimentos sob demanda: só a descrição fica sempre no contexto.</vt:lpstr>
      <vt:lpstr>PowerPoint Presentation</vt:lpstr>
      <vt:lpstr>Uma tool é uma função descrita para o modelo, que o harness executa quando o modelo pede.</vt:lpstr>
      <vt:lpstr>Com o MCP, um serviço integrado uma vez funciona com qualquer agente compatível.</vt:lpstr>
      <vt:lpstr>Escolha skills e MCPs pela necessidade concreta da tarefa.</vt:lpstr>
      <vt:lpstr>Memória externa permite que o agente continue o trabalho em outra sessão.</vt:lpstr>
      <vt:lpstr>Subagentes isolam uma tarefa em um contexto próprio e devolvem só o resumo.</vt:lpstr>
      <vt:lpstr>Com agentes, o esforço humano se desloca da digitação do código para a especificação e a validação.</vt:lpstr>
      <vt:lpstr>Sem critérios claros, pedir código direto aumenta o risco de uma entrega inadequada.</vt:lpstr>
      <vt:lpstr>SDD é escrever o que o software deve fazer antes de o agente escrever o código.</vt:lpstr>
      <vt:lpstr>Um fluxo de SDD pode usar seis etapas; adapte-o ao tamanho da tarefa.</vt:lpstr>
      <vt:lpstr>O PRD diz o quê, a TechSpec diz como e as tasks dizem em que ordem.</vt:lpstr>
      <vt:lpstr>Cada critério de aceitação vira teste, tarefa e evidência.</vt:lpstr>
      <vt:lpstr>Uma spec extensa tende a compensar em tarefas maiores; para bugs pequenos, simplifique.</vt:lpstr>
      <vt:lpstr>No experimento do Branas, executar as 5 tasks na mesma janela gastou 240k tokens, contra 650k.</vt:lpstr>
      <vt:lpstr>O SDD tem limites: specs verbosas, agentes que ignoram instruções e geração que varia.</vt:lpstr>
      <vt:lpstr>O agente propõe, mas você continua responsável por revisar o que ele entrega.</vt:lpstr>
      <vt:lpstr>Cada mecanismo resolve um problema diferente de informação.</vt:lpstr>
      <vt:lpstr>Um pedido vago deixa o agente adivinhar tudo o que importa.</vt:lpstr>
      <vt:lpstr>PowerPoint Presentation</vt:lpstr>
      <vt:lpstr>PowerPoint Presentation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Walnut Exporter</dc:creator>
  <dc:description/>
  <cp:lastModifiedBy>Thiago Siqueira</cp:lastModifiedBy>
  <cp:revision>22</cp:revision>
  <dcterms:created xsi:type="dcterms:W3CDTF">2026-10-09T12:51:20Z</dcterms:created>
  <dcterms:modified xsi:type="dcterms:W3CDTF">2026-10-14T03:03:07Z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68</vt:i4>
  </property>
  <property fmtid="{D5CDD505-2E9C-101B-9397-08002B2CF9AE}" pid="3" name="PresentationFormat">
    <vt:lpwstr>Widescreen</vt:lpwstr>
  </property>
  <property fmtid="{D5CDD505-2E9C-101B-9397-08002B2CF9AE}" pid="4" name="Slides">
    <vt:i4>68</vt:i4>
  </property>
</Properties>
</file>